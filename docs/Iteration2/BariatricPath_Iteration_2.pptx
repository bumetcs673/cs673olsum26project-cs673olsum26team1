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3yCT81kDfs7sS/bFN84VmgOK8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a0dd829e2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3ea0dd829e2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ea0dd829e2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a540d792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3ea540d792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ea540d792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a0dd829e2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g3ea0dd829e2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ea0dd829e2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a0dd829e2_0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g3ea0dd829e2_0_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ea0dd829e2_0_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a0dd829e2_0_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g3ea0dd829e2_0_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ea0dd829e2_0_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a0dd829e2_0_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ea0dd829e2_0_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ea0dd829e2_0_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a0dd829e2_0_1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g3ea0dd829e2_0_1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ea0dd829e2_0_1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a0dd829e2_0_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g3ea0dd829e2_0_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ea0dd829e2_0_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a0dd829e2_0_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g3ea0dd829e2_0_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ea0dd829e2_0_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0" y="0"/>
            <a:ext cx="6688836" cy="6858000"/>
          </a:xfrm>
          <a:prstGeom prst="rect">
            <a:avLst/>
          </a:prstGeom>
          <a:solidFill>
            <a:srgbClr val="143861"/>
          </a:solidFill>
          <a:ln cap="flat" cmpd="sng" w="12700">
            <a:solidFill>
              <a:srgbClr val="1438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40080" y="1463040"/>
            <a:ext cx="6858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BariatricPath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40080" y="274320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A Clinical Evaluation Management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4023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Iteration </a:t>
            </a:r>
            <a:r>
              <a:rPr b="1" lang="en-US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400" u="none" cap="none" strike="noStrike">
                <a:solidFill>
                  <a:srgbClr val="F4B942"/>
                </a:solidFill>
                <a:latin typeface="Calibri"/>
                <a:ea typeface="Calibri"/>
                <a:cs typeface="Calibri"/>
                <a:sym typeface="Calibri"/>
              </a:rPr>
              <a:t> 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45262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CS673 Software Engineering  ·  Team 1  ·  Summer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r>
              <a:rPr lang="en-US" sz="13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Jianing Li &amp; Kolya Gavlishin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540142" y="1371600"/>
            <a:ext cx="4114800" cy="4114800"/>
          </a:xfrm>
          <a:prstGeom prst="ellipse">
            <a:avLst/>
          </a:prstGeom>
          <a:solidFill>
            <a:srgbClr val="6FA8D6">
              <a:alpha val="2000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088782" y="1920240"/>
            <a:ext cx="3017520" cy="301752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8862" y="2560320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OUR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777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Meet Team 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8580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BARIATRICPATH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" y="182880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web-based clinical evaluation management system that digitizes the multi-stage bariatric surgery evaluation workflow — connecting patients, coordinators, and program directors through a single source of truth with role-based access and a complete audit trail.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80060" y="26060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80060" y="26060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54380" y="28803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54380" y="28803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623060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Shaima Nimeri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54380" y="37490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Team 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Design &amp; Implementation 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Requirement 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74820" y="26060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274820" y="26060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49140" y="28803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49140" y="28803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17820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Kai Fernandes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49140" y="37490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Team Co-Lead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Co-Lead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069580" y="26060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069580" y="26060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343900" y="28803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343900" y="28803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212580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Fatimah Hassan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343900" y="37490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Security 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Configuration Co-Lead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377440" y="46634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377440" y="46634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651760" y="49377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651760" y="49377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520440" y="49834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Jianing Li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651760" y="58064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Requirement Co-Lead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72200" y="4663440"/>
            <a:ext cx="36118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72200" y="4663440"/>
            <a:ext cx="91440" cy="18288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46520" y="4937760"/>
            <a:ext cx="777240" cy="7772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446520" y="49377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315200" y="49834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Kolya Gavlishin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446520" y="58064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QA 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Char char="▪"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Design &amp; Implementation Co-Lead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" y="777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Today's Agenda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2920" y="1508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focus areas — per Prof's guidance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22860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2377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240280" y="22677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Requirement Analysis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240280" y="263347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stories, INVEST principle, and what we've prioritized.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32461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480" y="3337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2240280" y="322783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240280" y="359359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Three-tier client-server design, technology stack, AI microservice, and key design decisions.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42062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4480" y="4297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2240280" y="41879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240275" y="4553666"/>
            <a:ext cx="8686800" cy="15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What we built this iteration: </a:t>
            </a:r>
            <a:endParaRPr b="0" i="0" sz="13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Patient </a:t>
            </a: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Portal Features</a:t>
            </a:r>
            <a:endParaRPr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Coordinator Dashboard Features</a:t>
            </a:r>
            <a:endParaRPr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AI Microservice</a:t>
            </a:r>
            <a:endParaRPr sz="13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87" name="Google Shape;8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a0dd829e2_0_0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ea0dd829e2_0_0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a0dd829e2_0_0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a0dd829e2_0_0"/>
          <p:cNvSpPr/>
          <p:nvPr/>
        </p:nvSpPr>
        <p:spPr>
          <a:xfrm>
            <a:off x="502920" y="77724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Today's Agenda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a0dd829e2_0_0"/>
          <p:cNvSpPr/>
          <p:nvPr/>
        </p:nvSpPr>
        <p:spPr>
          <a:xfrm>
            <a:off x="50292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focus areas — per Prof's guidance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a0dd829e2_0_0"/>
          <p:cNvSpPr/>
          <p:nvPr/>
        </p:nvSpPr>
        <p:spPr>
          <a:xfrm>
            <a:off x="548640" y="228600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g3ea0dd829e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2377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ea0dd829e2_0_0"/>
          <p:cNvSpPr/>
          <p:nvPr/>
        </p:nvSpPr>
        <p:spPr>
          <a:xfrm>
            <a:off x="2240280" y="226771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ea0dd829e2_0_0"/>
          <p:cNvSpPr/>
          <p:nvPr/>
        </p:nvSpPr>
        <p:spPr>
          <a:xfrm>
            <a:off x="2240280" y="2633472"/>
            <a:ext cx="868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Jest tests, Manual tests,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ea0dd829e2_0_0"/>
          <p:cNvSpPr/>
          <p:nvPr/>
        </p:nvSpPr>
        <p:spPr>
          <a:xfrm>
            <a:off x="548640" y="324612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g3ea0dd829e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480" y="3337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ea0dd829e2_0_0"/>
          <p:cNvSpPr/>
          <p:nvPr/>
        </p:nvSpPr>
        <p:spPr>
          <a:xfrm>
            <a:off x="2240280" y="322783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QA Practices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ea0dd829e2_0_0"/>
          <p:cNvSpPr/>
          <p:nvPr/>
        </p:nvSpPr>
        <p:spPr>
          <a:xfrm>
            <a:off x="2240280" y="3593592"/>
            <a:ext cx="868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Pull Requests, Code Reviews, GitHub Issues, Refactoring,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ea0dd829e2_0_0"/>
          <p:cNvSpPr/>
          <p:nvPr/>
        </p:nvSpPr>
        <p:spPr>
          <a:xfrm>
            <a:off x="548640" y="420624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g3ea0dd829e2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4480" y="4297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ea0dd829e2_0_0"/>
          <p:cNvSpPr/>
          <p:nvPr/>
        </p:nvSpPr>
        <p:spPr>
          <a:xfrm>
            <a:off x="2240280" y="418795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lang="en-US" sz="19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Feedback Implementation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a0dd829e2_0_0"/>
          <p:cNvSpPr/>
          <p:nvPr/>
        </p:nvSpPr>
        <p:spPr>
          <a:xfrm>
            <a:off x="2240280" y="4553712"/>
            <a:ext cx="868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Clearer Instructions for how to run, file structure on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a0dd829e2_0_0"/>
          <p:cNvSpPr/>
          <p:nvPr/>
        </p:nvSpPr>
        <p:spPr>
          <a:xfrm>
            <a:off x="548640" y="516636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1" lang="en-US" sz="32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g3ea0dd829e2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4480" y="5257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ea0dd829e2_0_0"/>
          <p:cNvSpPr/>
          <p:nvPr/>
        </p:nvSpPr>
        <p:spPr>
          <a:xfrm>
            <a:off x="2240280" y="514807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Q &amp; 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a0dd829e2_0_0"/>
          <p:cNvSpPr/>
          <p:nvPr/>
        </p:nvSpPr>
        <p:spPr>
          <a:xfrm>
            <a:off x="2240280" y="5513832"/>
            <a:ext cx="8686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Discussion and feedback from class.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14" name="Google Shape;114;g3ea0dd829e2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2920" y="777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Problem We're Solving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02920" y="16916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Bariatric surgery evaluation is a multi-stage process involving surgeons, psychologists, dietitians, cardiologists, and more.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02920" y="28346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Today it's managed through phone calls, paper checklists, spreadsheets, and disconnected systems.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02920" y="37490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Patients get no visibility. Coordinators track dozens of cases manually. Directors have no real-time pipeline view.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400800" y="1691640"/>
            <a:ext cx="5120640" cy="132588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400800" y="1691640"/>
            <a:ext cx="73152" cy="132588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20756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7360920" y="1920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Fragmented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360920" y="23774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Critical info scattered across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400800" y="3200400"/>
            <a:ext cx="5120640" cy="132588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400800" y="3200400"/>
            <a:ext cx="73152" cy="132588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3584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7360920" y="34290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No patient visibility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360920" y="388620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Patients can't see their own progress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400800" y="4709160"/>
            <a:ext cx="5120640" cy="132588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400800" y="4709160"/>
            <a:ext cx="73152" cy="132588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5120" y="50932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/>
          <p:nvPr/>
        </p:nvSpPr>
        <p:spPr>
          <a:xfrm>
            <a:off x="7360920" y="49377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Manual coordination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360920" y="53949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Hours lost on phone calls and updates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02920" y="777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Our Solution: BariatricPath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web app digitizing the full evaluation workflow with role-based access and audit trail.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21031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" y="2103120"/>
            <a:ext cx="3657600" cy="109728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737360" y="2560320"/>
            <a:ext cx="914400" cy="914400"/>
          </a:xfrm>
          <a:prstGeom prst="ellipse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0240" y="2743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64008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Patient Portal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85800" y="42062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Self-registration, checklist tracking, real-time status, and an AI assistant for questions about their journey.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251960" y="21031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251960" y="2103120"/>
            <a:ext cx="3657600" cy="109728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623560" y="2560320"/>
            <a:ext cx="914400" cy="914400"/>
          </a:xfrm>
          <a:prstGeom prst="ellipse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6440" y="2743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Coordinator Dashboard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0" y="42062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Manage all patients, update workflow stages, search and filter, with every change automatically reflected in patient portals.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8138160" y="21031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138160" y="2103120"/>
            <a:ext cx="3657600" cy="109728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509760" y="2560320"/>
            <a:ext cx="914400" cy="914400"/>
          </a:xfrm>
          <a:prstGeom prst="ellipse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2640" y="2743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8412480" y="37033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Director View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458200" y="42062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Real-time pipeline visibility, filter by specialist or stage, and pipeline metrics at a glance.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Master patient table as the single source of truth — all updates propagate automatically.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0"/>
              <a:buFont typeface="Georgia"/>
              <a:buNone/>
            </a:pPr>
            <a:r>
              <a:rPr b="1" i="0" lang="en-US" sz="180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Requirement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User stories, INVEST principle, and iteration scope.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How We Manage Requirements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INVEST-compliant user stories tracked in Jira with breakdown tasks and acceptance criteria.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02920" y="2011680"/>
            <a:ext cx="370332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85800" y="21031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30+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85800" y="2834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Stories Written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297680" y="2011680"/>
            <a:ext cx="370332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480560" y="21031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480560" y="2834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Essential Features (Iter 1–3)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092440" y="2011680"/>
            <a:ext cx="370332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275320" y="21031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8275320" y="2834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Story Points Avg (Fibonacci)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02920" y="35661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Every story follows INVEST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0292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0292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14300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14300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stands alone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42316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42316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06324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Negotiable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06324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details can shift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34340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34340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98348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Valuable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98348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delivers real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26364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26364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90372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Estimable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90372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can size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818388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18388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82396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Small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82396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fits one iteration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0104120" y="4160520"/>
            <a:ext cx="548640" cy="54864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010412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0744200" y="41422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0744200" y="44348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clear acceptance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85800" y="5120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EXAMPLE — BARI-7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"As a patient, I want to create an account with my email and password, so that I can access my patient portal securely."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Given/When/Then acceptance tests · 6 breakdown subtasks · 5 story 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237" name="Google Shape;2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0"/>
              <a:buFont typeface="Georgia"/>
              <a:buNone/>
            </a:pPr>
            <a:r>
              <a:rPr b="1" i="0" lang="en-US" sz="180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&amp; Design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Three-tier client-server design with deliberate security and AI-readiness.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48" name="Google Shape;2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Three-tier today, with a fourth service (AI) joining in Iteration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94360" y="2194560"/>
            <a:ext cx="2606040" cy="338328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6FA8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94360" y="2194560"/>
            <a:ext cx="2606040" cy="50292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3152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34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/>
          <p:nvPr/>
        </p:nvSpPr>
        <p:spPr>
          <a:xfrm>
            <a:off x="73152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React SPA + Vite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2296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Login / Register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Patient Portal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Coordinator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Director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383280" y="2194560"/>
            <a:ext cx="2606040" cy="338328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6FA8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383280" y="2194560"/>
            <a:ext cx="2606040" cy="50292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52044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626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/>
          <p:nvPr/>
        </p:nvSpPr>
        <p:spPr>
          <a:xfrm>
            <a:off x="352044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Node.js + Express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61188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REST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verifyAuth + RBAC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logging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Gateway to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172200" y="2194560"/>
            <a:ext cx="2606040" cy="3383280"/>
          </a:xfrm>
          <a:prstGeom prst="rect">
            <a:avLst/>
          </a:prstGeom>
          <a:solidFill>
            <a:srgbClr val="F5F8FC"/>
          </a:solidFill>
          <a:ln cap="flat" cmpd="sng" w="19050">
            <a:solidFill>
              <a:srgbClr val="6FA8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172200" y="2194560"/>
            <a:ext cx="2606040" cy="50292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30936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518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/>
          <p:nvPr/>
        </p:nvSpPr>
        <p:spPr>
          <a:xfrm>
            <a:off x="630936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PostgreSQL + Prisma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40080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User &amp; Patient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AuditLog (append-only)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Char char="▪"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Prisma migrations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961120" y="2194560"/>
            <a:ext cx="2606040" cy="33832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4B942"/>
            </a:solidFill>
            <a:prstDash val="dash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961120" y="2194560"/>
            <a:ext cx="2606040" cy="50292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909828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0789920" y="2788920"/>
            <a:ext cx="685800" cy="25603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4410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9098280" y="37490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6B7280"/>
                </a:solidFill>
                <a:latin typeface="Georgia"/>
                <a:ea typeface="Georgia"/>
                <a:cs typeface="Georgia"/>
                <a:sym typeface="Georgia"/>
              </a:rPr>
              <a:t>FastAPI + LangChain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9189720" y="420624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RAG chatbot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Internal-only (no public access)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Called via Express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Char char="▪"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Python ecosystem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9"/>
          <p:cNvCxnSpPr/>
          <p:nvPr/>
        </p:nvCxnSpPr>
        <p:spPr>
          <a:xfrm>
            <a:off x="3218688" y="388620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p9"/>
          <p:cNvCxnSpPr/>
          <p:nvPr/>
        </p:nvCxnSpPr>
        <p:spPr>
          <a:xfrm>
            <a:off x="6007608" y="388620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E4D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" name="Google Shape;280;p9"/>
          <p:cNvCxnSpPr/>
          <p:nvPr/>
        </p:nvCxnSpPr>
        <p:spPr>
          <a:xfrm>
            <a:off x="8796528" y="3886200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4B94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1" name="Google Shape;281;p9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Security note: the AI service will live on an internal Docker network, never exposed publicly. Every AI request is gated by Express, which verifies the Firebase token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288" name="Google Shape;2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1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Stack &amp; Key Decisions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0292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02920" y="22402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40080" y="22860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2148840" y="2286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React + Vite + Bootstrap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02920" y="2697480"/>
            <a:ext cx="5303520" cy="411480"/>
          </a:xfrm>
          <a:prstGeom prst="rect">
            <a:avLst/>
          </a:prstGeom>
          <a:solidFill>
            <a:srgbClr val="F5F8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40080" y="2743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2148840" y="27432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02920" y="31546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40080" y="3200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2148840" y="32004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PostgreSQL + Prisma 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02920" y="3611880"/>
            <a:ext cx="5303520" cy="411480"/>
          </a:xfrm>
          <a:prstGeom prst="rect">
            <a:avLst/>
          </a:prstGeom>
          <a:solidFill>
            <a:srgbClr val="F5F8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40080" y="36576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2148840" y="36576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Firebase 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02920" y="40690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40080" y="4114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2148840" y="41148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Docker + Compose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02920" y="45262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40080" y="45720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AI (Iter 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2148840" y="4572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Python FastAPI + LangChain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02920" y="4983480"/>
            <a:ext cx="5303520" cy="411480"/>
          </a:xfrm>
          <a:prstGeom prst="rect">
            <a:avLst/>
          </a:prstGeom>
          <a:solidFill>
            <a:srgbClr val="F5F8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0080" y="5029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2148840" y="50292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02920" y="5440680"/>
            <a:ext cx="53035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40080" y="5486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Project Mgmt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2148840" y="54864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Jira (Scrum)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263640" y="169164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Key Architectural Decisions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263640" y="2240280"/>
            <a:ext cx="58521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263640" y="2240280"/>
            <a:ext cx="73152" cy="123444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2514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7086600" y="240487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Firebase — not custom JWT/bcrypt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086600" y="278892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Firebase issues ID tokens (JWTs) and hashes passwords. Adding our own = redundant complexity.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263640" y="3566160"/>
            <a:ext cx="58521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263640" y="3566160"/>
            <a:ext cx="73152" cy="123444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3840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/>
          <p:nvPr/>
        </p:nvSpPr>
        <p:spPr>
          <a:xfrm>
            <a:off x="7086600" y="37307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Microservice for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7086600" y="411480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Python service in Iteration 2 — best language for the AI ecosystem, Node for the web.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263640" y="4892040"/>
            <a:ext cx="585216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263640" y="4892040"/>
            <a:ext cx="73152" cy="1234440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6520" y="51663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7086600" y="505663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Security from scratch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7086600" y="544068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Audit log, input validation, secrets management, HTTPS, all woven into Iteration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338" name="Google Shape;3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0"/>
              <a:buFont typeface="Georgia"/>
              <a:buNone/>
            </a:pPr>
            <a:r>
              <a:rPr b="1" i="0" lang="en-US" sz="180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&amp; Demo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What we built in Iteration </a:t>
            </a:r>
            <a:r>
              <a:rPr i="1" lang="en-US" sz="1800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18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 — and what's working live.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a540d7926_0_0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349" name="Google Shape;349;g3ea540d792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ea540d7926_0_0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ea540d7926_0_0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ea540d7926_0_0"/>
          <p:cNvSpPr/>
          <p:nvPr/>
        </p:nvSpPr>
        <p:spPr>
          <a:xfrm>
            <a:off x="502920" y="77724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 We Built — Iteration </a:t>
            </a:r>
            <a:r>
              <a:rPr b="1" lang="en-US" sz="34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2 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ea540d7926_0_0"/>
          <p:cNvSpPr/>
          <p:nvPr/>
        </p:nvSpPr>
        <p:spPr>
          <a:xfrm>
            <a:off x="5212080" y="196596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a540d7926_0_0"/>
          <p:cNvSpPr/>
          <p:nvPr/>
        </p:nvSpPr>
        <p:spPr>
          <a:xfrm>
            <a:off x="9052560" y="196596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a540d7926_0_0"/>
          <p:cNvSpPr/>
          <p:nvPr/>
        </p:nvSpPr>
        <p:spPr>
          <a:xfrm>
            <a:off x="411475" y="1689528"/>
            <a:ext cx="3657600" cy="457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a540d7926_0_0"/>
          <p:cNvSpPr/>
          <p:nvPr/>
        </p:nvSpPr>
        <p:spPr>
          <a:xfrm>
            <a:off x="411475" y="1689528"/>
            <a:ext cx="91500" cy="45282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ea540d7926_0_0"/>
          <p:cNvSpPr/>
          <p:nvPr/>
        </p:nvSpPr>
        <p:spPr>
          <a:xfrm>
            <a:off x="1371600" y="384048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a540d7926_0_0"/>
          <p:cNvSpPr/>
          <p:nvPr/>
        </p:nvSpPr>
        <p:spPr>
          <a:xfrm>
            <a:off x="4251950" y="1689528"/>
            <a:ext cx="3657600" cy="457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a540d7926_0_0"/>
          <p:cNvSpPr/>
          <p:nvPr/>
        </p:nvSpPr>
        <p:spPr>
          <a:xfrm>
            <a:off x="4251951" y="1689528"/>
            <a:ext cx="91500" cy="45711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ea540d7926_0_0"/>
          <p:cNvSpPr/>
          <p:nvPr/>
        </p:nvSpPr>
        <p:spPr>
          <a:xfrm>
            <a:off x="5212080" y="384048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ea540d7926_0_0"/>
          <p:cNvSpPr/>
          <p:nvPr/>
        </p:nvSpPr>
        <p:spPr>
          <a:xfrm>
            <a:off x="8092450" y="1689528"/>
            <a:ext cx="3657600" cy="457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a540d7926_0_0"/>
          <p:cNvSpPr/>
          <p:nvPr/>
        </p:nvSpPr>
        <p:spPr>
          <a:xfrm>
            <a:off x="8092448" y="1689528"/>
            <a:ext cx="91500" cy="45282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ea540d7926_0_0"/>
          <p:cNvSpPr/>
          <p:nvPr/>
        </p:nvSpPr>
        <p:spPr>
          <a:xfrm>
            <a:off x="9052560" y="384048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t/>
            </a:r>
            <a:endParaRPr b="1" i="0" sz="1500" u="none" cap="none" strike="noStrike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4" name="Google Shape;364;g3ea540d7926_0_0"/>
          <p:cNvSpPr/>
          <p:nvPr/>
        </p:nvSpPr>
        <p:spPr>
          <a:xfrm>
            <a:off x="502920" y="5852160"/>
            <a:ext cx="111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a540d7926_0_0"/>
          <p:cNvSpPr txBox="1"/>
          <p:nvPr/>
        </p:nvSpPr>
        <p:spPr>
          <a:xfrm>
            <a:off x="1246451" y="1790900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B3B3B"/>
                </a:solidFill>
              </a:rPr>
              <a:t>Patient Experience &amp; Onboarding</a:t>
            </a:r>
            <a:endParaRPr b="1" sz="1800">
              <a:solidFill>
                <a:srgbClr val="3B3B3B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ea540d7926_0_0"/>
          <p:cNvSpPr txBox="1"/>
          <p:nvPr/>
        </p:nvSpPr>
        <p:spPr>
          <a:xfrm>
            <a:off x="5083860" y="1855625"/>
            <a:ext cx="219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B3B3B"/>
                </a:solidFill>
              </a:rPr>
              <a:t>Coordinator Tools</a:t>
            </a:r>
            <a:endParaRPr b="1" sz="1800">
              <a:solidFill>
                <a:srgbClr val="3B3B3B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a540d7926_0_0"/>
          <p:cNvSpPr txBox="1"/>
          <p:nvPr/>
        </p:nvSpPr>
        <p:spPr>
          <a:xfrm>
            <a:off x="8955152" y="1841725"/>
            <a:ext cx="249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B3B3B"/>
                </a:solidFill>
              </a:rPr>
              <a:t>Real-Time Sync &amp; AI</a:t>
            </a:r>
            <a:endParaRPr b="1" sz="1800">
              <a:solidFill>
                <a:srgbClr val="3B3B3B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a540d7926_0_0"/>
          <p:cNvSpPr txBox="1"/>
          <p:nvPr/>
        </p:nvSpPr>
        <p:spPr>
          <a:xfrm>
            <a:off x="640075" y="2608000"/>
            <a:ext cx="32004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Appointment Checklist (BARI-17):</a:t>
            </a:r>
            <a:r>
              <a:rPr lang="en-US" sz="1500">
                <a:solidFill>
                  <a:schemeClr val="dk1"/>
                </a:solidFill>
              </a:rPr>
              <a:t> Read-only overview of evaluation status with color-coded badges.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Surgery Cleared Banner (BARI-20):</a:t>
            </a:r>
            <a:r>
              <a:rPr lang="en-US" sz="1500">
                <a:solidFill>
                  <a:schemeClr val="dk1"/>
                </a:solidFill>
              </a:rPr>
              <a:t> Green banner automatically unlocks when progress hits 100%.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Privacy &amp; Consent (BARI-156):</a:t>
            </a:r>
            <a:r>
              <a:rPr lang="en-US" sz="1500">
                <a:solidFill>
                  <a:schemeClr val="dk1"/>
                </a:solidFill>
              </a:rPr>
              <a:t> Mandatory sign-off on data usage policies before access.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ea540d7926_0_0"/>
          <p:cNvSpPr txBox="1"/>
          <p:nvPr/>
        </p:nvSpPr>
        <p:spPr>
          <a:xfrm>
            <a:off x="4480563" y="2568318"/>
            <a:ext cx="32004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B3B3B"/>
              </a:buClr>
              <a:buSzPts val="1500"/>
              <a:buChar char="●"/>
            </a:pPr>
            <a:r>
              <a:rPr b="1" lang="en-US" sz="1500">
                <a:solidFill>
                  <a:srgbClr val="3B3B3B"/>
                </a:solidFill>
              </a:rPr>
              <a:t>Insurance &amp; Clinical Updates (BARI-21 &amp; 22):</a:t>
            </a:r>
            <a:r>
              <a:rPr lang="en-US" sz="1500">
                <a:solidFill>
                  <a:srgbClr val="3B3B3B"/>
                </a:solidFill>
              </a:rPr>
              <a:t> </a:t>
            </a:r>
            <a:endParaRPr sz="1500">
              <a:solidFill>
                <a:srgbClr val="3B3B3B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B3B3B"/>
                </a:solidFill>
              </a:rPr>
              <a:t>A complete coordinator dashboard with direct status controls that log audits and notify patients.</a:t>
            </a:r>
            <a:endParaRPr sz="1500">
              <a:solidFill>
                <a:srgbClr val="3B3B3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B3B3B"/>
              </a:buClr>
              <a:buSzPts val="1500"/>
              <a:buChar char="●"/>
            </a:pPr>
            <a:r>
              <a:rPr b="1" lang="en-US" sz="1500">
                <a:solidFill>
                  <a:srgbClr val="3B3B3B"/>
                </a:solidFill>
              </a:rPr>
              <a:t>New Registration Queue (BARI-24):</a:t>
            </a:r>
            <a:r>
              <a:rPr lang="en-US" sz="1500">
                <a:solidFill>
                  <a:srgbClr val="3B3B3B"/>
                </a:solidFill>
              </a:rPr>
              <a:t> Sorts new registrations (last 7 days) to the top of the dashboard.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a540d7926_0_0"/>
          <p:cNvSpPr txBox="1"/>
          <p:nvPr/>
        </p:nvSpPr>
        <p:spPr>
          <a:xfrm>
            <a:off x="8366854" y="2512671"/>
            <a:ext cx="32004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B3B3B"/>
              </a:buClr>
              <a:buSzPts val="1500"/>
              <a:buChar char="●"/>
            </a:pPr>
            <a:r>
              <a:rPr b="1" lang="en-US" sz="1500">
                <a:solidFill>
                  <a:srgbClr val="3B3B3B"/>
                </a:solidFill>
              </a:rPr>
              <a:t>30-Second Auto-Update (BARI-18 &amp; 23):</a:t>
            </a:r>
            <a:r>
              <a:rPr lang="en-US" sz="1500">
                <a:solidFill>
                  <a:srgbClr val="3B3B3B"/>
                </a:solidFill>
              </a:rPr>
              <a:t> Updates checklist and progress bar without page refreshes.</a:t>
            </a:r>
            <a:endParaRPr sz="1500">
              <a:solidFill>
                <a:srgbClr val="3B3B3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500"/>
              <a:buChar char="●"/>
            </a:pPr>
            <a:r>
              <a:rPr b="1" lang="en-US" sz="1500">
                <a:solidFill>
                  <a:srgbClr val="3B3B3B"/>
                </a:solidFill>
              </a:rPr>
              <a:t>Status Notifications (BARI-19):</a:t>
            </a:r>
            <a:r>
              <a:rPr lang="en-US" sz="1500">
                <a:solidFill>
                  <a:srgbClr val="3B3B3B"/>
                </a:solidFill>
              </a:rPr>
              <a:t> Real-time read/unread notifications for patient updates.</a:t>
            </a:r>
            <a:endParaRPr sz="1500">
              <a:solidFill>
                <a:srgbClr val="3B3B3B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500"/>
              <a:buChar char="●"/>
            </a:pPr>
            <a:r>
              <a:rPr b="1" lang="en-US" sz="1500">
                <a:solidFill>
                  <a:srgbClr val="3B3B3B"/>
                </a:solidFill>
              </a:rPr>
              <a:t>AI Chatbot Assistant (BARI-29):</a:t>
            </a:r>
            <a:r>
              <a:rPr lang="en-US" sz="1500">
                <a:solidFill>
                  <a:srgbClr val="3B3B3B"/>
                </a:solidFill>
              </a:rPr>
              <a:t> Chatbot pulls patient context to answer status questions.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g3ea540d792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055" y="1784010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2" name="Google Shape;372;g3ea540d792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2647" y="1764172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3" name="Google Shape;373;g3ea540d792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95230" y="1750255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380" name="Google Shape;3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4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46177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Let's walk through the </a:t>
            </a:r>
            <a:r>
              <a:rPr i="1"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patient and coordinator flows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21488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4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1097280" y="438912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 Policy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6172200" y="434340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6172200" y="4343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720840" y="438912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Appointment Checklist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48640" y="4892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1097280" y="49377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6172200" y="489204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6172200" y="4892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6720851" y="4937750"/>
            <a:ext cx="529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Coordinator Dashboard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48640" y="5440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1097280" y="5486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Detail Page	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6172200" y="5440680"/>
            <a:ext cx="411480" cy="41148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6172200" y="5440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6720840" y="5486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48578" y="5920680"/>
            <a:ext cx="411600" cy="41160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548578" y="5920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6172128" y="5989305"/>
            <a:ext cx="411600" cy="411600"/>
          </a:xfrm>
          <a:prstGeom prst="ellipse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6172128" y="598930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6720840" y="6035100"/>
            <a:ext cx="480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097265" y="5943625"/>
            <a:ext cx="480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Surgery Cleared Banner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D8B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lides/logo_light.png" id="415" name="Google Shape;415;g3ea0dd829e2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ea0dd829e2_0_26"/>
          <p:cNvSpPr/>
          <p:nvPr/>
        </p:nvSpPr>
        <p:spPr>
          <a:xfrm>
            <a:off x="731520" y="6400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0"/>
              <a:buFont typeface="Georgia"/>
              <a:buNone/>
            </a:pPr>
            <a:r>
              <a:rPr b="1" i="0" lang="en-US" sz="18000" u="none" cap="none" strike="noStrike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1" lang="en-US" sz="18000">
                <a:solidFill>
                  <a:srgbClr val="6FA8D6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ea0dd829e2_0_26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lang="en-US"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Testing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ea0dd829e2_0_26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&amp; </a:t>
            </a:r>
            <a:r>
              <a:rPr b="1" lang="en-US" sz="5600">
                <a:solidFill>
                  <a:srgbClr val="F4B942"/>
                </a:solidFill>
                <a:latin typeface="Georgia"/>
                <a:ea typeface="Georgia"/>
                <a:cs typeface="Georgia"/>
                <a:sym typeface="Georgia"/>
              </a:rPr>
              <a:t>QA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ea0dd829e2_0_26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a0dd829e2_0_38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a0dd829e2_0_38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ea0dd829e2_0_38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a0dd829e2_0_38"/>
          <p:cNvSpPr/>
          <p:nvPr/>
        </p:nvSpPr>
        <p:spPr>
          <a:xfrm>
            <a:off x="502920" y="77724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a0dd829e2_0_38"/>
          <p:cNvSpPr/>
          <p:nvPr/>
        </p:nvSpPr>
        <p:spPr>
          <a:xfrm>
            <a:off x="50292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30" name="Google Shape;430;g3ea0dd829e2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ea0dd829e2_0_38"/>
          <p:cNvSpPr txBox="1"/>
          <p:nvPr/>
        </p:nvSpPr>
        <p:spPr>
          <a:xfrm>
            <a:off x="614275" y="1892650"/>
            <a:ext cx="50319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/>
              <a:t>Automated testing:</a:t>
            </a:r>
            <a:endParaRPr sz="2400" u="sng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Server side: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Jest + Supertest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13 test suites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258 test cases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Client side: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Vitest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3 test files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34 tests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AI-Microservice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pytest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9 tests </a:t>
            </a:r>
            <a:endParaRPr sz="2400"/>
          </a:p>
        </p:txBody>
      </p:sp>
      <p:sp>
        <p:nvSpPr>
          <p:cNvPr id="432" name="Google Shape;432;g3ea0dd829e2_0_38"/>
          <p:cNvSpPr txBox="1"/>
          <p:nvPr/>
        </p:nvSpPr>
        <p:spPr>
          <a:xfrm>
            <a:off x="6144100" y="1918200"/>
            <a:ext cx="5019000" cy="4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/>
              <a:t>Testing Types:</a:t>
            </a:r>
            <a:endParaRPr sz="2400" u="sng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Manual tests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Each team member for </a:t>
            </a:r>
            <a:r>
              <a:rPr lang="en-US" sz="2400"/>
              <a:t>their</a:t>
            </a:r>
            <a:r>
              <a:rPr lang="en-US" sz="2400"/>
              <a:t> own features	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Unit Tests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7 out of 16 automated test suites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Integration Tests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9 out of 16 automated test suites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End-to-end Tests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Manually towards the end of the unit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a0dd829e2_0_61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ea0dd829e2_0_61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ea0dd829e2_0_61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ea0dd829e2_0_61"/>
          <p:cNvSpPr/>
          <p:nvPr/>
        </p:nvSpPr>
        <p:spPr>
          <a:xfrm>
            <a:off x="502920" y="77724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When Testing Happens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a0dd829e2_0_61"/>
          <p:cNvSpPr/>
          <p:nvPr/>
        </p:nvSpPr>
        <p:spPr>
          <a:xfrm>
            <a:off x="50292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43" name="Google Shape;443;g3ea0dd829e2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ea0dd829e2_0_61"/>
          <p:cNvSpPr txBox="1"/>
          <p:nvPr/>
        </p:nvSpPr>
        <p:spPr>
          <a:xfrm>
            <a:off x="614275" y="1892650"/>
            <a:ext cx="101757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/>
              <a:t>Before merge:</a:t>
            </a:r>
            <a:endParaRPr sz="2400" u="sng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Run automated test suites locally before PR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Tests must pass before review.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/>
              <a:t>On PR review: </a:t>
            </a:r>
            <a:endParaRPr sz="2400" u="sng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Reviewer manually verifies the change against acceptance criteria from the user story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Also runs the test suites on their end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/>
              <a:t>End of iteration: </a:t>
            </a:r>
            <a:endParaRPr sz="2400" u="sng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All manual test cases re-run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Full test suite re-run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Coverage report regenerated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a0dd829e2_0_97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a0dd829e2_0_97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a0dd829e2_0_97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ea0dd829e2_0_97"/>
          <p:cNvSpPr/>
          <p:nvPr/>
        </p:nvSpPr>
        <p:spPr>
          <a:xfrm>
            <a:off x="502920" y="77724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 Coverage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a0dd829e2_0_97"/>
          <p:cNvSpPr/>
          <p:nvPr/>
        </p:nvSpPr>
        <p:spPr>
          <a:xfrm>
            <a:off x="50292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55" name="Google Shape;455;g3ea0dd829e2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ea0dd829e2_0_97"/>
          <p:cNvSpPr txBox="1"/>
          <p:nvPr/>
        </p:nvSpPr>
        <p:spPr>
          <a:xfrm>
            <a:off x="614275" y="1892650"/>
            <a:ext cx="101757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/>
              <a:t>Server: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457" name="Google Shape;457;g3ea0dd829e2_0_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1597" y="1874447"/>
            <a:ext cx="6881071" cy="43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a0dd829e2_0_109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ea0dd829e2_0_109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ea0dd829e2_0_109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a0dd829e2_0_109"/>
          <p:cNvSpPr/>
          <p:nvPr/>
        </p:nvSpPr>
        <p:spPr>
          <a:xfrm>
            <a:off x="502920" y="77724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 Coverage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ea0dd829e2_0_109"/>
          <p:cNvSpPr/>
          <p:nvPr/>
        </p:nvSpPr>
        <p:spPr>
          <a:xfrm>
            <a:off x="50292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68" name="Google Shape;468;g3ea0dd829e2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ea0dd829e2_0_109"/>
          <p:cNvSpPr txBox="1"/>
          <p:nvPr/>
        </p:nvSpPr>
        <p:spPr>
          <a:xfrm>
            <a:off x="614275" y="1892650"/>
            <a:ext cx="101757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/>
              <a:t>Client</a:t>
            </a:r>
            <a:r>
              <a:rPr lang="en-US" sz="2400" u="sng"/>
              <a:t>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470" name="Google Shape;470;g3ea0dd829e2_0_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525" y="1874438"/>
            <a:ext cx="836295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a0dd829e2_0_73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a0dd829e2_0_73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a0dd829e2_0_73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ea0dd829e2_0_73"/>
          <p:cNvSpPr/>
          <p:nvPr/>
        </p:nvSpPr>
        <p:spPr>
          <a:xfrm>
            <a:off x="502920" y="77724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QA Strategies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ea0dd829e2_0_73"/>
          <p:cNvSpPr/>
          <p:nvPr/>
        </p:nvSpPr>
        <p:spPr>
          <a:xfrm>
            <a:off x="50292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81" name="Google Shape;481;g3ea0dd829e2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ea0dd829e2_0_73"/>
          <p:cNvSpPr txBox="1"/>
          <p:nvPr/>
        </p:nvSpPr>
        <p:spPr>
          <a:xfrm>
            <a:off x="614275" y="1892650"/>
            <a:ext cx="101757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u="sng"/>
              <a:t>PR reviews: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To merge with the dev branch, at least one team member needs to review the code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All existing tests need to pass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All merge conflicts need to be resolved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All acceptance tests need to be met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New passing test cases covering new features need to be included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Code reviewed within 24 hours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12 PR closed and merged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a0dd829e2_0_84"/>
          <p:cNvSpPr/>
          <p:nvPr/>
        </p:nvSpPr>
        <p:spPr>
          <a:xfrm>
            <a:off x="502920" y="29260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ea0dd829e2_0_84"/>
          <p:cNvSpPr/>
          <p:nvPr/>
        </p:nvSpPr>
        <p:spPr>
          <a:xfrm>
            <a:off x="107899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a0dd829e2_0_84"/>
          <p:cNvSpPr/>
          <p:nvPr/>
        </p:nvSpPr>
        <p:spPr>
          <a:xfrm>
            <a:off x="502920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ea0dd829e2_0_84"/>
          <p:cNvSpPr/>
          <p:nvPr/>
        </p:nvSpPr>
        <p:spPr>
          <a:xfrm>
            <a:off x="502920" y="77724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QA Strategies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ea0dd829e2_0_84"/>
          <p:cNvSpPr/>
          <p:nvPr/>
        </p:nvSpPr>
        <p:spPr>
          <a:xfrm>
            <a:off x="50292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493" name="Google Shape;493;g3ea0dd829e2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3832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3ea0dd829e2_0_84"/>
          <p:cNvSpPr txBox="1"/>
          <p:nvPr/>
        </p:nvSpPr>
        <p:spPr>
          <a:xfrm>
            <a:off x="614275" y="1892650"/>
            <a:ext cx="101757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u="sng"/>
              <a:t>GitHub Issues:</a:t>
            </a:r>
            <a:endParaRPr sz="2400" u="sng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Used for tracking bugs and refactoring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5 issues created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AutoNum type="romanLcPeriod"/>
            </a:pPr>
            <a:r>
              <a:rPr lang="en-US" sz="2400"/>
              <a:t>2 closed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AutoNum type="romanLcPeriod"/>
            </a:pPr>
            <a:r>
              <a:rPr lang="en-US" sz="2400"/>
              <a:t>3 open (to be addressed in iteration 3)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u="sng"/>
              <a:t>Refactoring:</a:t>
            </a:r>
            <a:endParaRPr sz="2400" u="sng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Patient Portal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AutoNum type="romanLcPeriod"/>
            </a:pPr>
            <a:r>
              <a:rPr lang="en-US" sz="2400"/>
              <a:t>Problem: very long, varied, with unrelated functionality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AutoNum type="romanLcPeriod"/>
            </a:pPr>
            <a:r>
              <a:rPr lang="en-US" sz="2400"/>
              <a:t>Solution: Extract into smaller, single responsibility components that will be imported into Patient Portal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8B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lides/logo.png" id="501" name="Google Shape;5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201168"/>
            <a:ext cx="10058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CS673 · Team 1 · Iteration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What's Next &amp; Questions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50292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8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Iteration </a:t>
            </a:r>
            <a:r>
              <a:rPr b="1" lang="en-US" sz="2000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US" sz="2000" u="none" cap="none" strike="noStrike">
                <a:solidFill>
                  <a:srgbClr val="1E4D8B"/>
                </a:solidFill>
                <a:latin typeface="Georgia"/>
                <a:ea typeface="Georgia"/>
                <a:cs typeface="Georgia"/>
                <a:sym typeface="Georgia"/>
              </a:rPr>
              <a:t> Roadmap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CI/CD with GitHub 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1097280" y="25786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Lint, tests, Prisma generate, security scans on every PR.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1097280" y="3136392"/>
            <a:ext cx="484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GitHub File Organization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1097280" y="344728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Separate code and tests into separate files in the directory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1097280" y="400507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Deployment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1097280" y="43159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Digital Ocean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2" name="Google Shape;5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937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5"/>
          <p:cNvSpPr/>
          <p:nvPr/>
        </p:nvSpPr>
        <p:spPr>
          <a:xfrm>
            <a:off x="1097280" y="487375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Test Suite Expansion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1097280" y="518464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coverage &gt; </a:t>
            </a: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0% by end of Iteration</a:t>
            </a:r>
            <a:r>
              <a:rPr lang="en-US" sz="11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6400800" y="1691640"/>
            <a:ext cx="5257800" cy="4572000"/>
          </a:xfrm>
          <a:prstGeom prst="rect">
            <a:avLst/>
          </a:prstGeom>
          <a:solidFill>
            <a:srgbClr val="1E4D8B"/>
          </a:solidFill>
          <a:ln cap="flat" cmpd="sng" w="12700">
            <a:solidFill>
              <a:srgbClr val="1E4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6675120" y="210312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Questions &amp; 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15"/>
          <p:cNvCxnSpPr/>
          <p:nvPr/>
        </p:nvCxnSpPr>
        <p:spPr>
          <a:xfrm>
            <a:off x="6675120" y="3749040"/>
            <a:ext cx="1371600" cy="0"/>
          </a:xfrm>
          <a:prstGeom prst="straightConnector1">
            <a:avLst/>
          </a:prstGeom>
          <a:noFill/>
          <a:ln cap="flat" cmpd="sng" w="381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9" name="Google Shape;519;p15"/>
          <p:cNvSpPr/>
          <p:nvPr/>
        </p:nvSpPr>
        <p:spPr>
          <a:xfrm>
            <a:off x="6675120" y="39319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1 — BariatricPath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Kai · Shaima · Kolya · Jianing · Fatimah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6675120" y="5760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FA8D6"/>
                </a:solidFill>
                <a:latin typeface="Calibri"/>
                <a:ea typeface="Calibri"/>
                <a:cs typeface="Calibri"/>
                <a:sym typeface="Calibri"/>
              </a:rPr>
              <a:t>CS673 Software Engineering — Summer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2" name="Google Shape;5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52" y="2331762"/>
            <a:ext cx="411475" cy="4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3" name="Google Shape;5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52" y="3959362"/>
            <a:ext cx="411475" cy="4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4" name="Google Shape;5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30" y="3177540"/>
            <a:ext cx="502920" cy="50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2026-05-25T15:46:46Z</dcterms:created>
  <dc:creator>CS673 Team 1 — BariatricPath</dc:creator>
</cp:coreProperties>
</file>