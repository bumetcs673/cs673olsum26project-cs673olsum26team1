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Nuni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C07DD4-9690-4A80-A4D4-2CFDB4BE18A9}">
  <a:tblStyle styleId="{4CC07DD4-9690-4A80-A4D4-2CFDB4BE18A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Nunito-regular.fntdata"/><Relationship Id="rId14" Type="http://schemas.openxmlformats.org/officeDocument/2006/relationships/slide" Target="slides/slide8.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font" Target="fonts/Nunito-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fe4f01642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fe4f01642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fe4f01642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fe4f01642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85bcf912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85bcf912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fe4f01642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fe4f01642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fe4f01642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fe4f01642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85bcf912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85bcf9121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5bcf912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85bcf91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node.j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Team 1 - Bariatric Path</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Iteration 0</a:t>
            </a:r>
            <a:endParaRPr sz="2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Members and Roles</a:t>
            </a:r>
            <a:endParaRPr/>
          </a:p>
        </p:txBody>
      </p:sp>
      <p:graphicFrame>
        <p:nvGraphicFramePr>
          <p:cNvPr id="135" name="Google Shape;135;p14"/>
          <p:cNvGraphicFramePr/>
          <p:nvPr/>
        </p:nvGraphicFramePr>
        <p:xfrm>
          <a:off x="863825" y="2047875"/>
          <a:ext cx="3000000" cy="3000000"/>
        </p:xfrm>
        <a:graphic>
          <a:graphicData uri="http://schemas.openxmlformats.org/drawingml/2006/table">
            <a:tbl>
              <a:tblPr>
                <a:noFill/>
                <a:tableStyleId>{4CC07DD4-9690-4A80-A4D4-2CFDB4BE18A9}</a:tableStyleId>
              </a:tblPr>
              <a:tblGrid>
                <a:gridCol w="3619500"/>
                <a:gridCol w="3619500"/>
              </a:tblGrid>
              <a:tr h="381000">
                <a:tc>
                  <a:txBody>
                    <a:bodyPr/>
                    <a:lstStyle/>
                    <a:p>
                      <a:pPr indent="0" lvl="0" marL="0" rtl="0" algn="l">
                        <a:spcBef>
                          <a:spcPts val="0"/>
                        </a:spcBef>
                        <a:spcAft>
                          <a:spcPts val="0"/>
                        </a:spcAft>
                        <a:buNone/>
                      </a:pPr>
                      <a:r>
                        <a:rPr lang="en" sz="1200" u="sng"/>
                        <a:t>Team Member</a:t>
                      </a:r>
                      <a:endParaRPr sz="1200" u="sng"/>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u="sng"/>
                        <a:t>Role(s)</a:t>
                      </a:r>
                      <a:endParaRPr sz="1200" u="sng"/>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Fatimah Hassan</a:t>
                      </a:r>
                      <a:endParaRPr sz="1200"/>
                    </a:p>
                  </a:txBody>
                  <a:tcPr marT="0" marB="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Security lead | Configuration lead</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Kai Fernandes</a:t>
                      </a:r>
                      <a:endParaRPr sz="1200"/>
                    </a:p>
                  </a:txBody>
                  <a:tcPr marT="0" marB="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Team lead | Configuration lead</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Shaima Nimeri</a:t>
                      </a:r>
                      <a:endParaRPr sz="1200"/>
                    </a:p>
                  </a:txBody>
                  <a:tcPr marT="0" marB="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Design and implementation lead | Requirement lead |Team lead</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Kolya Gavlishin</a:t>
                      </a:r>
                      <a:endParaRPr sz="1200"/>
                    </a:p>
                  </a:txBody>
                  <a:tcPr marT="0" marB="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QA Lead | Design and implementation lead </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Idea - Bariatric Path</a:t>
            </a:r>
            <a:endParaRPr/>
          </a:p>
        </p:txBody>
      </p:sp>
      <p:sp>
        <p:nvSpPr>
          <p:cNvPr id="141" name="Google Shape;141;p15"/>
          <p:cNvSpPr txBox="1"/>
          <p:nvPr>
            <p:ph idx="1" type="body"/>
          </p:nvPr>
        </p:nvSpPr>
        <p:spPr>
          <a:xfrm>
            <a:off x="819150" y="1602025"/>
            <a:ext cx="7505700" cy="2836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u="sng"/>
              <a:t>The Problem:</a:t>
            </a:r>
            <a:endParaRPr sz="1500" u="sng"/>
          </a:p>
          <a:p>
            <a:pPr indent="0" lvl="0" marL="0" rtl="0" algn="l">
              <a:spcBef>
                <a:spcPts val="1200"/>
              </a:spcBef>
              <a:spcAft>
                <a:spcPts val="0"/>
              </a:spcAft>
              <a:buNone/>
            </a:pPr>
            <a:r>
              <a:rPr lang="en"/>
              <a:t>Bariatric surgery programs require patients to complete a </a:t>
            </a:r>
            <a:r>
              <a:rPr b="1" lang="en"/>
              <a:t>multi-stage evaluation process</a:t>
            </a:r>
            <a:r>
              <a:rPr lang="en"/>
              <a:t> involving multiple specialists including surgeons, psychologists, dietitians, and endoscopic specialists before receiving surgical clearance. </a:t>
            </a:r>
            <a:endParaRPr/>
          </a:p>
          <a:p>
            <a:pPr indent="0" lvl="0" marL="0" rtl="0" algn="l">
              <a:spcBef>
                <a:spcPts val="1200"/>
              </a:spcBef>
              <a:spcAft>
                <a:spcPts val="0"/>
              </a:spcAft>
              <a:buNone/>
            </a:pPr>
            <a:r>
              <a:rPr lang="en"/>
              <a:t>Today this process is </a:t>
            </a:r>
            <a:r>
              <a:rPr b="1" lang="en"/>
              <a:t>managed through phone calls, spreadsheets, paper checklists, and disconnected systems. </a:t>
            </a:r>
            <a:endParaRPr b="1"/>
          </a:p>
          <a:p>
            <a:pPr indent="0" lvl="0" marL="0" rtl="0" algn="l">
              <a:spcBef>
                <a:spcPts val="1200"/>
              </a:spcBef>
              <a:spcAft>
                <a:spcPts val="0"/>
              </a:spcAft>
              <a:buNone/>
            </a:pPr>
            <a:r>
              <a:rPr b="1" lang="en"/>
              <a:t>Patients have no visibility</a:t>
            </a:r>
            <a:r>
              <a:rPr lang="en"/>
              <a:t> into their own progress, </a:t>
            </a:r>
            <a:r>
              <a:rPr b="1" lang="en"/>
              <a:t>coordinators manually track dozens of patients</a:t>
            </a:r>
            <a:r>
              <a:rPr lang="en"/>
              <a:t> across dozens of status columns, and </a:t>
            </a:r>
            <a:r>
              <a:rPr b="1" lang="en"/>
              <a:t>program directors have no real-time insight </a:t>
            </a:r>
            <a:r>
              <a:rPr lang="en"/>
              <a:t>into pipeline health. </a:t>
            </a:r>
            <a:endParaRPr/>
          </a:p>
          <a:p>
            <a:pPr indent="0" lvl="0" marL="0" rtl="0" algn="l">
              <a:spcBef>
                <a:spcPts val="1200"/>
              </a:spcBef>
              <a:spcAft>
                <a:spcPts val="1200"/>
              </a:spcAft>
              <a:buNone/>
            </a:pPr>
            <a:r>
              <a:rPr lang="en"/>
              <a:t>This fragmentation causes delays, missed appointments, lost documentation, and patient dropout.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Idea - Bariatric Path</a:t>
            </a:r>
            <a:endParaRPr/>
          </a:p>
        </p:txBody>
      </p:sp>
      <p:sp>
        <p:nvSpPr>
          <p:cNvPr id="147" name="Google Shape;147;p16"/>
          <p:cNvSpPr txBox="1"/>
          <p:nvPr>
            <p:ph idx="1" type="body"/>
          </p:nvPr>
        </p:nvSpPr>
        <p:spPr>
          <a:xfrm>
            <a:off x="819150" y="1612575"/>
            <a:ext cx="7505700" cy="2826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500" u="sng"/>
              <a:t>The Solution:</a:t>
            </a:r>
            <a:endParaRPr sz="1500" u="sng"/>
          </a:p>
          <a:p>
            <a:pPr indent="-311150" lvl="0" marL="457200" rtl="0" algn="l">
              <a:spcBef>
                <a:spcPts val="1200"/>
              </a:spcBef>
              <a:spcAft>
                <a:spcPts val="0"/>
              </a:spcAft>
              <a:buSzPts val="1300"/>
              <a:buChar char="●"/>
            </a:pPr>
            <a:r>
              <a:rPr lang="en"/>
              <a:t>To create a web based clinical evaluation management system that digitizes and centralizes the entire bariatric journey evaluation workflow. </a:t>
            </a:r>
            <a:endParaRPr/>
          </a:p>
          <a:p>
            <a:pPr indent="-311150" lvl="0" marL="457200" rtl="0" algn="l">
              <a:spcBef>
                <a:spcPts val="0"/>
              </a:spcBef>
              <a:spcAft>
                <a:spcPts val="0"/>
              </a:spcAft>
              <a:buSzPts val="1300"/>
              <a:buChar char="●"/>
            </a:pPr>
            <a:r>
              <a:rPr lang="en"/>
              <a:t>Give patients a self service portal to track their progress, </a:t>
            </a:r>
            <a:endParaRPr/>
          </a:p>
          <a:p>
            <a:pPr indent="-311150" lvl="0" marL="457200" rtl="0" algn="l">
              <a:spcBef>
                <a:spcPts val="0"/>
              </a:spcBef>
              <a:spcAft>
                <a:spcPts val="0"/>
              </a:spcAft>
              <a:buSzPts val="1300"/>
              <a:buChar char="●"/>
            </a:pPr>
            <a:r>
              <a:rPr lang="en"/>
              <a:t>Give coordinators a single dashboard to manage all patient statuses and order updates, and gives program directors a real time view of the full patient pipeline</a:t>
            </a:r>
            <a:endParaRPr/>
          </a:p>
          <a:p>
            <a:pPr indent="-311150" lvl="0" marL="457200" rtl="0" algn="l">
              <a:spcBef>
                <a:spcPts val="0"/>
              </a:spcBef>
              <a:spcAft>
                <a:spcPts val="0"/>
              </a:spcAft>
              <a:buSzPts val="1300"/>
              <a:buChar char="●"/>
            </a:pPr>
            <a:r>
              <a:rPr lang="en"/>
              <a:t>A table to mimic patient electronic medical records similar to Epic, which would be connected to the app where the app reflects all updates by the involved care team including  psychologists, dietitians, cardiologists, nephrologists, lab-technicians and gastroenterologists.</a:t>
            </a:r>
            <a:endParaRPr/>
          </a:p>
          <a:p>
            <a:pPr indent="0" lvl="0" marL="0" rtl="0" algn="l">
              <a:spcBef>
                <a:spcPts val="1200"/>
              </a:spcBef>
              <a:spcAft>
                <a:spcPts val="0"/>
              </a:spcAft>
              <a:buNone/>
            </a:pPr>
            <a:r>
              <a:rPr lang="en" sz="1500" u="sng"/>
              <a:t>Potential users:</a:t>
            </a:r>
            <a:endParaRPr sz="1500" u="sng"/>
          </a:p>
          <a:p>
            <a:pPr indent="0" lvl="0" marL="0" rtl="0" algn="l">
              <a:spcBef>
                <a:spcPts val="1200"/>
              </a:spcBef>
              <a:spcAft>
                <a:spcPts val="1200"/>
              </a:spcAft>
              <a:buNone/>
            </a:pPr>
            <a:r>
              <a:rPr lang="en"/>
              <a:t>Bariatric patients, </a:t>
            </a:r>
            <a:r>
              <a:rPr lang="en"/>
              <a:t>bariatric</a:t>
            </a:r>
            <a:r>
              <a:rPr lang="en"/>
              <a:t> program coordinator, </a:t>
            </a:r>
            <a:r>
              <a:rPr lang="en"/>
              <a:t>bariatric</a:t>
            </a:r>
            <a:r>
              <a:rPr lang="en"/>
              <a:t> program director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Scope of Features</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Patient self registration with BMI based specialist recommendation</a:t>
            </a:r>
            <a:endParaRPr/>
          </a:p>
          <a:p>
            <a:pPr indent="-311150" lvl="0" marL="457200" rtl="0" algn="l">
              <a:spcBef>
                <a:spcPts val="0"/>
              </a:spcBef>
              <a:spcAft>
                <a:spcPts val="0"/>
              </a:spcAft>
              <a:buSzPts val="1300"/>
              <a:buChar char="●"/>
            </a:pPr>
            <a:r>
              <a:rPr lang="en"/>
              <a:t>Role based login routing each user to their correct screen</a:t>
            </a:r>
            <a:endParaRPr/>
          </a:p>
          <a:p>
            <a:pPr indent="-311150" lvl="0" marL="457200" rtl="0" algn="l">
              <a:spcBef>
                <a:spcPts val="0"/>
              </a:spcBef>
              <a:spcAft>
                <a:spcPts val="0"/>
              </a:spcAft>
              <a:buSzPts val="1300"/>
              <a:buChar char="●"/>
            </a:pPr>
            <a:r>
              <a:rPr lang="en"/>
              <a:t>Patient portal with appointment checklist, notifications, and AI chatbot</a:t>
            </a:r>
            <a:endParaRPr/>
          </a:p>
          <a:p>
            <a:pPr indent="-311150" lvl="0" marL="457200" rtl="0" algn="l">
              <a:spcBef>
                <a:spcPts val="0"/>
              </a:spcBef>
              <a:spcAft>
                <a:spcPts val="0"/>
              </a:spcAft>
              <a:buSzPts val="1300"/>
              <a:buChar char="●"/>
            </a:pPr>
            <a:r>
              <a:rPr lang="en"/>
              <a:t>Coordinator dashboard with full patient management and column update capability.</a:t>
            </a:r>
            <a:endParaRPr/>
          </a:p>
          <a:p>
            <a:pPr indent="-311150" lvl="0" marL="457200" rtl="0" algn="l">
              <a:spcBef>
                <a:spcPts val="0"/>
              </a:spcBef>
              <a:spcAft>
                <a:spcPts val="0"/>
              </a:spcAft>
              <a:buSzPts val="1300"/>
              <a:buChar char="●"/>
            </a:pPr>
            <a:r>
              <a:rPr lang="en"/>
              <a:t>Master patient table as single source of truth coordinator updates flow to patient portal automatically</a:t>
            </a:r>
            <a:endParaRPr/>
          </a:p>
          <a:p>
            <a:pPr indent="-311150" lvl="0" marL="457200" rtl="0" algn="l">
              <a:spcBef>
                <a:spcPts val="0"/>
              </a:spcBef>
              <a:spcAft>
                <a:spcPts val="0"/>
              </a:spcAft>
              <a:buSzPts val="1300"/>
              <a:buChar char="●"/>
            </a:pPr>
            <a:r>
              <a:rPr lang="en"/>
              <a:t>Audit logging of every status change with a time stamp.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TechStack / Tools</a:t>
            </a:r>
            <a:endParaRPr/>
          </a:p>
        </p:txBody>
      </p:sp>
      <p:graphicFrame>
        <p:nvGraphicFramePr>
          <p:cNvPr id="159" name="Google Shape;159;p18"/>
          <p:cNvGraphicFramePr/>
          <p:nvPr/>
        </p:nvGraphicFramePr>
        <p:xfrm>
          <a:off x="1081750" y="1800200"/>
          <a:ext cx="3000000" cy="3000000"/>
        </p:xfrm>
        <a:graphic>
          <a:graphicData uri="http://schemas.openxmlformats.org/drawingml/2006/table">
            <a:tbl>
              <a:tblPr>
                <a:noFill/>
                <a:tableStyleId>{4CC07DD4-9690-4A80-A4D4-2CFDB4BE18A9}</a:tableStyleId>
              </a:tblPr>
              <a:tblGrid>
                <a:gridCol w="3490250"/>
                <a:gridCol w="3490250"/>
              </a:tblGrid>
              <a:tr h="312775">
                <a:tc>
                  <a:txBody>
                    <a:bodyPr/>
                    <a:lstStyle/>
                    <a:p>
                      <a:pPr indent="0" lvl="0" marL="0" rtl="0" algn="l">
                        <a:spcBef>
                          <a:spcPts val="0"/>
                        </a:spcBef>
                        <a:spcAft>
                          <a:spcPts val="0"/>
                        </a:spcAft>
                        <a:buNone/>
                      </a:pPr>
                      <a:r>
                        <a:rPr b="1" lang="en" sz="1100"/>
                        <a:t>Layer</a:t>
                      </a:r>
                      <a:endParaRPr b="1"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100"/>
                        <a:t>Technology</a:t>
                      </a:r>
                      <a:endParaRPr b="1"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Frontend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React.js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Backend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rgbClr val="1155CC"/>
                          </a:solidFill>
                          <a:hlinkClick r:id="rId3">
                            <a:extLst>
                              <a:ext uri="{A12FA001-AC4F-418D-AE19-62706E023703}">
                                <ahyp:hlinkClr val="tx"/>
                              </a:ext>
                            </a:extLst>
                          </a:hlinkClick>
                        </a:rPr>
                        <a:t>Node.js</a:t>
                      </a:r>
                      <a:r>
                        <a:rPr lang="en" sz="1100"/>
                        <a:t> + Express REST API</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Database</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PostgresSQL+Prisma ORM</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Authentication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Firebase Authentication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AI</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OpenAI GPT-4 API via Express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Project management</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Jira + Github</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Container</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Docker</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775">
                <a:tc>
                  <a:txBody>
                    <a:bodyPr/>
                    <a:lstStyle/>
                    <a:p>
                      <a:pPr indent="0" lvl="0" marL="0" rtl="0" algn="l">
                        <a:spcBef>
                          <a:spcPts val="0"/>
                        </a:spcBef>
                        <a:spcAft>
                          <a:spcPts val="0"/>
                        </a:spcAft>
                        <a:buNone/>
                      </a:pPr>
                      <a:r>
                        <a:rPr lang="en" sz="1100"/>
                        <a:t>Deployment</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Digital ocean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Risk Management</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H</a:t>
            </a:r>
            <a:r>
              <a:rPr lang="en"/>
              <a:t>ighest priority risks:</a:t>
            </a:r>
            <a:endParaRPr/>
          </a:p>
          <a:p>
            <a:pPr indent="-311150" lvl="0" marL="457200" rtl="0" algn="l">
              <a:spcBef>
                <a:spcPts val="1200"/>
              </a:spcBef>
              <a:spcAft>
                <a:spcPts val="0"/>
              </a:spcAft>
              <a:buSzPts val="1300"/>
              <a:buChar char="●"/>
            </a:pPr>
            <a:r>
              <a:rPr lang="en"/>
              <a:t>Not having enough time for integration and deployment</a:t>
            </a:r>
            <a:endParaRPr/>
          </a:p>
          <a:p>
            <a:pPr indent="-311150" lvl="0" marL="457200" rtl="0" algn="l">
              <a:spcBef>
                <a:spcPts val="0"/>
              </a:spcBef>
              <a:spcAft>
                <a:spcPts val="0"/>
              </a:spcAft>
              <a:buSzPts val="1300"/>
              <a:buChar char="●"/>
            </a:pPr>
            <a:r>
              <a:rPr lang="en"/>
              <a:t>Scope creep</a:t>
            </a:r>
            <a:endParaRPr/>
          </a:p>
          <a:p>
            <a:pPr indent="-311150" lvl="0" marL="457200" rtl="0" algn="l">
              <a:spcBef>
                <a:spcPts val="0"/>
              </a:spcBef>
              <a:spcAft>
                <a:spcPts val="0"/>
              </a:spcAft>
              <a:buSzPts val="1300"/>
              <a:buChar char="●"/>
            </a:pPr>
            <a:r>
              <a:rPr lang="en"/>
              <a:t>Improper planning/task assignment</a:t>
            </a:r>
            <a:endParaRPr/>
          </a:p>
          <a:p>
            <a:pPr indent="0" lvl="0" marL="0" rtl="0" algn="l">
              <a:spcBef>
                <a:spcPts val="1200"/>
              </a:spcBef>
              <a:spcAft>
                <a:spcPts val="0"/>
              </a:spcAft>
              <a:buNone/>
            </a:pPr>
            <a:r>
              <a:rPr lang="en"/>
              <a:t>How to address:</a:t>
            </a:r>
            <a:endParaRPr/>
          </a:p>
          <a:p>
            <a:pPr indent="-311150" lvl="0" marL="457200" rtl="0" algn="l">
              <a:spcBef>
                <a:spcPts val="1200"/>
              </a:spcBef>
              <a:spcAft>
                <a:spcPts val="0"/>
              </a:spcAft>
              <a:buSzPts val="1300"/>
              <a:buChar char="●"/>
            </a:pPr>
            <a:r>
              <a:rPr lang="en"/>
              <a:t>Making sure we focus on our essential requirements first before we work on the desired features</a:t>
            </a:r>
            <a:endParaRPr/>
          </a:p>
          <a:p>
            <a:pPr indent="-311150" lvl="0" marL="457200" rtl="0" algn="l">
              <a:spcBef>
                <a:spcPts val="0"/>
              </a:spcBef>
              <a:spcAft>
                <a:spcPts val="0"/>
              </a:spcAft>
              <a:buSzPts val="1300"/>
              <a:buChar char="●"/>
            </a:pPr>
            <a:r>
              <a:rPr lang="en"/>
              <a:t>Planning early in each iteration and assigning clear tasks and goals for each team member</a:t>
            </a:r>
            <a:endParaRPr/>
          </a:p>
          <a:p>
            <a:pPr indent="-311150" lvl="0" marL="457200" rtl="0" algn="l">
              <a:spcBef>
                <a:spcPts val="0"/>
              </a:spcBef>
              <a:spcAft>
                <a:spcPts val="0"/>
              </a:spcAft>
              <a:buSzPts val="1300"/>
              <a:buChar char="●"/>
            </a:pPr>
            <a:r>
              <a:rPr lang="en"/>
              <a:t>Making sure each team member is familiar with the tasks that they are responsible for</a:t>
            </a:r>
            <a:endParaRPr/>
          </a:p>
          <a:p>
            <a:pPr indent="-311150" lvl="0" marL="457200" rtl="0" algn="l">
              <a:spcBef>
                <a:spcPts val="0"/>
              </a:spcBef>
              <a:spcAft>
                <a:spcPts val="0"/>
              </a:spcAft>
              <a:buSzPts val="1300"/>
              <a:buChar char="●"/>
            </a:pPr>
            <a:r>
              <a:rPr lang="en"/>
              <a:t>Individual research and their team members will support where needed.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