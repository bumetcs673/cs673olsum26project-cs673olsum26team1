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OLxKPSO6aMx3eUUio3G4V3pF9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11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0" y="0"/>
            <a:ext cx="6688836" cy="6858000"/>
          </a:xfrm>
          <a:prstGeom prst="rect">
            <a:avLst/>
          </a:prstGeom>
          <a:solidFill>
            <a:srgbClr val="143861"/>
          </a:solidFill>
          <a:ln cap="flat" cmpd="sng" w="12700">
            <a:solidFill>
              <a:srgbClr val="1438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640080" y="1463040"/>
            <a:ext cx="6858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lang="en-US" sz="6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BariatricPath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40080" y="274320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2200"/>
              <a:buFont typeface="Calibri"/>
              <a:buNone/>
            </a:pPr>
            <a:r>
              <a:rPr i="1" lang="en-US" sz="22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A Clinical Evaluation Management System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4023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Iteration 1 Presentation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45262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CS673 Software Engineering  ·  Team 1  ·  Summer 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Presented by: Shaima Nimeri &amp; Fatimah Hassan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540142" y="1371600"/>
            <a:ext cx="4114800" cy="4114800"/>
          </a:xfrm>
          <a:prstGeom prst="ellipse">
            <a:avLst/>
          </a:prstGeom>
          <a:solidFill>
            <a:srgbClr val="6FA8D6">
              <a:alpha val="2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088782" y="1920240"/>
            <a:ext cx="3017520" cy="3017520"/>
          </a:xfrm>
          <a:prstGeom prst="ellipse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8862" y="2560320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OUR TEAM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7772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Meet Team 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8580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BARIATRICPATH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800" y="182880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web-based clinical evaluation management system that digitizes the multi-stage bariatric surgery evaluation workflow — connecting patients, coordinators, and program directors through a single source of truth with role-based access and a complete audit trail.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80060" y="26060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80060" y="26060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54380" y="28803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54380" y="28803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623060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Shaima Nimeri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54380" y="37490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Team 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Design &amp; Implementation 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Requirement 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74820" y="26060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274820" y="26060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49140" y="28803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49140" y="28803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KF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17820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Kai Fernandes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49140" y="37490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Team Co-Lead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Co-Lead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069580" y="26060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069580" y="26060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343900" y="28803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343900" y="28803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212580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Fatimah Hassan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343900" y="37490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Security 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Co-Lead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377440" y="46634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377440" y="46634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651760" y="49377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651760" y="49377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520440" y="49834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Jianing Li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651760" y="58064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Requirement Co-Lead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72200" y="46634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172200" y="46634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46520" y="49377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446520" y="49377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315200" y="49834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Kolya Gavlishin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446520" y="58064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QA 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Design &amp; Implementation Co-Lead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" y="777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Today's Agenda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2920" y="1508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focus areas — per Prof's guidance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22860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2377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2240280" y="22677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Requirement Analysis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240280" y="263347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User stories, INVEST principle, Lab 2 work, and what we've prioritized.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324612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480" y="3337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2240280" y="322783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240280" y="359359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Three-tier client-server design, technology stack, and key design decisions.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42062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4480" y="4297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2240280" y="418795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240280" y="455371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What we built this iteration: authentication, audit logging, Docker setup, live demo.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51663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4480" y="5257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2240280" y="51480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Q &amp; 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240280" y="55138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Discussion and feedback from class.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91" name="Google Shape;9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02920" y="777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Problem We're Solving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" y="16916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Bariatric surgery evaluation is a multi-stage process involving surgeons, psychologists, dietitians, cardiologists, and more.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02920" y="283464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Today it's managed through phone calls, paper checklists, spreadsheets, and disconnected systems.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02920" y="37490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Patients get no visibility. Coordinators track dozens of cases manually. Directors have no real-time pipeline view.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00800" y="1691640"/>
            <a:ext cx="5120640" cy="132588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400800" y="1691640"/>
            <a:ext cx="73152" cy="132588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207568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7360920" y="1920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Fragmented data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360920" y="23774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Critical info scattered across systems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00800" y="3200400"/>
            <a:ext cx="5120640" cy="132588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400800" y="3200400"/>
            <a:ext cx="73152" cy="132588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35844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7360920" y="34290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No patient visibility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360920" y="388620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Patients can't see their own progress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400800" y="4709160"/>
            <a:ext cx="5120640" cy="132588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00800" y="4709160"/>
            <a:ext cx="73152" cy="132588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5120" y="50932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7360920" y="49377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Manual coordination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360920" y="53949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Hours lost on phone calls and updates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02920" y="777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Our Solution: BariatricPath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web app digitizing the full evaluation workflow with role-based access and audit trail.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21031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5760" y="2103120"/>
            <a:ext cx="3657600" cy="109728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737360" y="2560320"/>
            <a:ext cx="914400" cy="914400"/>
          </a:xfrm>
          <a:prstGeom prst="ellipse">
            <a:avLst/>
          </a:prstGeom>
          <a:solidFill>
            <a:srgbClr val="F5F8FC"/>
          </a:solidFill>
          <a:ln cap="flat" cmpd="sng" w="12700">
            <a:solidFill>
              <a:srgbClr val="F5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0240" y="2743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64008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Patient Portal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85800" y="42062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Self-registration, checklist tracking, real-time status, and an AI assistant for questions about their journey.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251960" y="21031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251960" y="2103120"/>
            <a:ext cx="3657600" cy="109728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623560" y="2560320"/>
            <a:ext cx="914400" cy="914400"/>
          </a:xfrm>
          <a:prstGeom prst="ellipse">
            <a:avLst/>
          </a:prstGeom>
          <a:solidFill>
            <a:srgbClr val="F5F8FC"/>
          </a:solidFill>
          <a:ln cap="flat" cmpd="sng" w="12700">
            <a:solidFill>
              <a:srgbClr val="F5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6440" y="2743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452628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Coordinator Dashboard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72000" y="42062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Manage all patients, update workflow stages, search and filter, with every change automatically reflected in patient portals.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138160" y="21031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138160" y="2103120"/>
            <a:ext cx="3657600" cy="109728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509760" y="2560320"/>
            <a:ext cx="914400" cy="914400"/>
          </a:xfrm>
          <a:prstGeom prst="ellipse">
            <a:avLst/>
          </a:prstGeom>
          <a:solidFill>
            <a:srgbClr val="F5F8FC"/>
          </a:solidFill>
          <a:ln cap="flat" cmpd="sng" w="12700">
            <a:solidFill>
              <a:srgbClr val="F5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92640" y="2743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841248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Director View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458200" y="42062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Real-time pipeline visibility, filter by specialist or stage, and pipeline metrics at a glance.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Master patient table as the single source of truth — all updates propagate automatically.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731520" y="64008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0"/>
              <a:buFont typeface="Georgia"/>
              <a:buNone/>
            </a:pPr>
            <a:r>
              <a:rPr b="1" lang="en-US" sz="180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Requirement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User stories, INVEST principle, and iteration scope.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How We Manage Requirements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INVEST-compliant user stories tracked in Jira with breakdown tasks and acceptance criteria.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02920" y="2011680"/>
            <a:ext cx="3703320" cy="12801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85800" y="21031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4800"/>
              <a:buFont typeface="Georgia"/>
              <a:buNone/>
            </a:pPr>
            <a:r>
              <a:rPr b="1" lang="en-US" sz="4800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30+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85800" y="2834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User Stories Written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297680" y="2011680"/>
            <a:ext cx="3703320" cy="12801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480560" y="21031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4800"/>
              <a:buFont typeface="Georgia"/>
              <a:buNone/>
            </a:pPr>
            <a:r>
              <a:rPr b="1" lang="en-US" sz="4800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480560" y="2834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Essential Features (Iter 1–3)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092440" y="2011680"/>
            <a:ext cx="3703320" cy="12801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275320" y="21031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4800"/>
              <a:buFont typeface="Georgia"/>
              <a:buNone/>
            </a:pPr>
            <a:r>
              <a:rPr b="1" lang="en-US" sz="4800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275320" y="2834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Story Points Avg (Fibonacci)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02920" y="35661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Every story follows INVEST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0292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0292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14300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14300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stands alone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42316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242316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06324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Negotiable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06324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details can shift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34340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34340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98348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Valuable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98348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delivers real value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26364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26364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90372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Estimable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90372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can size 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18388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18388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82396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Small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82396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fits one iteration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010412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010412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074420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Testable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074420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clear acceptance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85800" y="5120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EXAMPLE — BARI-7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"As a patient, I want to create an account with my email and password, so that I can access my patient portal securely."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Given/When/Then acceptance tests · 6 breakdown subtasks · 5 story points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214" name="Google Shape;2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731520" y="64008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0"/>
              <a:buFont typeface="Georgia"/>
              <a:buNone/>
            </a:pPr>
            <a:r>
              <a:rPr b="1" lang="en-US" sz="180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&amp; Design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Three-tier client-server design with deliberate security and AI-readiness.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Three-tier today, with a fourth service (AI) joining in Iteration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94360" y="2194560"/>
            <a:ext cx="2606040" cy="3383280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6FA8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94360" y="2194560"/>
            <a:ext cx="2606040" cy="50292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73152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TIER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34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731520" y="37490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React SPA + Vite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22960" y="42062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Login / Register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Patient Portal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Coordinator UI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Director UI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383280" y="2194560"/>
            <a:ext cx="2606040" cy="3383280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6FA8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383280" y="2194560"/>
            <a:ext cx="2606040" cy="50292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52044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TIER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626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3520440" y="37490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Node.js + Express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611880" y="42062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REST endpoints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verifyAuth + RBAC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 logging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Gateway to AI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172200" y="2194560"/>
            <a:ext cx="2606040" cy="3383280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6FA8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172200" y="2194560"/>
            <a:ext cx="2606040" cy="50292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30936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TIER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518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6309360" y="37490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PostgreSQL + Prisma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400800" y="42062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User &amp; Patient tables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AuditLog (append-only)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Prisma migrations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961120" y="2194560"/>
            <a:ext cx="2606040" cy="33832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4B942"/>
            </a:solidFill>
            <a:prstDash val="dash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961120" y="2194560"/>
            <a:ext cx="2606040" cy="502920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09828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SERVICE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0789920" y="2788920"/>
            <a:ext cx="685800" cy="25603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4410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/>
          <p:nvPr/>
        </p:nvSpPr>
        <p:spPr>
          <a:xfrm>
            <a:off x="9098280" y="37490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eorgia"/>
              <a:buNone/>
            </a:pPr>
            <a:r>
              <a:rPr b="1" i="1" lang="en-US" sz="1400">
                <a:solidFill>
                  <a:srgbClr val="6B7280"/>
                </a:solidFill>
                <a:latin typeface="Georgia"/>
                <a:ea typeface="Georgia"/>
                <a:cs typeface="Georgia"/>
                <a:sym typeface="Georgia"/>
              </a:rPr>
              <a:t>FastAPI + LangChain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9189720" y="42062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▪"/>
            </a:pP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RAG chatbot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▪"/>
            </a:pP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Internal-only (no public access)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▪"/>
            </a:pP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Called via Express only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▪"/>
            </a:pP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Python ecosystem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9"/>
          <p:cNvCxnSpPr/>
          <p:nvPr/>
        </p:nvCxnSpPr>
        <p:spPr>
          <a:xfrm>
            <a:off x="3218688" y="388620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E4D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9"/>
          <p:cNvCxnSpPr/>
          <p:nvPr/>
        </p:nvCxnSpPr>
        <p:spPr>
          <a:xfrm>
            <a:off x="6007608" y="388620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E4D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9"/>
          <p:cNvCxnSpPr/>
          <p:nvPr/>
        </p:nvCxnSpPr>
        <p:spPr>
          <a:xfrm>
            <a:off x="8796528" y="388620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4B94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58" name="Google Shape;258;p9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Security note: the AI service will live on an internal Docker network, never exposed publicly. Every AI request is gated by Express, which verifies the Firebase token first.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65" name="Google Shape;2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Architecture in Motion: Login Flow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a single login request travels through every tier of the system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263015" y="1965960"/>
            <a:ext cx="1828800" cy="7772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6247" y="203911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0"/>
          <p:cNvSpPr/>
          <p:nvPr/>
        </p:nvSpPr>
        <p:spPr>
          <a:xfrm>
            <a:off x="1263015" y="24231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Browser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263015" y="260604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React SPA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0"/>
          <p:cNvCxnSpPr/>
          <p:nvPr/>
        </p:nvCxnSpPr>
        <p:spPr>
          <a:xfrm>
            <a:off x="2177415" y="2743200"/>
            <a:ext cx="0" cy="3154680"/>
          </a:xfrm>
          <a:prstGeom prst="straightConnector1">
            <a:avLst/>
          </a:prstGeom>
          <a:noFill/>
          <a:ln cap="flat" cmpd="sng" w="12700">
            <a:solidFill>
              <a:srgbClr val="6FA8D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3" name="Google Shape;273;p10"/>
          <p:cNvSpPr/>
          <p:nvPr/>
        </p:nvSpPr>
        <p:spPr>
          <a:xfrm>
            <a:off x="3971925" y="1965960"/>
            <a:ext cx="1828800" cy="7772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5157" y="203911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3971925" y="24231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Firebase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3971925" y="260604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Auth Provider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0"/>
          <p:cNvCxnSpPr/>
          <p:nvPr/>
        </p:nvCxnSpPr>
        <p:spPr>
          <a:xfrm>
            <a:off x="4886325" y="2743200"/>
            <a:ext cx="0" cy="3154680"/>
          </a:xfrm>
          <a:prstGeom prst="straightConnector1">
            <a:avLst/>
          </a:prstGeom>
          <a:noFill/>
          <a:ln cap="flat" cmpd="sng" w="12700">
            <a:solidFill>
              <a:srgbClr val="6FA8D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8" name="Google Shape;278;p10"/>
          <p:cNvSpPr/>
          <p:nvPr/>
        </p:nvSpPr>
        <p:spPr>
          <a:xfrm>
            <a:off x="6680835" y="1965960"/>
            <a:ext cx="1828800" cy="7772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94067" y="203911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/>
          <p:nvPr/>
        </p:nvSpPr>
        <p:spPr>
          <a:xfrm>
            <a:off x="6680835" y="24231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Express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680835" y="260604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API + Auth Middleware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0"/>
          <p:cNvCxnSpPr/>
          <p:nvPr/>
        </p:nvCxnSpPr>
        <p:spPr>
          <a:xfrm>
            <a:off x="7595235" y="2743200"/>
            <a:ext cx="0" cy="3154680"/>
          </a:xfrm>
          <a:prstGeom prst="straightConnector1">
            <a:avLst/>
          </a:prstGeom>
          <a:noFill/>
          <a:ln cap="flat" cmpd="sng" w="12700">
            <a:solidFill>
              <a:srgbClr val="6FA8D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3" name="Google Shape;283;p10"/>
          <p:cNvSpPr/>
          <p:nvPr/>
        </p:nvSpPr>
        <p:spPr>
          <a:xfrm>
            <a:off x="9389745" y="1965960"/>
            <a:ext cx="1828800" cy="7772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02977" y="203911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9389745" y="24231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PostgreSQL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9389745" y="260604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via Prisma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0"/>
          <p:cNvCxnSpPr/>
          <p:nvPr/>
        </p:nvCxnSpPr>
        <p:spPr>
          <a:xfrm>
            <a:off x="10304145" y="2743200"/>
            <a:ext cx="0" cy="3154680"/>
          </a:xfrm>
          <a:prstGeom prst="straightConnector1">
            <a:avLst/>
          </a:prstGeom>
          <a:noFill/>
          <a:ln cap="flat" cmpd="sng" w="12700">
            <a:solidFill>
              <a:srgbClr val="6FA8D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" name="Google Shape;288;p10"/>
          <p:cNvCxnSpPr/>
          <p:nvPr/>
        </p:nvCxnSpPr>
        <p:spPr>
          <a:xfrm>
            <a:off x="2177415" y="2971800"/>
            <a:ext cx="2708910" cy="0"/>
          </a:xfrm>
          <a:prstGeom prst="straightConnector1">
            <a:avLst/>
          </a:prstGeom>
          <a:noFill/>
          <a:ln cap="flat" cmpd="sng" w="25400">
            <a:solidFill>
              <a:srgbClr val="1E4D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" name="Google Shape;289;p10"/>
          <p:cNvSpPr/>
          <p:nvPr/>
        </p:nvSpPr>
        <p:spPr>
          <a:xfrm>
            <a:off x="2360295" y="2679192"/>
            <a:ext cx="234315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1E4D8B"/>
                </a:highlight>
                <a:latin typeface="Georgia"/>
                <a:ea typeface="Georgia"/>
                <a:cs typeface="Georgia"/>
                <a:sym typeface="Georgia"/>
              </a:rPr>
              <a:t> 1 </a:t>
            </a: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Login (email + password)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10"/>
          <p:cNvCxnSpPr/>
          <p:nvPr/>
        </p:nvCxnSpPr>
        <p:spPr>
          <a:xfrm>
            <a:off x="2177415" y="3355848"/>
            <a:ext cx="2708910" cy="0"/>
          </a:xfrm>
          <a:prstGeom prst="straightConnector1">
            <a:avLst/>
          </a:prstGeom>
          <a:noFill/>
          <a:ln cap="flat" cmpd="sng" w="25400">
            <a:solidFill>
              <a:srgbClr val="059669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291" name="Google Shape;291;p10"/>
          <p:cNvSpPr/>
          <p:nvPr/>
        </p:nvSpPr>
        <p:spPr>
          <a:xfrm>
            <a:off x="2360295" y="3063240"/>
            <a:ext cx="234315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1E4D8B"/>
                </a:highlight>
                <a:latin typeface="Georgia"/>
                <a:ea typeface="Georgia"/>
                <a:cs typeface="Georgia"/>
                <a:sym typeface="Georgia"/>
              </a:rPr>
              <a:t> 2 </a:t>
            </a:r>
            <a:r>
              <a:rPr i="1"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 ID token (JWT) returned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0"/>
          <p:cNvCxnSpPr/>
          <p:nvPr/>
        </p:nvCxnSpPr>
        <p:spPr>
          <a:xfrm>
            <a:off x="2177415" y="3739896"/>
            <a:ext cx="5417820" cy="0"/>
          </a:xfrm>
          <a:prstGeom prst="straightConnector1">
            <a:avLst/>
          </a:prstGeom>
          <a:noFill/>
          <a:ln cap="flat" cmpd="sng" w="25400">
            <a:solidFill>
              <a:srgbClr val="1E4D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p10"/>
          <p:cNvSpPr/>
          <p:nvPr/>
        </p:nvSpPr>
        <p:spPr>
          <a:xfrm>
            <a:off x="2360295" y="3447288"/>
            <a:ext cx="50520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1E4D8B"/>
                </a:highlight>
                <a:latin typeface="Georgia"/>
                <a:ea typeface="Georgia"/>
                <a:cs typeface="Georgia"/>
                <a:sym typeface="Georgia"/>
              </a:rPr>
              <a:t> 3 </a:t>
            </a: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POST /auth/login with token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0"/>
          <p:cNvCxnSpPr/>
          <p:nvPr/>
        </p:nvCxnSpPr>
        <p:spPr>
          <a:xfrm>
            <a:off x="4886325" y="4123944"/>
            <a:ext cx="2708910" cy="0"/>
          </a:xfrm>
          <a:prstGeom prst="straightConnector1">
            <a:avLst/>
          </a:prstGeom>
          <a:noFill/>
          <a:ln cap="flat" cmpd="sng" w="31750">
            <a:solidFill>
              <a:srgbClr val="F4B94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95" name="Google Shape;295;p10"/>
          <p:cNvSpPr/>
          <p:nvPr/>
        </p:nvSpPr>
        <p:spPr>
          <a:xfrm>
            <a:off x="5069205" y="3831336"/>
            <a:ext cx="234315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F4B942"/>
                </a:highlight>
                <a:latin typeface="Georgia"/>
                <a:ea typeface="Georgia"/>
                <a:cs typeface="Georgia"/>
                <a:sym typeface="Georgia"/>
              </a:rPr>
              <a:t> 4 </a:t>
            </a:r>
            <a:r>
              <a:rPr b="1" lang="en-US" sz="105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  Verify token  (firebase-admin)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0"/>
          <p:cNvCxnSpPr/>
          <p:nvPr/>
        </p:nvCxnSpPr>
        <p:spPr>
          <a:xfrm>
            <a:off x="4886325" y="4507992"/>
            <a:ext cx="2708910" cy="0"/>
          </a:xfrm>
          <a:prstGeom prst="straightConnector1">
            <a:avLst/>
          </a:prstGeom>
          <a:noFill/>
          <a:ln cap="flat" cmpd="sng" w="25400">
            <a:solidFill>
              <a:srgbClr val="05966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97" name="Google Shape;297;p10"/>
          <p:cNvSpPr/>
          <p:nvPr/>
        </p:nvSpPr>
        <p:spPr>
          <a:xfrm>
            <a:off x="5069205" y="4215384"/>
            <a:ext cx="234315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1E4D8B"/>
                </a:highlight>
                <a:latin typeface="Georgia"/>
                <a:ea typeface="Georgia"/>
                <a:cs typeface="Georgia"/>
                <a:sym typeface="Georgia"/>
              </a:rPr>
              <a:t> 5 </a:t>
            </a:r>
            <a:r>
              <a:rPr i="1"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 Token valid · UID + email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0"/>
          <p:cNvCxnSpPr/>
          <p:nvPr/>
        </p:nvCxnSpPr>
        <p:spPr>
          <a:xfrm>
            <a:off x="7595235" y="4892040"/>
            <a:ext cx="2708910" cy="0"/>
          </a:xfrm>
          <a:prstGeom prst="straightConnector1">
            <a:avLst/>
          </a:prstGeom>
          <a:noFill/>
          <a:ln cap="flat" cmpd="sng" w="25400">
            <a:solidFill>
              <a:srgbClr val="1E4D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10"/>
          <p:cNvSpPr/>
          <p:nvPr/>
        </p:nvSpPr>
        <p:spPr>
          <a:xfrm>
            <a:off x="7778115" y="4599432"/>
            <a:ext cx="234315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1E4D8B"/>
                </a:highlight>
                <a:latin typeface="Georgia"/>
                <a:ea typeface="Georgia"/>
                <a:cs typeface="Georgia"/>
                <a:sym typeface="Georgia"/>
              </a:rPr>
              <a:t> 6 </a:t>
            </a: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findUnique by firebaseUid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0"/>
          <p:cNvCxnSpPr/>
          <p:nvPr/>
        </p:nvCxnSpPr>
        <p:spPr>
          <a:xfrm>
            <a:off x="7595235" y="5276088"/>
            <a:ext cx="2708910" cy="0"/>
          </a:xfrm>
          <a:prstGeom prst="straightConnector1">
            <a:avLst/>
          </a:prstGeom>
          <a:noFill/>
          <a:ln cap="flat" cmpd="sng" w="25400">
            <a:solidFill>
              <a:srgbClr val="059669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301" name="Google Shape;301;p10"/>
          <p:cNvSpPr/>
          <p:nvPr/>
        </p:nvSpPr>
        <p:spPr>
          <a:xfrm>
            <a:off x="7778115" y="4983480"/>
            <a:ext cx="234315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1E4D8B"/>
                </a:highlight>
                <a:latin typeface="Georgia"/>
                <a:ea typeface="Georgia"/>
                <a:cs typeface="Georgia"/>
                <a:sym typeface="Georgia"/>
              </a:rPr>
              <a:t> 7 </a:t>
            </a:r>
            <a:r>
              <a:rPr i="1"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 User record + role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0"/>
          <p:cNvCxnSpPr/>
          <p:nvPr/>
        </p:nvCxnSpPr>
        <p:spPr>
          <a:xfrm>
            <a:off x="7595235" y="5660136"/>
            <a:ext cx="2708910" cy="0"/>
          </a:xfrm>
          <a:prstGeom prst="straightConnector1">
            <a:avLst/>
          </a:prstGeom>
          <a:noFill/>
          <a:ln cap="flat" cmpd="sng" w="31750">
            <a:solidFill>
              <a:srgbClr val="F4B94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3" name="Google Shape;303;p10"/>
          <p:cNvSpPr/>
          <p:nvPr/>
        </p:nvSpPr>
        <p:spPr>
          <a:xfrm>
            <a:off x="7778115" y="5367528"/>
            <a:ext cx="234315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F4B942"/>
                </a:highlight>
                <a:latin typeface="Georgia"/>
                <a:ea typeface="Georgia"/>
                <a:cs typeface="Georgia"/>
                <a:sym typeface="Georgia"/>
              </a:rPr>
              <a:t> 8 </a:t>
            </a:r>
            <a:r>
              <a:rPr b="1" lang="en-US" sz="105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  INSERT audit log entry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0"/>
          <p:cNvCxnSpPr/>
          <p:nvPr/>
        </p:nvCxnSpPr>
        <p:spPr>
          <a:xfrm>
            <a:off x="2177415" y="6044184"/>
            <a:ext cx="5417820" cy="0"/>
          </a:xfrm>
          <a:prstGeom prst="straightConnector1">
            <a:avLst/>
          </a:prstGeom>
          <a:noFill/>
          <a:ln cap="flat" cmpd="sng" w="25400">
            <a:solidFill>
              <a:srgbClr val="059669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305" name="Google Shape;305;p10"/>
          <p:cNvSpPr/>
          <p:nvPr/>
        </p:nvSpPr>
        <p:spPr>
          <a:xfrm>
            <a:off x="2360295" y="5751576"/>
            <a:ext cx="50520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highlight>
                  <a:srgbClr val="1E4D8B"/>
                </a:highlight>
                <a:latin typeface="Georgia"/>
                <a:ea typeface="Georgia"/>
                <a:cs typeface="Georgia"/>
                <a:sym typeface="Georgia"/>
              </a:rPr>
              <a:t> 9 </a:t>
            </a:r>
            <a:r>
              <a:rPr i="1"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 User profile + role  →  redirect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02920" y="62636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LEGEND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0"/>
          <p:cNvCxnSpPr/>
          <p:nvPr/>
        </p:nvCxnSpPr>
        <p:spPr>
          <a:xfrm>
            <a:off x="502920" y="65836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1E4D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8" name="Google Shape;308;p10"/>
          <p:cNvSpPr/>
          <p:nvPr/>
        </p:nvSpPr>
        <p:spPr>
          <a:xfrm>
            <a:off x="9144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0"/>
          <p:cNvCxnSpPr/>
          <p:nvPr/>
        </p:nvCxnSpPr>
        <p:spPr>
          <a:xfrm>
            <a:off x="1828800" y="65836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05966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10" name="Google Shape;310;p10"/>
          <p:cNvSpPr/>
          <p:nvPr/>
        </p:nvSpPr>
        <p:spPr>
          <a:xfrm>
            <a:off x="2240280" y="64922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0"/>
          <p:cNvCxnSpPr/>
          <p:nvPr/>
        </p:nvCxnSpPr>
        <p:spPr>
          <a:xfrm>
            <a:off x="3291840" y="658368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F4B94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10"/>
          <p:cNvSpPr/>
          <p:nvPr/>
        </p:nvSpPr>
        <p:spPr>
          <a:xfrm>
            <a:off x="3703320" y="64922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Security-critical step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400800" y="649224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Token verification happens BEFORE the database is touched — security is structural.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Stack &amp; Key Decisions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02920" y="1691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02920" y="22402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640080" y="22860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2148840" y="2286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React + Vite + Bootstrap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502920" y="2697480"/>
            <a:ext cx="5303520" cy="411480"/>
          </a:xfrm>
          <a:prstGeom prst="rect">
            <a:avLst/>
          </a:prstGeom>
          <a:solidFill>
            <a:srgbClr val="F5F8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40080" y="2743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2148840" y="27432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Node.js + Express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502920" y="31546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40080" y="3200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2148840" y="32004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PostgreSQL + Prisma 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02920" y="3611880"/>
            <a:ext cx="5303520" cy="411480"/>
          </a:xfrm>
          <a:prstGeom prst="rect">
            <a:avLst/>
          </a:prstGeom>
          <a:solidFill>
            <a:srgbClr val="F5F8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40080" y="36576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2148840" y="36576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Firebase Authentication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502920" y="40690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640080" y="4114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Containers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2148840" y="41148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Docker + Compose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02920" y="45262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40080" y="45720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AI (Iter 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2148840" y="4572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Python FastAPI + LangChain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502920" y="4983480"/>
            <a:ext cx="5303520" cy="411480"/>
          </a:xfrm>
          <a:prstGeom prst="rect">
            <a:avLst/>
          </a:prstGeom>
          <a:solidFill>
            <a:srgbClr val="F5F8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40080" y="5029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2148840" y="50292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502920" y="54406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640080" y="5486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Project Mgmt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2148840" y="54864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Jira (Scrum)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6263640" y="169164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Key Architectural Decisions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6263640" y="2240280"/>
            <a:ext cx="58521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6263640" y="2240280"/>
            <a:ext cx="73152" cy="1234440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2" name="Google Shape;3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2514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1"/>
          <p:cNvSpPr/>
          <p:nvPr/>
        </p:nvSpPr>
        <p:spPr>
          <a:xfrm>
            <a:off x="7086600" y="240487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Firebase — not custom JWT/bcrypt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7086600" y="278892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Firebase issues ID tokens (JWTs) and hashes passwords. Adding our own = redundant complexity.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263640" y="3566160"/>
            <a:ext cx="58521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263640" y="3566160"/>
            <a:ext cx="73152" cy="1234440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38404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1"/>
          <p:cNvSpPr/>
          <p:nvPr/>
        </p:nvSpPr>
        <p:spPr>
          <a:xfrm>
            <a:off x="7086600" y="37307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Microservice for AI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7086600" y="411480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Python service in Iteration 2 — best language for the AI ecosystem, Node for the web.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263640" y="4892040"/>
            <a:ext cx="58521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263640" y="4892040"/>
            <a:ext cx="73152" cy="1234440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2" name="Google Shape;36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6520" y="51663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/>
          <p:nvPr/>
        </p:nvSpPr>
        <p:spPr>
          <a:xfrm>
            <a:off x="7086600" y="505663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Security from scratch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7086600" y="544068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 log, input validation, secrets management, HTTPS, all woven into Iteration 1.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370" name="Google Shape;3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2"/>
          <p:cNvSpPr/>
          <p:nvPr/>
        </p:nvSpPr>
        <p:spPr>
          <a:xfrm>
            <a:off x="731520" y="64008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0"/>
              <a:buFont typeface="Georgia"/>
              <a:buNone/>
            </a:pPr>
            <a:r>
              <a:rPr b="1" lang="en-US" sz="180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&amp; Demo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What we built in Iteration 1 — and what's working live.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381" name="Google Shape;3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3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502920" y="7772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 We Built — Iteration 1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411480" y="1691640"/>
            <a:ext cx="36576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411480" y="1691640"/>
            <a:ext cx="91440" cy="16916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9659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3"/>
          <p:cNvSpPr/>
          <p:nvPr/>
        </p:nvSpPr>
        <p:spPr>
          <a:xfrm>
            <a:off x="1371600" y="1965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Authentication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685800" y="260604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Firebase + Express token verification. Email/password and Google sign-in.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4251960" y="1691640"/>
            <a:ext cx="36576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251960" y="1691640"/>
            <a:ext cx="91440" cy="16916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2" name="Google Shape;3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6280" y="19659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3"/>
          <p:cNvSpPr/>
          <p:nvPr/>
        </p:nvSpPr>
        <p:spPr>
          <a:xfrm>
            <a:off x="5212080" y="1965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Role-Based Access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4526280" y="260604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verifyAuth + requireRole middleware. PATIENT, COORDINATOR, DIRECTOR.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8092440" y="1691640"/>
            <a:ext cx="36576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8092440" y="1691640"/>
            <a:ext cx="91440" cy="16916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7" name="Google Shape;3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6760" y="19659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3"/>
          <p:cNvSpPr/>
          <p:nvPr/>
        </p:nvSpPr>
        <p:spPr>
          <a:xfrm>
            <a:off x="9052560" y="1965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Audit Logging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8366760" y="260604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Append-only </a:t>
            </a: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table. Every key action is logged with user + timestamp.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11480" y="3566160"/>
            <a:ext cx="36576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11480" y="3566160"/>
            <a:ext cx="91440" cy="16916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2" name="Google Shape;40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3840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3"/>
          <p:cNvSpPr/>
          <p:nvPr/>
        </p:nvSpPr>
        <p:spPr>
          <a:xfrm>
            <a:off x="1371600" y="38404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Input Validation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685800" y="44805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express-validator on all routes. Secrets in .env, never committed.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4251960" y="3566160"/>
            <a:ext cx="36576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4251960" y="3566160"/>
            <a:ext cx="91440" cy="16916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7" name="Google Shape;40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6280" y="3840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3"/>
          <p:cNvSpPr/>
          <p:nvPr/>
        </p:nvSpPr>
        <p:spPr>
          <a:xfrm>
            <a:off x="5212080" y="38404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Docker Setup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4526280" y="44805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Three-container Compose (db, backend, frontend) plus .dockerignore files.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8092440" y="3566160"/>
            <a:ext cx="36576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8092440" y="3566160"/>
            <a:ext cx="91440" cy="169164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2" name="Google Shape;41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760" y="3840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3"/>
          <p:cNvSpPr/>
          <p:nvPr/>
        </p:nvSpPr>
        <p:spPr>
          <a:xfrm>
            <a:off x="9052560" y="38404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Coordinator Dashboard</a:t>
            </a:r>
            <a:endParaRPr b="1" sz="15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t/>
            </a:r>
            <a:endParaRPr b="1" sz="15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8366760" y="44805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Display of list of Patients, filter patient by Insurance- status and type of specialist</a:t>
            </a:r>
            <a:endParaRPr sz="11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Search by MRN, DOB, and name</a:t>
            </a:r>
            <a:endParaRPr sz="11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8 patients registered in test database  ·  Auth fully functional  ·  Merged to dev branch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22" name="Google Shape;4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4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Let's walk through the auth flow end-to-end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7" name="Google Shape;4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214884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4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1097280" y="438912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Patient registers with email + password (or Google)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6172200" y="434340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6172200" y="4343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6720840" y="438912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Firebase issues an ID token (JWT); Express verifies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548640" y="489204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548640" y="4892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1097280" y="493776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User record is created in PostgreSQL with default role PATIENT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6172200" y="489204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6172200" y="4892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6720840" y="493776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 log entry recorded — every action is traceable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548640" y="544068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548640" y="5440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1097280" y="54864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User is redirected to their role-specific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6172200" y="544068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6172200" y="5440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6720840" y="54864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Log out via the navbar clears the session securely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52" name="Google Shape;4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What's Next &amp; Questions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502920" y="1691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Iteration 2 Roadmap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7" name="Google Shape;45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331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5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CI/CD with GitHub Actions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097280" y="25786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Lint, tests, Prisma generate, security scans on every PR.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0" name="Google Shape;4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2004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5"/>
          <p:cNvSpPr/>
          <p:nvPr/>
        </p:nvSpPr>
        <p:spPr>
          <a:xfrm>
            <a:off x="1097280" y="313639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Python AI Microservice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1097280" y="344728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FastAPI + LangChain — RAG chatbot grounded in clinic protocols.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4069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5"/>
          <p:cNvSpPr/>
          <p:nvPr/>
        </p:nvSpPr>
        <p:spPr>
          <a:xfrm>
            <a:off x="1097280" y="400507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Privacy Policy + Disclaimer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097280" y="43159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Medical disclaimer, consent checkbox, accessibility pass.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6" name="Google Shape;46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937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5"/>
          <p:cNvSpPr/>
          <p:nvPr/>
        </p:nvSpPr>
        <p:spPr>
          <a:xfrm>
            <a:off x="1097280" y="487375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Jest Test Suite Expansion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1097280" y="518464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Backend coverage &gt; 60% by end of Iteration 2.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6400800" y="1691640"/>
            <a:ext cx="5257800" cy="45720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675120" y="210312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Questions &amp; Feedback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5"/>
          <p:cNvCxnSpPr/>
          <p:nvPr/>
        </p:nvCxnSpPr>
        <p:spPr>
          <a:xfrm>
            <a:off x="6675120" y="3749040"/>
            <a:ext cx="1371600" cy="0"/>
          </a:xfrm>
          <a:prstGeom prst="straightConnector1">
            <a:avLst/>
          </a:prstGeom>
          <a:noFill/>
          <a:ln cap="flat" cmpd="sng" w="381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15"/>
          <p:cNvSpPr/>
          <p:nvPr/>
        </p:nvSpPr>
        <p:spPr>
          <a:xfrm>
            <a:off x="6675120" y="39319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1 — BariatricPath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6675120" y="43434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Kai · Shaima · Kolya · Jianing · Fatimah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6675120" y="57607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CS673 Software Engineering — Summer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2026-05-25T15:46:46Z</dcterms:created>
  <dc:creator>CS673 Team 1 — BariatricPath</dc:creator>
</cp:coreProperties>
</file>