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6" roundtripDataSignature="AMtx7mh7rjhjHtEIAkJIJBbnYHpHhlb+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EF72A2-886C-4080-A795-43D58D42C379}">
  <a:tblStyle styleId="{21EF72A2-886C-4080-A795-43D58D42C3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ec161b3862_0_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g3ec161b3862_0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3ec161b3862_0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ec6212ee17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g3ec6212ee17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ec6212ee17_1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c1fb2802f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ec1fb2802f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Speaking points: emphasize WHY the transaction matters - without it, a crash partway through could leave a User row with no Patient row, breaking the app for that account. Walk through the code top to bottom: token verification first (security gate), then the transaction (data integrity), then mention AuditLog is created here too - every account creation is logged from day one. Then switch to AuthContext.jsx briefly to show onAuthStateChanged and the /api/auth/me call, and ProtectedRoute/role redirect.</a:t>
            </a:r>
            <a:endParaRPr/>
          </a:p>
        </p:txBody>
      </p:sp>
      <p:sp>
        <p:nvSpPr>
          <p:cNvPr id="53" name="Google Shape;53;g3ec1fb2802f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c53e3494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ec53e3494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ec53e3494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c6212ee17_1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ec6212ee17_1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c6212ee17_1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c6212ee17_1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ec6212ee17_1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ec6212ee17_1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c25ad8c7b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ec25ad8c7b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c25ad8c7b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c161b3862_0_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g3ec161b3862_0_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ec161b3862_0_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c161b3862_0_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g3ec161b3862_0_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ec161b3862_0_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c161b3862_0_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g3ec161b3862_0_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ec161b3862_0_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c2294c3d6_0_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c2294c3d6_0_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c161b3862_0_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g3ec161b3862_0_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ec161b3862_0_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c2294c3d6_0_1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ec2294c3d6_0_1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c161b3862_0_1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g3ec161b3862_0_1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ec161b3862_0_1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c161b3862_0_5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g3ec161b3862_0_5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ec161b3862_0_5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186959965_5_5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g3f186959965_5_5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f186959965_5_5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186959965_5_7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g3f186959965_5_7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f186959965_5_7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186959965_5_10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g3f186959965_5_10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f186959965_5_10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186959965_5_1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g3f186959965_5_1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f186959965_5_1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186959965_5_1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g3f186959965_5_1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f186959965_5_1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c161b3862_0_6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g3ec161b3862_0_6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ec161b3862_0_6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186959965_5_20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g3f186959965_5_20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f186959965_5_20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186959965_5_2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g3f186959965_5_2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f186959965_5_2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186959965_5_2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g3f186959965_5_2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f186959965_5_2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186959965_5_25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g3f186959965_5_25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f186959965_5_25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186959965_5_28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g3f186959965_5_28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f186959965_5_28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186959965_5_3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g3f186959965_5_3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f186959965_5_3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186959965_5_38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g3f186959965_5_38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f186959965_5_38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186959965_5_40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Google Shape;410;g3f186959965_5_40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f186959965_5_40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186959965_5_4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Google Shape;421;g3f186959965_5_4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3f186959965_5_4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186959965_5_3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2" name="Google Shape;432;g3f186959965_5_36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f186959965_5_36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ec1fb2802f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3ec1fb2802f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ec1fb2802f_0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ec6b7c67d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ec6b7c67d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ec6b7c67d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ec53e34944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g3ec53e34944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ec53e34944_0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ec53e34944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g3ec53e34944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Speaking points: this is the 'gateway' slide - the key idea is that Express does TWO jobs here: security (verifyAuth already ran) and enrichment (attaching real DB data so the AI isn't just working from whatever the browser sent). The try/catch around the Prisma call is a deliberate design choice - if the DB lookup fails, the AI still responds using whatever context the frontend already had, so a DB hiccup doesn't break the chat feature. Then transition: 'now let's look at what happens once it reaches the AI service' -&gt; move to RAG slide.</a:t>
            </a:r>
            <a:endParaRPr/>
          </a:p>
        </p:txBody>
      </p:sp>
      <p:sp>
        <p:nvSpPr>
          <p:cNvPr id="535" name="Google Shape;535;g3ec53e34944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ec1fb2802f_0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g3ec1fb2802f_0_1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Speaking points: walk through the 4 steps in order, matching the RETRIEVE -&gt; AUGMENT -&gt; GENERATE -&gt; REMEMBER structure from the document. Emphasize the role filter in step 1 - this is what makes the AI 'role-aware', not just a generic chatbot. In step 2, explicitly say out loud what gets concatenated into the prompt - this is the 'augmentation' in RAG. For step 4, mention this is a documented LIMITATION (not persisted to DB, in-memory only) and that we have a Redis/Prisma path forward documented for production. Close by connecting back to the named-constants refactor - this shows engineering maturity, not just 'AI wrote it and we shipped it'.</a:t>
            </a:r>
            <a:endParaRPr/>
          </a:p>
        </p:txBody>
      </p:sp>
      <p:sp>
        <p:nvSpPr>
          <p:cNvPr id="572" name="Google Shape;572;g3ec1fb2802f_0_1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ec1fb2802f_0_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g3ec1fb2802f_0_1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Speaking points: this slide is a good place to define SAST vs DAST out loud since the assignment explicitly asks for these terms - SAST (CodeQL) = analyzing source code without executing it; DAST (ZAP) = attacking the live running app. Mention that this was built INCREMENTALLY - each workflow was added and verified green before the next was added, which is itself a process/quality practice worth mentioning. Close with the branch protection rule tying it all together: nothing reaches dev unless tests + SAST + container scan + DAST all pass.</a:t>
            </a:r>
            <a:endParaRPr/>
          </a:p>
        </p:txBody>
      </p:sp>
      <p:sp>
        <p:nvSpPr>
          <p:cNvPr id="609" name="Google Shape;609;g3ec1fb2802f_0_1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f186959965_5_30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5" name="Google Shape;645;g3f186959965_5_30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f186959965_5_30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ec161b3862_0_10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0" name="Google Shape;660;g3ec161b3862_0_10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g3ec161b3862_0_10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f186959965_5_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3" name="Google Shape;673;g3f186959965_5_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g3f186959965_5_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f186959965_5_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5" name="Google Shape;685;g3f186959965_5_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3f186959965_5_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f186959965_5_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6" name="Google Shape;696;g3f186959965_5_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g3f186959965_5_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ec6212ee17_1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g3ec6212ee17_1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g3ec6212ee17_1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ec6212ee17_1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4" name="Google Shape;724;g3ec6212ee17_1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g3ec6212ee17_1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ec161b3862_0_1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6" name="Google Shape;736;g3ec161b3862_0_1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g3ec161b3862_0_1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ec161b3862_0_1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6" name="Google Shape;746;g3ec161b3862_0_1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g3ec161b3862_0_1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ec161b3862_0_1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6" name="Google Shape;756;g3ec161b3862_0_1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g3ec161b3862_0_1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6" name="Google Shape;76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bmi.js" TargetMode="External"/><Relationship Id="rId4" Type="http://schemas.openxmlformats.org/officeDocument/2006/relationships/image" Target="../media/image31.png"/><Relationship Id="rId9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17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7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4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8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4.png"/><Relationship Id="rId4" Type="http://schemas.openxmlformats.org/officeDocument/2006/relationships/image" Target="../media/image39.png"/><Relationship Id="rId5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49.png"/><Relationship Id="rId5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4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34.png"/><Relationship Id="rId5" Type="http://schemas.openxmlformats.org/officeDocument/2006/relationships/image" Target="../media/image38.png"/><Relationship Id="rId6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4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Relationship Id="rId4" Type="http://schemas.openxmlformats.org/officeDocument/2006/relationships/image" Target="../media/image4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Relationship Id="rId4" Type="http://schemas.openxmlformats.org/officeDocument/2006/relationships/image" Target="../media/image52.png"/><Relationship Id="rId5" Type="http://schemas.openxmlformats.org/officeDocument/2006/relationships/image" Target="../media/image41.png"/><Relationship Id="rId6" Type="http://schemas.openxmlformats.org/officeDocument/2006/relationships/image" Target="../media/image5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Relationship Id="rId4" Type="http://schemas.openxmlformats.org/officeDocument/2006/relationships/image" Target="../media/image5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Relationship Id="rId4" Type="http://schemas.openxmlformats.org/officeDocument/2006/relationships/hyperlink" Target="http://patients.js" TargetMode="External"/><Relationship Id="rId5" Type="http://schemas.openxmlformats.org/officeDocument/2006/relationships/image" Target="../media/image4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Relationship Id="rId4" Type="http://schemas.openxmlformats.org/officeDocument/2006/relationships/hyperlink" Target="http://patients.js" TargetMode="External"/><Relationship Id="rId5" Type="http://schemas.openxmlformats.org/officeDocument/2006/relationships/image" Target="../media/image4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Relationship Id="rId4" Type="http://schemas.openxmlformats.org/officeDocument/2006/relationships/hyperlink" Target="http://patient.js" TargetMode="External"/><Relationship Id="rId5" Type="http://schemas.openxmlformats.org/officeDocument/2006/relationships/image" Target="../media/image5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5.png"/><Relationship Id="rId4" Type="http://schemas.openxmlformats.org/officeDocument/2006/relationships/image" Target="../media/image51.png"/><Relationship Id="rId5" Type="http://schemas.openxmlformats.org/officeDocument/2006/relationships/image" Target="../media/image12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5.png"/><Relationship Id="rId4" Type="http://schemas.openxmlformats.org/officeDocument/2006/relationships/image" Target="../media/image51.png"/><Relationship Id="rId5" Type="http://schemas.openxmlformats.org/officeDocument/2006/relationships/image" Target="../media/image12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5.png"/><Relationship Id="rId4" Type="http://schemas.openxmlformats.org/officeDocument/2006/relationships/image" Target="../media/image51.png"/><Relationship Id="rId5" Type="http://schemas.openxmlformats.org/officeDocument/2006/relationships/image" Target="../media/image12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png"/><Relationship Id="rId4" Type="http://schemas.openxmlformats.org/officeDocument/2006/relationships/image" Target="../media/image60.png"/><Relationship Id="rId5" Type="http://schemas.openxmlformats.org/officeDocument/2006/relationships/image" Target="../media/image78.png"/><Relationship Id="rId6" Type="http://schemas.openxmlformats.org/officeDocument/2006/relationships/image" Target="../media/image59.png"/><Relationship Id="rId7" Type="http://schemas.openxmlformats.org/officeDocument/2006/relationships/image" Target="../media/image62.png"/><Relationship Id="rId8" Type="http://schemas.openxmlformats.org/officeDocument/2006/relationships/image" Target="../media/image1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3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Relationship Id="rId7" Type="http://schemas.openxmlformats.org/officeDocument/2006/relationships/image" Target="../media/image64.png"/><Relationship Id="rId8" Type="http://schemas.openxmlformats.org/officeDocument/2006/relationships/image" Target="../media/image1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7.png"/><Relationship Id="rId4" Type="http://schemas.openxmlformats.org/officeDocument/2006/relationships/image" Target="../media/image67.png"/><Relationship Id="rId5" Type="http://schemas.openxmlformats.org/officeDocument/2006/relationships/image" Target="../media/image66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.png"/><Relationship Id="rId4" Type="http://schemas.openxmlformats.org/officeDocument/2006/relationships/image" Target="../media/image7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.png"/><Relationship Id="rId4" Type="http://schemas.openxmlformats.org/officeDocument/2006/relationships/image" Target="../media/image7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7.png"/><Relationship Id="rId4" Type="http://schemas.openxmlformats.org/officeDocument/2006/relationships/image" Target="../media/image7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7.png"/><Relationship Id="rId4" Type="http://schemas.openxmlformats.org/officeDocument/2006/relationships/image" Target="../media/image75.png"/><Relationship Id="rId5" Type="http://schemas.openxmlformats.org/officeDocument/2006/relationships/image" Target="../media/image71.png"/><Relationship Id="rId6" Type="http://schemas.openxmlformats.org/officeDocument/2006/relationships/hyperlink" Target="https://67.205.191.149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7.png"/><Relationship Id="rId4" Type="http://schemas.openxmlformats.org/officeDocument/2006/relationships/image" Target="../media/image8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4D8B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"/>
          <p:cNvSpPr/>
          <p:nvPr/>
        </p:nvSpPr>
        <p:spPr>
          <a:xfrm>
            <a:off x="0" y="0"/>
            <a:ext cx="6688836" cy="6858000"/>
          </a:xfrm>
          <a:prstGeom prst="rect">
            <a:avLst/>
          </a:prstGeom>
          <a:solidFill>
            <a:srgbClr val="143861"/>
          </a:solidFill>
          <a:ln cap="flat" cmpd="sng" w="12700">
            <a:solidFill>
              <a:srgbClr val="1438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640080" y="1463040"/>
            <a:ext cx="6858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Georgia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BariatricPath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40080" y="274320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A Clinical Evaluation Management System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78" y="4023350"/>
            <a:ext cx="271890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51A47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51A47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Calibri"/>
              <a:buNone/>
            </a:pPr>
            <a:r>
              <a:t/>
            </a:r>
            <a:endParaRPr b="1">
              <a:solidFill>
                <a:srgbClr val="F4B9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452628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CS673 Software Engineering  ·  Team 1  ·  Summer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94855" y="54864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Presented by: Jianing Li</a:t>
            </a:r>
            <a:r>
              <a:rPr lang="en-US" sz="1300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300" u="none" cap="none" strike="noStrike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 Kolya Gavlishin, Shaima Nimeri, Fatimah Hassan, &amp; Kai Fernandes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540142" y="1371600"/>
            <a:ext cx="4114800" cy="4114800"/>
          </a:xfrm>
          <a:prstGeom prst="ellipse">
            <a:avLst/>
          </a:prstGeom>
          <a:solidFill>
            <a:srgbClr val="6FA8D6">
              <a:alpha val="2000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088782" y="1920240"/>
            <a:ext cx="3017520" cy="3017520"/>
          </a:xfrm>
          <a:prstGeom prst="ellipse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" name="Google Shape;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8862" y="2560320"/>
            <a:ext cx="1737360" cy="1737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slides/logo.png" id="23" name="Google Shape;2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9404" y="-2"/>
            <a:ext cx="1822600" cy="82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ec161b3862_0_1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ec161b3862_0_1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ec161b3862_0_1"/>
          <p:cNvSpPr/>
          <p:nvPr/>
        </p:nvSpPr>
        <p:spPr>
          <a:xfrm>
            <a:off x="502926" y="777250"/>
            <a:ext cx="1009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Project Structure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32" name="Google Shape;32;g3ec161b3862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g3ec161b3862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0610" y="1719112"/>
            <a:ext cx="8477863" cy="477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ec6212ee17_1_28"/>
          <p:cNvSpPr/>
          <p:nvPr/>
        </p:nvSpPr>
        <p:spPr>
          <a:xfrm>
            <a:off x="9859975" y="256032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g3ec6212ee17_1_28"/>
          <p:cNvSpPr/>
          <p:nvPr/>
        </p:nvSpPr>
        <p:spPr>
          <a:xfrm>
            <a:off x="457200" y="651052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C4"/>
                </a:solidFill>
                <a:latin typeface="Calibri"/>
                <a:ea typeface="Calibri"/>
                <a:cs typeface="Calibri"/>
                <a:sym typeface="Calibri"/>
              </a:rPr>
              <a:t>CS673 - Team 1 - BariatricPath - Final Iteration - Summer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ec6212ee17_1_28"/>
          <p:cNvSpPr/>
          <p:nvPr/>
        </p:nvSpPr>
        <p:spPr>
          <a:xfrm>
            <a:off x="11368735" y="651052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C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ec6212ee17_1_28"/>
          <p:cNvSpPr/>
          <p:nvPr/>
        </p:nvSpPr>
        <p:spPr>
          <a:xfrm>
            <a:off x="9052560" y="1188720"/>
            <a:ext cx="3931800" cy="3931800"/>
          </a:xfrm>
          <a:prstGeom prst="ellipse">
            <a:avLst/>
          </a:prstGeom>
          <a:solidFill>
            <a:srgbClr val="2A35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3ec6212ee17_1_28"/>
          <p:cNvSpPr/>
          <p:nvPr/>
        </p:nvSpPr>
        <p:spPr>
          <a:xfrm>
            <a:off x="9692640" y="1828800"/>
            <a:ext cx="2651700" cy="2651700"/>
          </a:xfrm>
          <a:prstGeom prst="ellipse">
            <a:avLst/>
          </a:prstGeom>
          <a:solidFill>
            <a:srgbClr val="3745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g3ec6212ee17_1_28"/>
          <p:cNvSpPr/>
          <p:nvPr/>
        </p:nvSpPr>
        <p:spPr>
          <a:xfrm>
            <a:off x="10607040" y="2697480"/>
            <a:ext cx="914400" cy="914400"/>
          </a:xfrm>
          <a:prstGeom prst="ellipse">
            <a:avLst/>
          </a:prstGeom>
          <a:solidFill>
            <a:srgbClr val="4C5B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ariatric_deck/icons/sitemap_white.png" id="45" name="Google Shape;45;g3ec6212ee17_1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12780" y="29032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g3ec6212ee17_1_28"/>
          <p:cNvSpPr/>
          <p:nvPr/>
        </p:nvSpPr>
        <p:spPr>
          <a:xfrm>
            <a:off x="548640" y="1280160"/>
            <a:ext cx="36576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58C"/>
              </a:buClr>
              <a:buSzPts val="11000"/>
              <a:buFont typeface="Cambria"/>
              <a:buNone/>
            </a:pPr>
            <a:r>
              <a:rPr b="1" i="0" lang="en-US" sz="11000" u="none" cap="none" strike="noStrike">
                <a:solidFill>
                  <a:srgbClr val="37458C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b="1" lang="en-US" sz="11000">
                <a:solidFill>
                  <a:srgbClr val="37458C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ec6212ee17_1_28"/>
          <p:cNvSpPr/>
          <p:nvPr/>
        </p:nvSpPr>
        <p:spPr>
          <a:xfrm>
            <a:off x="594360" y="3017520"/>
            <a:ext cx="73152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lang="en-US" sz="4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Code Walkthrough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800"/>
              </a:buClr>
              <a:buSzPts val="4800"/>
              <a:buFont typeface="Cambria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ec6212ee17_1_28"/>
          <p:cNvSpPr/>
          <p:nvPr/>
        </p:nvSpPr>
        <p:spPr>
          <a:xfrm>
            <a:off x="612648" y="44348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How we structure, design, implement, test and deploy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_light.png" id="49" name="Google Shape;49;g3ec6212ee17_1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c1fb2802f_0_37"/>
          <p:cNvSpPr/>
          <p:nvPr/>
        </p:nvSpPr>
        <p:spPr>
          <a:xfrm>
            <a:off x="548640" y="29260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WALKTHROUGH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ec1fb2802f_0_37"/>
          <p:cNvSpPr/>
          <p:nvPr/>
        </p:nvSpPr>
        <p:spPr>
          <a:xfrm>
            <a:off x="548640" y="566928"/>
            <a:ext cx="1005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User Registration &amp; Authentication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ec1fb2802f_0_37"/>
          <p:cNvSpPr/>
          <p:nvPr/>
        </p:nvSpPr>
        <p:spPr>
          <a:xfrm>
            <a:off x="9859975" y="256032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ec1fb2802f_0_37"/>
          <p:cNvSpPr/>
          <p:nvPr/>
        </p:nvSpPr>
        <p:spPr>
          <a:xfrm>
            <a:off x="457200" y="651052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CS673 - Team 1 - BariatricPath - Code Walkthrough - Fatimah Hassan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ec1fb2802f_0_37"/>
          <p:cNvSpPr/>
          <p:nvPr/>
        </p:nvSpPr>
        <p:spPr>
          <a:xfrm>
            <a:off x="11368735" y="651052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ec1fb2802f_0_37"/>
          <p:cNvSpPr/>
          <p:nvPr/>
        </p:nvSpPr>
        <p:spPr>
          <a:xfrm>
            <a:off x="548640" y="1325880"/>
            <a:ext cx="11091600" cy="329100"/>
          </a:xfrm>
          <a:prstGeom prst="roundRect">
            <a:avLst>
              <a:gd fmla="val 1666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ec1fb2802f_0_37"/>
          <p:cNvSpPr/>
          <p:nvPr/>
        </p:nvSpPr>
        <p:spPr>
          <a:xfrm>
            <a:off x="777240" y="1325880"/>
            <a:ext cx="10607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Implemented in:  </a:t>
            </a:r>
            <a:r>
              <a:rPr b="1" i="1" lang="en-US" sz="1050" u="none" cap="none" strike="noStrike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server/routes/auth.js, client/src/pages/Register.jsx, client/src/context/AuthContext.jsx</a:t>
            </a:r>
            <a:endParaRPr b="1" i="0" sz="1050" u="none" cap="none" strike="noStrik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ec1fb2802f_0_37"/>
          <p:cNvSpPr/>
          <p:nvPr/>
        </p:nvSpPr>
        <p:spPr>
          <a:xfrm>
            <a:off x="548640" y="1783080"/>
            <a:ext cx="6492300" cy="4434900"/>
          </a:xfrm>
          <a:prstGeom prst="roundRect">
            <a:avLst>
              <a:gd fmla="val 1649" name="adj"/>
            </a:avLst>
          </a:prstGeom>
          <a:solidFill>
            <a:srgbClr val="151A47"/>
          </a:solidFill>
          <a:ln>
            <a:noFill/>
          </a:ln>
          <a:effectLst>
            <a:outerShdw blurRad="101600" rotWithShape="0" algn="bl" dir="2700000" dist="38100">
              <a:srgbClr val="1E2761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ec1fb2802f_0_37"/>
          <p:cNvSpPr/>
          <p:nvPr/>
        </p:nvSpPr>
        <p:spPr>
          <a:xfrm>
            <a:off x="731520" y="1920240"/>
            <a:ext cx="612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8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800"/>
                </a:solidFill>
                <a:latin typeface="Calibri"/>
                <a:ea typeface="Calibri"/>
                <a:cs typeface="Calibri"/>
                <a:sym typeface="Calibri"/>
              </a:rPr>
              <a:t>server/routes/auth.js - atomic registration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ec1fb2802f_0_37"/>
          <p:cNvSpPr/>
          <p:nvPr/>
        </p:nvSpPr>
        <p:spPr>
          <a:xfrm>
            <a:off x="731520" y="2240280"/>
            <a:ext cx="6126600" cy="39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router.post('/register', async (req, res) =&gt; 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// 1. Verify the Firebase ID token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const decoded = await admin.auth()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.verifyIdToken(req.body.idToken);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// 2. User + Patient + AuditLog together,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//    or not at 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const result = await prisma.$transaction(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async (tx) =&gt; 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const user = await tx.user.create({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data: 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firebaseUid: decoded.uid,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email: decoded.email,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name: req.body.name,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role: 'PATIENT',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},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});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const patient = await tx.patient.create({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data: 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userId: user.id,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dateOfBirth: req.body.dateOfBirth,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},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});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await tx.auditLog.create({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data: 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userId: user.id,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column: 'account',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newValue: 'created',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},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});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return { user, patient };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res.status(201).json(result);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ec1fb2802f_0_37"/>
          <p:cNvSpPr/>
          <p:nvPr/>
        </p:nvSpPr>
        <p:spPr>
          <a:xfrm>
            <a:off x="7269480" y="178308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ec1fb2802f_0_37"/>
          <p:cNvSpPr/>
          <p:nvPr/>
        </p:nvSpPr>
        <p:spPr>
          <a:xfrm>
            <a:off x="7269480" y="224028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fingerprint_navy.png" id="67" name="Google Shape;67;g3ec1fb2802f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2350" y="234315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g3ec1fb2802f_0_37"/>
          <p:cNvSpPr/>
          <p:nvPr/>
        </p:nvSpPr>
        <p:spPr>
          <a:xfrm>
            <a:off x="7863840" y="221284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1. Firebase creates the credential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ec1fb2802f_0_37"/>
          <p:cNvSpPr/>
          <p:nvPr/>
        </p:nvSpPr>
        <p:spPr>
          <a:xfrm>
            <a:off x="7863840" y="251460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Email/password or Google OAuth sign-up happens entirely in Firebase - we never touch or store a password.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ec1fb2802f_0_37"/>
          <p:cNvSpPr/>
          <p:nvPr/>
        </p:nvSpPr>
        <p:spPr>
          <a:xfrm>
            <a:off x="7269480" y="310896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arrowright_navy.png" id="71" name="Google Shape;71;g3ec1fb2802f_0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2350" y="321183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ec1fb2802f_0_37"/>
          <p:cNvSpPr/>
          <p:nvPr/>
        </p:nvSpPr>
        <p:spPr>
          <a:xfrm>
            <a:off x="7863840" y="308152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2. Token sent to our API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ec1fb2802f_0_37"/>
          <p:cNvSpPr/>
          <p:nvPr/>
        </p:nvSpPr>
        <p:spPr>
          <a:xfrm>
            <a:off x="7863840" y="338328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The frontend gets a Firebase ID token and POSTs it (with name + DOB) to /api/auth/register.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ec1fb2802f_0_37"/>
          <p:cNvSpPr/>
          <p:nvPr/>
        </p:nvSpPr>
        <p:spPr>
          <a:xfrm>
            <a:off x="7269480" y="397764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shield_navy.png" id="75" name="Google Shape;75;g3ec1fb2802f_0_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2350" y="40805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ec1fb2802f_0_37"/>
          <p:cNvSpPr/>
          <p:nvPr/>
        </p:nvSpPr>
        <p:spPr>
          <a:xfrm>
            <a:off x="7863840" y="395020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3. Server verifies the token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ec1fb2802f_0_37"/>
          <p:cNvSpPr/>
          <p:nvPr/>
        </p:nvSpPr>
        <p:spPr>
          <a:xfrm>
            <a:off x="7863840" y="425196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admin.auth().verifyIdToken() confirms the token is real and not forged before any DB write happens.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ec1fb2802f_0_37"/>
          <p:cNvSpPr/>
          <p:nvPr/>
        </p:nvSpPr>
        <p:spPr>
          <a:xfrm>
            <a:off x="7269480" y="484632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database_navy.png" id="79" name="Google Shape;79;g3ec1fb2802f_0_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72350" y="49491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ec1fb2802f_0_37"/>
          <p:cNvSpPr/>
          <p:nvPr/>
        </p:nvSpPr>
        <p:spPr>
          <a:xfrm>
            <a:off x="7863840" y="481888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4. One atomic transaction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ec1fb2802f_0_37"/>
          <p:cNvSpPr/>
          <p:nvPr/>
        </p:nvSpPr>
        <p:spPr>
          <a:xfrm>
            <a:off x="7863840" y="512064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User, Patient, and AuditLog are created together in a Prisma $transaction - if any step fails, all roll back. No orphaned records.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ec1fb2802f_0_37"/>
          <p:cNvSpPr/>
          <p:nvPr/>
        </p:nvSpPr>
        <p:spPr>
          <a:xfrm>
            <a:off x="7269480" y="571500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route_navy.png" id="83" name="Google Shape;83;g3ec1fb2802f_0_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72350" y="58178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ec1fb2802f_0_37"/>
          <p:cNvSpPr/>
          <p:nvPr/>
        </p:nvSpPr>
        <p:spPr>
          <a:xfrm>
            <a:off x="7863840" y="568756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5. Role-based redirect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ec1fb2802f_0_37"/>
          <p:cNvSpPr/>
          <p:nvPr/>
        </p:nvSpPr>
        <p:spPr>
          <a:xfrm>
            <a:off x="7863840" y="598932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AuthContext listens via onAuthStateChanged, calls /api/auth/me for the role, and routes the user to their portal.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86" name="Google Shape;86;g3ec1fb2802f_0_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c53e34944_0_0"/>
          <p:cNvSpPr/>
          <p:nvPr/>
        </p:nvSpPr>
        <p:spPr>
          <a:xfrm>
            <a:off x="7269480" y="310896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ec53e34944_0_0"/>
          <p:cNvSpPr/>
          <p:nvPr/>
        </p:nvSpPr>
        <p:spPr>
          <a:xfrm>
            <a:off x="548640" y="29260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WALKTHROUGH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ec53e34944_0_0"/>
          <p:cNvSpPr/>
          <p:nvPr/>
        </p:nvSpPr>
        <p:spPr>
          <a:xfrm>
            <a:off x="548640" y="566928"/>
            <a:ext cx="1005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BMI Calculation &amp; Specialist Recommendation </a:t>
            </a:r>
            <a:endParaRPr b="1" sz="30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5" name="Google Shape;95;g3ec53e34944_0_0"/>
          <p:cNvSpPr/>
          <p:nvPr/>
        </p:nvSpPr>
        <p:spPr>
          <a:xfrm>
            <a:off x="9859975" y="256032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ec53e34944_0_0"/>
          <p:cNvSpPr/>
          <p:nvPr/>
        </p:nvSpPr>
        <p:spPr>
          <a:xfrm>
            <a:off x="457200" y="651052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CS673 - Team 1 - BariatricPath - Code Walkthrough - Fatimah Hassan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ec53e34944_0_0"/>
          <p:cNvSpPr/>
          <p:nvPr/>
        </p:nvSpPr>
        <p:spPr>
          <a:xfrm>
            <a:off x="11368735" y="651052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ec53e34944_0_0"/>
          <p:cNvSpPr/>
          <p:nvPr/>
        </p:nvSpPr>
        <p:spPr>
          <a:xfrm>
            <a:off x="548640" y="1325880"/>
            <a:ext cx="11091600" cy="329100"/>
          </a:xfrm>
          <a:prstGeom prst="roundRect">
            <a:avLst>
              <a:gd fmla="val 1666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ec53e34944_0_0"/>
          <p:cNvSpPr/>
          <p:nvPr/>
        </p:nvSpPr>
        <p:spPr>
          <a:xfrm>
            <a:off x="777240" y="1325880"/>
            <a:ext cx="10607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urier New"/>
              <a:buNone/>
            </a:pPr>
            <a:r>
              <a:rPr b="1" lang="en-US" sz="105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Implemented in: client/src/pages/BMICalculationPage.jsx, client/src/utils/</a:t>
            </a:r>
            <a:r>
              <a:rPr b="1" lang="en-US" sz="105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bmi.js</a:t>
            </a:r>
            <a:r>
              <a:rPr b="1" lang="en-US" sz="105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105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client/src/pages/BMIForm.jsx </a:t>
            </a:r>
            <a:endParaRPr b="1" sz="1050">
              <a:solidFill>
                <a:srgbClr val="1E276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" name="Google Shape;100;g3ec53e34944_0_0"/>
          <p:cNvSpPr/>
          <p:nvPr/>
        </p:nvSpPr>
        <p:spPr>
          <a:xfrm>
            <a:off x="548640" y="1783080"/>
            <a:ext cx="6492300" cy="4434900"/>
          </a:xfrm>
          <a:prstGeom prst="roundRect">
            <a:avLst>
              <a:gd fmla="val 1649" name="adj"/>
            </a:avLst>
          </a:prstGeom>
          <a:solidFill>
            <a:srgbClr val="151A47"/>
          </a:solidFill>
          <a:ln>
            <a:noFill/>
          </a:ln>
          <a:effectLst>
            <a:outerShdw blurRad="101600" rotWithShape="0" algn="bl" dir="2700000" dist="38100">
              <a:srgbClr val="1E2761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ec53e34944_0_0"/>
          <p:cNvSpPr/>
          <p:nvPr/>
        </p:nvSpPr>
        <p:spPr>
          <a:xfrm>
            <a:off x="3976723" y="1947763"/>
            <a:ext cx="300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8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4A800"/>
                </a:solidFill>
                <a:latin typeface="Calibri"/>
                <a:ea typeface="Calibri"/>
                <a:cs typeface="Calibri"/>
                <a:sym typeface="Calibri"/>
              </a:rPr>
              <a:t>BMICalculationPage.jsx - BMI eligibility page</a:t>
            </a:r>
            <a:endParaRPr b="1" sz="1100">
              <a:solidFill>
                <a:srgbClr val="F4A8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ec53e34944_0_0"/>
          <p:cNvSpPr/>
          <p:nvPr/>
        </p:nvSpPr>
        <p:spPr>
          <a:xfrm>
            <a:off x="3712126" y="2292900"/>
            <a:ext cx="3573600" cy="25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// User enters height and weight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const heightInches = Number(height);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const weightPounds = Number(weight);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// Calculate and validate BMI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const bmi = calculateBMI(heightInches, weightPounds);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if (!bmi || isNaN(bmi)) {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showError('Please enter valid height and weight values.');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return;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setBmiResult(bmi.toFixed(1));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// Continue button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if (user?.patientId) {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try {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await PATCH(`/patients/${user.patientId}/bmi`, {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bmi: Number(bmiResult)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});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} catch {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showError('Failed to save BMI.');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return;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// Route based on eligibility threshold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if (Number(bmiResult) &gt;= 27) {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navigate('/bmi', {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state: { bmi: bmiResult }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});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} else {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navigate('/bmi-ineligible', {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state: { ...user, bmi: bmiResult }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});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" name="Google Shape;103;g3ec53e34944_0_0"/>
          <p:cNvSpPr/>
          <p:nvPr/>
        </p:nvSpPr>
        <p:spPr>
          <a:xfrm>
            <a:off x="7269480" y="178308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ec53e34944_0_0"/>
          <p:cNvSpPr/>
          <p:nvPr/>
        </p:nvSpPr>
        <p:spPr>
          <a:xfrm>
            <a:off x="7269480" y="224028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codewalkthrough_deck/icons/fingerprint_navy.png" id="105" name="Google Shape;105;g3ec53e3494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2350" y="3211838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ec53e34944_0_0"/>
          <p:cNvSpPr/>
          <p:nvPr/>
        </p:nvSpPr>
        <p:spPr>
          <a:xfrm>
            <a:off x="7863840" y="221284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1. BMI calculated from height &amp; weight</a:t>
            </a:r>
            <a:endParaRPr b="1" sz="125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ec53e34944_0_0"/>
          <p:cNvSpPr/>
          <p:nvPr/>
        </p:nvSpPr>
        <p:spPr>
          <a:xfrm>
            <a:off x="7863840" y="251460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Height (inches) and weight (pounds) are passed to calculateBMI() to produce a standardized BMI score.</a:t>
            </a:r>
            <a:endParaRPr sz="10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odewalkthrough_deck/icons/cogs_navy.png" id="108" name="Google Shape;108;g3ec53e34944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2350" y="234313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ec53e34944_0_0"/>
          <p:cNvSpPr/>
          <p:nvPr/>
        </p:nvSpPr>
        <p:spPr>
          <a:xfrm>
            <a:off x="7863840" y="308152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2. Input validation before processing</a:t>
            </a:r>
            <a:endParaRPr b="1" sz="125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ec53e34944_0_0"/>
          <p:cNvSpPr/>
          <p:nvPr/>
        </p:nvSpPr>
        <p:spPr>
          <a:xfrm>
            <a:off x="7863840" y="338328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Invalid or missing values are caught early and displayed through toast notifications instead of browser alerts.</a:t>
            </a:r>
            <a:endParaRPr sz="10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ec53e34944_0_0"/>
          <p:cNvSpPr/>
          <p:nvPr/>
        </p:nvSpPr>
        <p:spPr>
          <a:xfrm>
            <a:off x="7269480" y="481429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ec53e34944_0_0"/>
          <p:cNvSpPr/>
          <p:nvPr/>
        </p:nvSpPr>
        <p:spPr>
          <a:xfrm>
            <a:off x="7863840" y="478685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 Eligibility threshold check (&gt;= 27)</a:t>
            </a:r>
            <a:endParaRPr b="1" sz="125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ec53e34944_0_0"/>
          <p:cNvSpPr/>
          <p:nvPr/>
        </p:nvSpPr>
        <p:spPr>
          <a:xfrm>
            <a:off x="7863840" y="508861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0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ligible patients (BMI&gt;=27) navigate to the specialist form; others are routed to the ineligible page.</a:t>
            </a:r>
            <a:endParaRPr sz="10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ec53e34944_0_0"/>
          <p:cNvSpPr/>
          <p:nvPr/>
        </p:nvSpPr>
        <p:spPr>
          <a:xfrm>
            <a:off x="7285730" y="3977633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ec53e34944_0_0"/>
          <p:cNvSpPr/>
          <p:nvPr/>
        </p:nvSpPr>
        <p:spPr>
          <a:xfrm>
            <a:off x="7880090" y="3950201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 BMI saved to patient record</a:t>
            </a:r>
            <a:endParaRPr b="1" sz="125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ec53e34944_0_0"/>
          <p:cNvSpPr/>
          <p:nvPr/>
        </p:nvSpPr>
        <p:spPr>
          <a:xfrm>
            <a:off x="7880090" y="4251953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The calculated BMI is saved to the patient's record through a PATCH request before moving to the next step.</a:t>
            </a:r>
            <a:endParaRPr sz="10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ec53e34944_0_0"/>
          <p:cNvSpPr/>
          <p:nvPr/>
        </p:nvSpPr>
        <p:spPr>
          <a:xfrm>
            <a:off x="7269480" y="5734844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ec53e34944_0_0"/>
          <p:cNvSpPr/>
          <p:nvPr/>
        </p:nvSpPr>
        <p:spPr>
          <a:xfrm>
            <a:off x="7863840" y="568756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5. Specialist selection based on BMI</a:t>
            </a:r>
            <a:endParaRPr b="1" sz="125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ec53e34944_0_0"/>
          <p:cNvSpPr/>
          <p:nvPr/>
        </p:nvSpPr>
        <p:spPr>
          <a:xfrm>
            <a:off x="7863840" y="598932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The selected specialist is PATCH'd to the patient's record, the form is POST-submitted, and the patient is navigated to the thank-you page.</a:t>
            </a:r>
            <a:endParaRPr sz="10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120" name="Google Shape;120;g3ec53e34944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ec53e34944_0_0"/>
          <p:cNvSpPr/>
          <p:nvPr/>
        </p:nvSpPr>
        <p:spPr>
          <a:xfrm>
            <a:off x="801345" y="1795375"/>
            <a:ext cx="300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8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4A800"/>
                </a:solidFill>
                <a:latin typeface="Calibri"/>
                <a:ea typeface="Calibri"/>
                <a:cs typeface="Calibri"/>
                <a:sym typeface="Calibri"/>
              </a:rPr>
              <a:t>bmi.jsx - BMI Calculation component</a:t>
            </a:r>
            <a:endParaRPr b="1" sz="1100">
              <a:solidFill>
                <a:srgbClr val="F4A8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ec53e34944_0_0"/>
          <p:cNvSpPr/>
          <p:nvPr/>
        </p:nvSpPr>
        <p:spPr>
          <a:xfrm>
            <a:off x="801345" y="2139832"/>
            <a:ext cx="27159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export function calculateBMI(heightInches, weightPounds) {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if (!heightInches || heightInches &lt;= 0) return null;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if (!weightPounds || weightPounds &lt;= 0) return null;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return (weightPounds * 703) / (heightInches * heightInches);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/home/claude/codewalkthrough_deck/icons/route_navy.png" id="123" name="Google Shape;123;g3ec53e34944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72350" y="5811065"/>
            <a:ext cx="251460" cy="251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codewalkthrough_deck/icons/arrowright_navy.png" id="124" name="Google Shape;124;g3ec53e34944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7388600" y="4090430"/>
            <a:ext cx="251460" cy="251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codewalkthrough_deck/icons/search_navy.png" id="125" name="Google Shape;125;g3ec53e34944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72350" y="4912556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ec53e34944_0_0"/>
          <p:cNvSpPr/>
          <p:nvPr/>
        </p:nvSpPr>
        <p:spPr>
          <a:xfrm>
            <a:off x="777245" y="3553007"/>
            <a:ext cx="27159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// On load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fetch patient record → prefill previousSurgery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// On form submit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POST { bmi, previousSurgery } → /recommendation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→ returns { primary, alternative }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// User selects a specialist, then confirms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PATCH /patients/:id/specialist { specialistChoice }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POST  /patients/:id/submit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→ navigate to /thank-you/:id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// Routing logic (server-side)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if bmi &lt; 27         → "Not eligible"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if bmi 27–34.9      → primary: Endocrinologist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if bmi 35–39.9      → primary: Surgeon, alt: Endocrinologist  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if bmi ≥ 40         → primary: Surgeon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if previousSurgery  → always route to Surgeon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g3ec53e34944_0_0"/>
          <p:cNvSpPr/>
          <p:nvPr/>
        </p:nvSpPr>
        <p:spPr>
          <a:xfrm>
            <a:off x="723820" y="3191300"/>
            <a:ext cx="300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8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4A800"/>
                </a:solidFill>
                <a:latin typeface="Calibri"/>
                <a:ea typeface="Calibri"/>
                <a:cs typeface="Calibri"/>
                <a:sym typeface="Calibri"/>
              </a:rPr>
              <a:t>BMIForm.</a:t>
            </a:r>
            <a:r>
              <a:rPr b="1" lang="en-US" sz="1100">
                <a:solidFill>
                  <a:srgbClr val="F4A800"/>
                </a:solidFill>
                <a:latin typeface="Calibri"/>
                <a:ea typeface="Calibri"/>
                <a:cs typeface="Calibri"/>
                <a:sym typeface="Calibri"/>
              </a:rPr>
              <a:t>jsx - Specialist Recommendation Page</a:t>
            </a:r>
            <a:endParaRPr b="1" sz="1100">
              <a:solidFill>
                <a:srgbClr val="F4A8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c6212ee17_1_58"/>
          <p:cNvSpPr/>
          <p:nvPr/>
        </p:nvSpPr>
        <p:spPr>
          <a:xfrm>
            <a:off x="548640" y="29260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WALKTHROUGH  - AI MICROSERVICE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ec6212ee17_1_58"/>
          <p:cNvSpPr/>
          <p:nvPr/>
        </p:nvSpPr>
        <p:spPr>
          <a:xfrm>
            <a:off x="548640" y="566928"/>
            <a:ext cx="1005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Thank You Page &amp; </a:t>
            </a: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Automatic Email Notification-Jianing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ec6212ee17_1_58"/>
          <p:cNvSpPr/>
          <p:nvPr/>
        </p:nvSpPr>
        <p:spPr>
          <a:xfrm>
            <a:off x="9859975" y="256032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136" name="Google Shape;136;g3ec6212ee17_1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ec6212ee17_1_58" title="Screenshot 2026-06-16 at 2.20.4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02600"/>
            <a:ext cx="8167425" cy="399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ec6212ee17_1_58"/>
          <p:cNvSpPr txBox="1"/>
          <p:nvPr/>
        </p:nvSpPr>
        <p:spPr>
          <a:xfrm>
            <a:off x="8604975" y="2245050"/>
            <a:ext cx="3248400" cy="23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/>
              <a:t>application triggers a secure submit API request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Automated Nodemailer Integration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Polished Post-Registration UX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c6212ee17_1_105"/>
          <p:cNvSpPr/>
          <p:nvPr/>
        </p:nvSpPr>
        <p:spPr>
          <a:xfrm>
            <a:off x="548640" y="29260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WALKTHROUGH  - AI MICROSERVICE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ec6212ee17_1_105"/>
          <p:cNvSpPr/>
          <p:nvPr/>
        </p:nvSpPr>
        <p:spPr>
          <a:xfrm>
            <a:off x="548640" y="566928"/>
            <a:ext cx="1005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Patient Portal Status Auto Update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ec6212ee17_1_105"/>
          <p:cNvSpPr/>
          <p:nvPr/>
        </p:nvSpPr>
        <p:spPr>
          <a:xfrm>
            <a:off x="9859975" y="256032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147" name="Google Shape;147;g3ec6212ee17_1_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ec6212ee17_1_105"/>
          <p:cNvSpPr txBox="1"/>
          <p:nvPr/>
        </p:nvSpPr>
        <p:spPr>
          <a:xfrm>
            <a:off x="8590550" y="2403875"/>
            <a:ext cx="3248400" cy="23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No-Refresh User Experience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Adherence to Requirements &amp; Resource Efficiency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Component Lifecycle Safety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Dynamic, Reactive UI Transitions: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g3ec6212ee17_1_105" title="Screenshot 2026-06-16 at 2.25.3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238" y="4678725"/>
            <a:ext cx="7961701" cy="151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ec6212ee17_1_105" title="Screenshot 2026-06-16 at 2.25.1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250" y="2059703"/>
            <a:ext cx="8300176" cy="2390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c25ad8c7b_2_0"/>
          <p:cNvSpPr/>
          <p:nvPr/>
        </p:nvSpPr>
        <p:spPr>
          <a:xfrm>
            <a:off x="548640" y="29260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WALKTHROUGH  - SECURITY &amp; CONFIGURATION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ec25ad8c7b_2_0"/>
          <p:cNvSpPr/>
          <p:nvPr/>
        </p:nvSpPr>
        <p:spPr>
          <a:xfrm>
            <a:off x="548640" y="566928"/>
            <a:ext cx="1005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Patient Portal Refactoring- Jianing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ec25ad8c7b_2_0"/>
          <p:cNvSpPr/>
          <p:nvPr/>
        </p:nvSpPr>
        <p:spPr>
          <a:xfrm>
            <a:off x="9859975" y="256032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ec25ad8c7b_2_0"/>
          <p:cNvSpPr/>
          <p:nvPr/>
        </p:nvSpPr>
        <p:spPr>
          <a:xfrm>
            <a:off x="11368735" y="651052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160" name="Google Shape;160;g3ec25ad8c7b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ec25ad8c7b_2_0"/>
          <p:cNvSpPr txBox="1"/>
          <p:nvPr/>
        </p:nvSpPr>
        <p:spPr>
          <a:xfrm>
            <a:off x="7377775" y="1958200"/>
            <a:ext cx="4518000" cy="19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Transitioned the Patient Portal page from a single monolithic file of over 500 lines to a slim container component (~150 lines) that delegates rendering to focused sub-components.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62" name="Google Shape;162;g3ec25ad8c7b_2_0" title="Screenshot 2026-06-16 at 1.52.3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850" y="1270525"/>
            <a:ext cx="6226451" cy="540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c161b3862_0_19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ec161b3862_0_19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ec161b3862_0_19"/>
          <p:cNvSpPr/>
          <p:nvPr/>
        </p:nvSpPr>
        <p:spPr>
          <a:xfrm>
            <a:off x="502926" y="777250"/>
            <a:ext cx="1009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Patient Portal &amp; Checklist Progress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171" name="Google Shape;171;g3ec161b3862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ec161b3862_0_19"/>
          <p:cNvSpPr/>
          <p:nvPr/>
        </p:nvSpPr>
        <p:spPr>
          <a:xfrm>
            <a:off x="502925" y="1508750"/>
            <a:ext cx="5174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server\searchDB\calculateProgress.js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g3ec161b3862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7025" y="2026838"/>
            <a:ext cx="6248400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ec161b3862_0_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725" y="2654513"/>
            <a:ext cx="5526301" cy="250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c161b3862_0_28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ec161b3862_0_28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ec161b3862_0_28"/>
          <p:cNvSpPr/>
          <p:nvPr/>
        </p:nvSpPr>
        <p:spPr>
          <a:xfrm>
            <a:off x="502925" y="777250"/>
            <a:ext cx="10345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Coordinator</a:t>
            </a: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Dashboard &amp; Patient Search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183" name="Google Shape;183;g3ec161b3862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ec161b3862_0_28"/>
          <p:cNvSpPr/>
          <p:nvPr/>
        </p:nvSpPr>
        <p:spPr>
          <a:xfrm>
            <a:off x="502925" y="1508750"/>
            <a:ext cx="252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server\searchDB\searchDB.js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g3ec161b3862_0_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6025" y="1508650"/>
            <a:ext cx="5448300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ec161b3862_0_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925" y="2026850"/>
            <a:ext cx="4944204" cy="422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c161b3862_0_37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ec161b3862_0_37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ec161b3862_0_37"/>
          <p:cNvSpPr/>
          <p:nvPr/>
        </p:nvSpPr>
        <p:spPr>
          <a:xfrm>
            <a:off x="502926" y="777250"/>
            <a:ext cx="1009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Clinical Checklist Management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195" name="Google Shape;195;g3ec161b3862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ec161b3862_0_37"/>
          <p:cNvSpPr/>
          <p:nvPr/>
        </p:nvSpPr>
        <p:spPr>
          <a:xfrm>
            <a:off x="502924" y="1508750"/>
            <a:ext cx="10793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client/src/components/ClinicalChecklist.jsx, server/routes/patients.js (PATCH /:id/clinical)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g3ec161b3862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825" y="2108875"/>
            <a:ext cx="4016191" cy="437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ec161b3862_0_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9416" y="2026850"/>
            <a:ext cx="7090184" cy="2597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3ec2294c3d6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925" y="338013"/>
            <a:ext cx="5089676" cy="236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ec2294c3d6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6600" y="224275"/>
            <a:ext cx="5357024" cy="449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3ec2294c3d6_0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400" y="2904638"/>
            <a:ext cx="3972397" cy="3852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c161b3862_0_46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ec161b3862_0_46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ec161b3862_0_46"/>
          <p:cNvSpPr/>
          <p:nvPr/>
        </p:nvSpPr>
        <p:spPr>
          <a:xfrm>
            <a:off x="502926" y="777250"/>
            <a:ext cx="1009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Insurance Status Management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214" name="Google Shape;214;g3ec161b3862_0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ec161b3862_0_46"/>
          <p:cNvSpPr/>
          <p:nvPr/>
        </p:nvSpPr>
        <p:spPr>
          <a:xfrm>
            <a:off x="502925" y="1508750"/>
            <a:ext cx="252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file/path/here/for/shown/file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g3ec161b3862_0_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7250" y="1790725"/>
            <a:ext cx="752475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ec161b3862_0_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00" y="1874450"/>
            <a:ext cx="4362450" cy="3832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g3ec2294c3d6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44113"/>
            <a:ext cx="5385125" cy="4169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ec2294c3d6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6450" y="1344125"/>
            <a:ext cx="6349676" cy="3974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c161b3862_0_132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ec161b3862_0_132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ec161b3862_0_132"/>
          <p:cNvSpPr/>
          <p:nvPr/>
        </p:nvSpPr>
        <p:spPr>
          <a:xfrm>
            <a:off x="502926" y="777250"/>
            <a:ext cx="1009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Debounce</a:t>
            </a: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Algorithm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232" name="Google Shape;232;g3ec161b3862_0_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ec161b3862_0_132"/>
          <p:cNvSpPr/>
          <p:nvPr/>
        </p:nvSpPr>
        <p:spPr>
          <a:xfrm>
            <a:off x="502925" y="1508750"/>
            <a:ext cx="252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file/path/here/for/shown/file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g3ec161b3862_0_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7850" y="1944725"/>
            <a:ext cx="500062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ec161b3862_0_1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026850"/>
            <a:ext cx="5366149" cy="422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c161b3862_0_55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ec161b3862_0_55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ec161b3862_0_55"/>
          <p:cNvSpPr/>
          <p:nvPr/>
        </p:nvSpPr>
        <p:spPr>
          <a:xfrm>
            <a:off x="502925" y="491500"/>
            <a:ext cx="101955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0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StatusBadge  :</a:t>
            </a:r>
            <a:r>
              <a:rPr b="1" lang="en-US" sz="30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Reusable Status Display Component</a:t>
            </a:r>
            <a:endParaRPr b="0" i="0" sz="3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244" name="Google Shape;244;g3ec161b3862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ec161b3862_0_55"/>
          <p:cNvSpPr/>
          <p:nvPr/>
        </p:nvSpPr>
        <p:spPr>
          <a:xfrm>
            <a:off x="293375" y="1364150"/>
            <a:ext cx="384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Implemented in: client/src/components/StatusBadge.jsx</a:t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i="1" sz="15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ec161b3862_0_55"/>
          <p:cNvSpPr txBox="1"/>
          <p:nvPr/>
        </p:nvSpPr>
        <p:spPr>
          <a:xfrm>
            <a:off x="293375" y="1721600"/>
            <a:ext cx="5238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 single React component used throughout the coordinator dashboard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Accepts two props: type (what kind of badge) and value (the raw database value)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Renders a colored Bootstrap badge with a human-readable label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Used in: patient table rows, clinical checklist dropdowns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g3ec161b3862_0_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6625" y="1458138"/>
            <a:ext cx="5238900" cy="2173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ec161b3862_0_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92550" y="3847073"/>
            <a:ext cx="6247050" cy="2312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186959965_5_55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f186959965_5_55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f186959965_5_55"/>
          <p:cNvSpPr/>
          <p:nvPr/>
        </p:nvSpPr>
        <p:spPr>
          <a:xfrm>
            <a:off x="502925" y="566800"/>
            <a:ext cx="10195500" cy="10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StatusBadge  </a:t>
            </a:r>
            <a:endParaRPr b="1" sz="34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Three Badge Types, One Component</a:t>
            </a:r>
            <a:endParaRPr b="0" i="0" sz="3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257" name="Google Shape;257;g3f186959965_5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f186959965_5_55"/>
          <p:cNvSpPr/>
          <p:nvPr/>
        </p:nvSpPr>
        <p:spPr>
          <a:xfrm>
            <a:off x="293375" y="2004050"/>
            <a:ext cx="384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Implemented in: client/src/components/StatusBadge.jsx</a:t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i="1" sz="15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9" name="Google Shape;259;g3f186959965_5_55"/>
          <p:cNvGraphicFramePr/>
          <p:nvPr/>
        </p:nvGraphicFramePr>
        <p:xfrm>
          <a:off x="381000" y="323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{21EF72A2-886C-4080-A795-43D58D42C379}</a:tableStyleId>
              </a:tblPr>
              <a:tblGrid>
                <a:gridCol w="2012950"/>
                <a:gridCol w="2012950"/>
                <a:gridCol w="2012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accent1"/>
                          </a:solidFill>
                        </a:rPr>
                        <a:t>Type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accent1"/>
                          </a:solidFill>
                        </a:rPr>
                        <a:t>Value Example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accent1"/>
                          </a:solidFill>
                        </a:rPr>
                        <a:t>Display</a:t>
                      </a:r>
                      <a:r>
                        <a:rPr b="1" lang="en-US">
                          <a:solidFill>
                            <a:schemeClr val="accent1"/>
                          </a:solidFill>
                        </a:rPr>
                        <a:t> as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specialist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"Bariatric Surgeon"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red badge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insurance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"clear"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green badge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checklist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"complete"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green badge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60" name="Google Shape;260;g3f186959965_5_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0375" y="1837150"/>
            <a:ext cx="3288044" cy="4678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186959965_5_77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f186959965_5_77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f186959965_5_77"/>
          <p:cNvSpPr/>
          <p:nvPr/>
        </p:nvSpPr>
        <p:spPr>
          <a:xfrm>
            <a:off x="502925" y="777250"/>
            <a:ext cx="101955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StatusBadge  </a:t>
            </a:r>
            <a:endParaRPr b="1" sz="38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 Design Pattern  Strategy</a:t>
            </a:r>
            <a:endParaRPr b="0" i="0" sz="3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269" name="Google Shape;269;g3f186959965_5_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f186959965_5_77"/>
          <p:cNvSpPr/>
          <p:nvPr/>
        </p:nvSpPr>
        <p:spPr>
          <a:xfrm>
            <a:off x="293375" y="2004050"/>
            <a:ext cx="384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Implemented in: client/src/components/StatusBadge.jsx</a:t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i="1" sz="15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f186959965_5_77"/>
          <p:cNvSpPr txBox="1"/>
          <p:nvPr/>
        </p:nvSpPr>
        <p:spPr>
          <a:xfrm>
            <a:off x="401250" y="2525400"/>
            <a:ext cx="5238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-The component uses the Strategy pattern: the rendering logic stays the same, but the label and color lookup strategy switches based on type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- Each badge type has its own label map and color map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Adding a new badge type only requires adding a new map  no changes to the render logic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Also satisfies: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r>
              <a:rPr b="1" lang="en-US"/>
              <a:t>SRP</a:t>
            </a:r>
            <a:r>
              <a:rPr lang="en-US"/>
              <a:t> :one job: render a colored badge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r>
              <a:rPr b="1" lang="en-US"/>
              <a:t>OCP </a:t>
            </a:r>
            <a:r>
              <a:rPr lang="en-US"/>
              <a:t>:add a new badge type by adding a new lookup table, no existing code changes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</a:t>
            </a:r>
            <a:r>
              <a:rPr b="1" lang="en-US"/>
              <a:t>  - DRY</a:t>
            </a:r>
            <a:r>
              <a:rPr lang="en-US"/>
              <a:t> :badge logic centralized here instead of duplicated across 5 files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2" name="Google Shape;272;g3f186959965_5_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4300" y="1721950"/>
            <a:ext cx="4810539" cy="46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186959965_5_108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f186959965_5_108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f186959965_5_108"/>
          <p:cNvSpPr/>
          <p:nvPr/>
        </p:nvSpPr>
        <p:spPr>
          <a:xfrm>
            <a:off x="502925" y="777250"/>
            <a:ext cx="101955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StatusBadge  </a:t>
            </a:r>
            <a:endParaRPr b="1" sz="38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 Case-Insensitive Specialist Lookup</a:t>
            </a:r>
            <a:endParaRPr b="0" i="0" sz="3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281" name="Google Shape;281;g3f186959965_5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f186959965_5_108"/>
          <p:cNvSpPr/>
          <p:nvPr/>
        </p:nvSpPr>
        <p:spPr>
          <a:xfrm>
            <a:off x="293375" y="2004050"/>
            <a:ext cx="384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Implemented in: client/src/components/StatusBadge.jsx</a:t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i="1" sz="15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f186959965_5_108"/>
          <p:cNvSpPr txBox="1"/>
          <p:nvPr/>
        </p:nvSpPr>
        <p:spPr>
          <a:xfrm>
            <a:off x="401250" y="2525400"/>
            <a:ext cx="5238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.find() with .toLowerCase() makes the lookup case-insensitive, so the badge always renders correctly regardless of how the value was stored.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g3f186959965_5_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5425" y="3703175"/>
            <a:ext cx="7536001" cy="18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186959965_5_139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f186959965_5_139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186959965_5_139"/>
          <p:cNvSpPr/>
          <p:nvPr/>
        </p:nvSpPr>
        <p:spPr>
          <a:xfrm>
            <a:off x="502925" y="777250"/>
            <a:ext cx="101955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StatusBadge  </a:t>
            </a:r>
            <a:endParaRPr b="1" sz="38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 Safe Fallback for Unknown Values</a:t>
            </a:r>
            <a:endParaRPr b="0" i="0" sz="3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293" name="Google Shape;293;g3f186959965_5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f186959965_5_139"/>
          <p:cNvSpPr/>
          <p:nvPr/>
        </p:nvSpPr>
        <p:spPr>
          <a:xfrm>
            <a:off x="293375" y="2004050"/>
            <a:ext cx="384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Implemented in: client/src/components/StatusBadge.jsx</a:t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i="1" sz="15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f186959965_5_139"/>
          <p:cNvSpPr txBox="1"/>
          <p:nvPr/>
        </p:nvSpPr>
        <p:spPr>
          <a:xfrm>
            <a:off x="401250" y="2525400"/>
            <a:ext cx="9906300" cy="16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If value doesn't match any known key, the component falls back gracefully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Label falls back to the raw value string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Color falls back to 'secondary' (gray badge)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?? '' null-check prevents crashes if value is null or undefined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6" name="Google Shape;296;g3f186959965_5_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2675" y="4491038"/>
            <a:ext cx="7200900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186959965_5_119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f186959965_5_119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f186959965_5_119"/>
          <p:cNvSpPr/>
          <p:nvPr/>
        </p:nvSpPr>
        <p:spPr>
          <a:xfrm>
            <a:off x="401250" y="736875"/>
            <a:ext cx="10195500" cy="10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StatusBadge  </a:t>
            </a:r>
            <a:endParaRPr b="1" sz="38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Test Coverage :Vitest</a:t>
            </a:r>
            <a:endParaRPr b="1" sz="38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0" i="0" sz="3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305" name="Google Shape;305;g3f186959965_5_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f186959965_5_119"/>
          <p:cNvSpPr txBox="1"/>
          <p:nvPr/>
        </p:nvSpPr>
        <p:spPr>
          <a:xfrm>
            <a:off x="703100" y="1855200"/>
            <a:ext cx="9893700" cy="21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Full test suite at client/src/__tests__/StatusBadge.test.jsx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 Tests cover: 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each badge type, known values, unknown values, fallback behavior, case-insensitive specialist lookup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All tests passed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c161b3862_0_64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ec161b3862_0_64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ec161b3862_0_64"/>
          <p:cNvSpPr/>
          <p:nvPr/>
        </p:nvSpPr>
        <p:spPr>
          <a:xfrm>
            <a:off x="502925" y="777250"/>
            <a:ext cx="1009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9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Coordinator Notifications: Feature Overview</a:t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38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/home/claude/slides/logo.png" id="315" name="Google Shape;315;g3ec161b3862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ec161b3862_0_64"/>
          <p:cNvSpPr/>
          <p:nvPr/>
        </p:nvSpPr>
        <p:spPr>
          <a:xfrm>
            <a:off x="502925" y="1508650"/>
            <a:ext cx="499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1" lang="en-US" sz="1000">
                <a:solidFill>
                  <a:schemeClr val="dk1"/>
                </a:solidFill>
              </a:rPr>
              <a:t>client/src/components/NotificationsCard.jsx, </a:t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1" lang="en-US" sz="1000">
                <a:solidFill>
                  <a:schemeClr val="dk1"/>
                </a:solidFill>
              </a:rPr>
              <a:t>server/routes/notifications.js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ec161b3862_0_64"/>
          <p:cNvSpPr txBox="1"/>
          <p:nvPr/>
        </p:nvSpPr>
        <p:spPr>
          <a:xfrm>
            <a:off x="639600" y="2009250"/>
            <a:ext cx="63024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 Notifications alert the patient when their status changes or when they first submit their profile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Three events trigger a notification: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a. Patient submits their profile → coordinator gets a notification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b. Coordinator updates insurance status → patient gets a notification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c. Coordinator updates a checklist item → patient gets a notification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Notifications are stored in the database and persist across sessions</a:t>
            </a:r>
            <a:endParaRPr/>
          </a:p>
        </p:txBody>
      </p:sp>
      <p:pic>
        <p:nvPicPr>
          <p:cNvPr id="318" name="Google Shape;318;g3ec161b3862_0_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2600" y="1629300"/>
            <a:ext cx="4841725" cy="39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186959965_5_207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f186959965_5_207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f186959965_5_207"/>
          <p:cNvSpPr/>
          <p:nvPr/>
        </p:nvSpPr>
        <p:spPr>
          <a:xfrm>
            <a:off x="502925" y="566800"/>
            <a:ext cx="1009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9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Coordinator Notifications: </a:t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9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 Backend API (notifications.js)</a:t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38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/home/claude/slides/logo.png" id="327" name="Google Shape;327;g3f186959965_5_2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f186959965_5_207"/>
          <p:cNvSpPr/>
          <p:nvPr/>
        </p:nvSpPr>
        <p:spPr>
          <a:xfrm>
            <a:off x="502925" y="1508650"/>
            <a:ext cx="499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1" lang="en-US" sz="1000">
                <a:solidFill>
                  <a:schemeClr val="dk1"/>
                </a:solidFill>
              </a:rPr>
              <a:t>client/src/components/NotificationsCard.jsx, </a:t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1" lang="en-US" sz="1000">
                <a:solidFill>
                  <a:schemeClr val="dk1"/>
                </a:solidFill>
              </a:rPr>
              <a:t>server/routes/notifications.js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9" name="Google Shape;329;g3f186959965_5_207"/>
          <p:cNvGraphicFramePr/>
          <p:nvPr/>
        </p:nvGraphicFramePr>
        <p:xfrm>
          <a:off x="74525" y="217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{21EF72A2-886C-4080-A795-43D58D42C379}</a:tableStyleId>
              </a:tblPr>
              <a:tblGrid>
                <a:gridCol w="1110100"/>
                <a:gridCol w="2649975"/>
                <a:gridCol w="3380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accent1"/>
                          </a:solidFill>
                        </a:rPr>
                        <a:t>Method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accent1"/>
                          </a:solidFill>
                        </a:rPr>
                        <a:t>Route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accent1"/>
                          </a:solidFill>
                        </a:rPr>
                        <a:t>What it does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GET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/api/notifications/:patientId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Fetch all notifications for a                               patient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PATCH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/api/notifications/:id/read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Mark one notification as read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POST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/api/notifications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Create a new notification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0" name="Google Shape;330;g3f186959965_5_207"/>
          <p:cNvSpPr txBox="1"/>
          <p:nvPr/>
        </p:nvSpPr>
        <p:spPr>
          <a:xfrm>
            <a:off x="74525" y="4486925"/>
            <a:ext cx="71403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 All three routes are protected by verifyAuth  must be logged in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GET returns notifications ordered newest first (orderBy: { createdAt: 'desc' 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1" name="Google Shape;331;g3f186959965_5_2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7600" y="1450600"/>
            <a:ext cx="4572001" cy="5164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186959965_5_219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f186959965_5_219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f186959965_5_219"/>
          <p:cNvSpPr/>
          <p:nvPr/>
        </p:nvSpPr>
        <p:spPr>
          <a:xfrm>
            <a:off x="502925" y="566800"/>
            <a:ext cx="1009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9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Coordinator Notifications: </a:t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9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Notifications Are Triggered by Patient Updates</a:t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38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/home/claude/slides/logo.png" id="340" name="Google Shape;340;g3f186959965_5_2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f186959965_5_219"/>
          <p:cNvSpPr/>
          <p:nvPr/>
        </p:nvSpPr>
        <p:spPr>
          <a:xfrm>
            <a:off x="502925" y="1508650"/>
            <a:ext cx="499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1" lang="en-US" sz="1000">
                <a:solidFill>
                  <a:schemeClr val="dk1"/>
                </a:solidFill>
              </a:rPr>
              <a:t>client/src/components/NotificationsCard.jsx, </a:t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1" lang="en-US" sz="1000">
                <a:solidFill>
                  <a:schemeClr val="dk1"/>
                </a:solidFill>
              </a:rPr>
              <a:t>server/routes/notifications.js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f186959965_5_219"/>
          <p:cNvSpPr txBox="1"/>
          <p:nvPr/>
        </p:nvSpPr>
        <p:spPr>
          <a:xfrm>
            <a:off x="97025" y="2434300"/>
            <a:ext cx="5383800" cy="26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- Notifications are not created through POST /api/notifications directly by the frontend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- They are created automatically inside server/routes/patients.js when: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- A coordinator updates insurance status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- A coordinator updates a checklist column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- A patient submits their profile (line ~298)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- The message includes the coordinator's name: "Your insurance status has been updated to 'clear' by Jane Smith."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3" name="Google Shape;343;g3f186959965_5_2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7325" y="2009361"/>
            <a:ext cx="6003001" cy="1179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3f186959965_5_2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7328" y="3323922"/>
            <a:ext cx="6002985" cy="132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g3f186959965_5_2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7325" y="4922300"/>
            <a:ext cx="6003000" cy="1066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186959965_5_238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f186959965_5_238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f186959965_5_238"/>
          <p:cNvSpPr/>
          <p:nvPr/>
        </p:nvSpPr>
        <p:spPr>
          <a:xfrm>
            <a:off x="502925" y="566800"/>
            <a:ext cx="1009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9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Coordinator Notifications: </a:t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9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 Input Validation and Error Handling</a:t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38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/home/claude/slides/logo.png" id="354" name="Google Shape;354;g3f186959965_5_2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g3f186959965_5_238"/>
          <p:cNvSpPr/>
          <p:nvPr/>
        </p:nvSpPr>
        <p:spPr>
          <a:xfrm>
            <a:off x="502925" y="1508650"/>
            <a:ext cx="499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1" lang="en-US" sz="1000">
                <a:solidFill>
                  <a:schemeClr val="dk1"/>
                </a:solidFill>
              </a:rPr>
              <a:t>client/src/components/NotificationsCard.jsx, </a:t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1" lang="en-US" sz="1000">
                <a:solidFill>
                  <a:schemeClr val="dk1"/>
                </a:solidFill>
              </a:rPr>
              <a:t>server/routes/notifications.js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f186959965_5_238"/>
          <p:cNvSpPr txBox="1"/>
          <p:nvPr/>
        </p:nvSpPr>
        <p:spPr>
          <a:xfrm>
            <a:off x="97025" y="2434300"/>
            <a:ext cx="5383800" cy="26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 Every route validates its inputs before touching the database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patientId and id must be valid numbers  returns 400 if not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message must be a non-empty string  returns 400 if missing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 Prisma error code P2025 (record not found) is caught and returns 404 instead of a generic 500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All other errors return 500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7" name="Google Shape;357;g3f186959965_5_2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9725" y="1450600"/>
            <a:ext cx="6389875" cy="47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186959965_5_258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f186959965_5_258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f186959965_5_258"/>
          <p:cNvSpPr/>
          <p:nvPr/>
        </p:nvSpPr>
        <p:spPr>
          <a:xfrm>
            <a:off x="502925" y="566800"/>
            <a:ext cx="10091400" cy="11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9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Coordinator Notifications:</a:t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9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NotificationsCard </a:t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9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Frontend Component</a:t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38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/home/claude/slides/logo.png" id="366" name="Google Shape;366;g3f186959965_5_2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g3f186959965_5_258"/>
          <p:cNvSpPr/>
          <p:nvPr/>
        </p:nvSpPr>
        <p:spPr>
          <a:xfrm>
            <a:off x="502925" y="2056750"/>
            <a:ext cx="499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1" lang="en-US" sz="1000">
                <a:solidFill>
                  <a:schemeClr val="dk1"/>
                </a:solidFill>
              </a:rPr>
              <a:t>client/src/components/NotificationsCard.jsx, </a:t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1" lang="en-US" sz="1000">
                <a:solidFill>
                  <a:schemeClr val="dk1"/>
                </a:solidFill>
              </a:rPr>
              <a:t>server/routes/notifications.js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f186959965_5_258"/>
          <p:cNvSpPr txBox="1"/>
          <p:nvPr/>
        </p:nvSpPr>
        <p:spPr>
          <a:xfrm>
            <a:off x="97025" y="2434300"/>
            <a:ext cx="5383800" cy="26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f186959965_5_258"/>
          <p:cNvSpPr txBox="1"/>
          <p:nvPr/>
        </p:nvSpPr>
        <p:spPr>
          <a:xfrm>
            <a:off x="97025" y="3469625"/>
            <a:ext cx="6274200" cy="14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Accepts two props: notifications (array) and onMarkAsRead (callback)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Shows an unread count badge in the header when there are unread notifications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Each notification shows: a colored dot (blue = unread, gray = read), the message, a timestamp, and a "Mark read" button for unread items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Falls back to "No notifications yet." when the list is empty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70;g3f186959965_5_2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1275" y="858851"/>
            <a:ext cx="4223100" cy="5816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186959965_5_284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f186959965_5_284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f186959965_5_284"/>
          <p:cNvSpPr/>
          <p:nvPr/>
        </p:nvSpPr>
        <p:spPr>
          <a:xfrm>
            <a:off x="502925" y="566900"/>
            <a:ext cx="100914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9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Coordinator Notifications:</a:t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9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 Live Updates Polling Every 30 Seconds</a:t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38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/home/claude/slides/logo.png" id="379" name="Google Shape;379;g3f186959965_5_2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3f186959965_5_284"/>
          <p:cNvSpPr/>
          <p:nvPr/>
        </p:nvSpPr>
        <p:spPr>
          <a:xfrm>
            <a:off x="502925" y="2056750"/>
            <a:ext cx="499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1" lang="en-US" sz="1000">
                <a:solidFill>
                  <a:schemeClr val="dk1"/>
                </a:solidFill>
              </a:rPr>
              <a:t>client/src/components/NotificationsCard.jsx, </a:t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1" lang="en-US" sz="1000">
                <a:solidFill>
                  <a:schemeClr val="dk1"/>
                </a:solidFill>
              </a:rPr>
              <a:t>server/routes/notifications.js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f186959965_5_284"/>
          <p:cNvSpPr txBox="1"/>
          <p:nvPr/>
        </p:nvSpPr>
        <p:spPr>
          <a:xfrm>
            <a:off x="97025" y="2434300"/>
            <a:ext cx="5383800" cy="26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f186959965_5_284"/>
          <p:cNvSpPr txBox="1"/>
          <p:nvPr/>
        </p:nvSpPr>
        <p:spPr>
          <a:xfrm>
            <a:off x="97025" y="2642200"/>
            <a:ext cx="6274200" cy="26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PatientPortal.jsx fetches notifications on load and then polls every 30 seconds using setInterval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 When "Mark read" is clicked, it calls PATCH /api/notifications/:id/read and updates local state immediately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no re-fetch needed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interval is cleaned up on unmount to prevent memory leaks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3" name="Google Shape;383;g3f186959965_5_284"/>
          <p:cNvPicPr preferRelativeResize="0"/>
          <p:nvPr/>
        </p:nvPicPr>
        <p:blipFill rotWithShape="1">
          <a:blip r:embed="rId4">
            <a:alphaModFix/>
          </a:blip>
          <a:srcRect b="20166" l="0" r="21550" t="0"/>
          <a:stretch/>
        </p:blipFill>
        <p:spPr>
          <a:xfrm>
            <a:off x="7282300" y="1781850"/>
            <a:ext cx="4327249" cy="188377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g3f186959965_5_284"/>
          <p:cNvSpPr txBox="1"/>
          <p:nvPr/>
        </p:nvSpPr>
        <p:spPr>
          <a:xfrm>
            <a:off x="6792275" y="1513400"/>
            <a:ext cx="1905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mark as read</a:t>
            </a:r>
            <a:endParaRPr/>
          </a:p>
        </p:txBody>
      </p:sp>
      <p:pic>
        <p:nvPicPr>
          <p:cNvPr id="385" name="Google Shape;385;g3f186959965_5_2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8163" y="3814089"/>
            <a:ext cx="3895513" cy="94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g3f186959965_5_2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92263" y="4909075"/>
            <a:ext cx="4535287" cy="126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f186959965_5_328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f186959965_5_328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f186959965_5_328"/>
          <p:cNvSpPr/>
          <p:nvPr/>
        </p:nvSpPr>
        <p:spPr>
          <a:xfrm>
            <a:off x="586475" y="795525"/>
            <a:ext cx="10408200" cy="1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9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Backend routes </a:t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15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used by </a:t>
            </a:r>
            <a:endParaRPr b="1" sz="15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0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PatientPortal, CoordinatorDashboard, PatientDetail , DirectorDashboard</a:t>
            </a:r>
            <a:endParaRPr b="1" sz="20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38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/home/claude/slides/logo.png" id="395" name="Google Shape;395;g3f186959965_5_3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6" name="Google Shape;396;g3f186959965_5_328"/>
          <p:cNvGraphicFramePr/>
          <p:nvPr/>
        </p:nvGraphicFramePr>
        <p:xfrm>
          <a:off x="868950" y="193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{21EF72A2-886C-4080-A795-43D58D42C379}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 /api/patients/:id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server/routes/patients.js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used to load patient data on </a:t>
                      </a:r>
                      <a:r>
                        <a:rPr lang="en-US"/>
                        <a:t>Patient Detail </a:t>
                      </a:r>
                      <a:r>
                        <a:rPr lang="en-US"/>
                        <a:t> page needed to load checklist data on PatientPortal</a:t>
                      </a:r>
                      <a:endParaRPr/>
                    </a:p>
                  </a:txBody>
                  <a:tcPr marT="91425" marB="91425" marR="68575" marL="6857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PATCH/api/patients/:id/insurance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server/routes/patients.js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Coordinator  insurance dropdown to actually save changes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68575" marL="6857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PATCH /api/patients/:id/clinical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server/routes/patients.js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used for CoordinatorDashboard clinical column dropdowns to save each checklist update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68575" marL="6857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 /api/notifications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server/routes/notifications.js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Both insurance and clinical PATCH routes call this to notify the patient of every change made . Needed for notifications to show in PatientPortal</a:t>
                      </a:r>
                      <a:endParaRPr/>
                    </a:p>
                  </a:txBody>
                  <a:tcPr marT="91425" marB="91425" marR="68575" marL="6857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 /api/notifications/:patientId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server/routes/notifications.js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 for Patient Portal notifications section in the patient portal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68575" marL="6857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186959965_5_388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f186959965_5_388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f186959965_5_388"/>
          <p:cNvSpPr/>
          <p:nvPr/>
        </p:nvSpPr>
        <p:spPr>
          <a:xfrm>
            <a:off x="642550" y="528175"/>
            <a:ext cx="6625800" cy="1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9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Backend routes </a:t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0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 GET /api/patients/:id Fetch One Patient</a:t>
            </a:r>
            <a:endParaRPr b="1" sz="20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0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38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/home/claude/slides/logo.png" id="405" name="Google Shape;405;g3f186959965_5_3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g3f186959965_5_388"/>
          <p:cNvSpPr txBox="1"/>
          <p:nvPr/>
        </p:nvSpPr>
        <p:spPr>
          <a:xfrm>
            <a:off x="642550" y="1801450"/>
            <a:ext cx="5856900" cy="3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 sz="20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server/routes/patients.js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Fetches a single patient by ID and returns everything the patient detail view needs in one response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Computes the patient's progress (completed vs total steps)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Builds the checklist maps each required field to a normalized status (not booked → not complete, insurance mapped to complete/not complete)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 Queries the audit log to find the last coordinator who updated this patient and returns their name as assignedCoordinator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7" name="Google Shape;407;g3f186959965_5_3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9150" y="745675"/>
            <a:ext cx="3281750" cy="510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186959965_5_405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f186959965_5_405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f186959965_5_405"/>
          <p:cNvSpPr/>
          <p:nvPr/>
        </p:nvSpPr>
        <p:spPr>
          <a:xfrm>
            <a:off x="642550" y="528175"/>
            <a:ext cx="7461300" cy="1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9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Backend routes </a:t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0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20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PATCH /api/patients/:id/insurance  Update Insurance Status</a:t>
            </a:r>
            <a:endParaRPr b="1" sz="20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0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38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/home/claude/slides/logo.png" id="416" name="Google Shape;416;g3f186959965_5_4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g3f186959965_5_405"/>
          <p:cNvSpPr txBox="1"/>
          <p:nvPr/>
        </p:nvSpPr>
        <p:spPr>
          <a:xfrm>
            <a:off x="642550" y="1801450"/>
            <a:ext cx="5481000" cy="3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 sz="20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server/routes/</a:t>
            </a:r>
            <a:r>
              <a:rPr b="1" lang="en-US" sz="2000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4"/>
              </a:rPr>
              <a:t>patients.js</a:t>
            </a:r>
            <a:endParaRPr b="1" sz="20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Validates the new value against an allowlist of four values: clear, not clear, self pay, in review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 Returns 400 if the value is not in the list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-On success: updates the database, creates an audit log entry, and creates a patient notification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-Returns the updated patient with recalculated progress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8" name="Google Shape;418;g3f186959965_5_4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5950" y="1864975"/>
            <a:ext cx="5763649" cy="4830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186959965_5_419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f186959965_5_419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f186959965_5_419"/>
          <p:cNvSpPr/>
          <p:nvPr/>
        </p:nvSpPr>
        <p:spPr>
          <a:xfrm>
            <a:off x="642550" y="528175"/>
            <a:ext cx="10485900" cy="1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9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Backend routes </a:t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0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1" sz="20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20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PATCH /api/patients/:id/clinical                 Update Clinical Checklist Item</a:t>
            </a:r>
            <a:endParaRPr b="1" sz="20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38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/home/claude/slides/logo.png" id="427" name="Google Shape;427;g3f186959965_5_4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g3f186959965_5_419"/>
          <p:cNvSpPr txBox="1"/>
          <p:nvPr/>
        </p:nvSpPr>
        <p:spPr>
          <a:xfrm>
            <a:off x="642550" y="1801450"/>
            <a:ext cx="5481000" cy="3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 sz="20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server/routes/</a:t>
            </a:r>
            <a:r>
              <a:rPr b="1" lang="en-US" sz="2000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4"/>
              </a:rPr>
              <a:t>patients.js</a:t>
            </a:r>
            <a:endParaRPr b="1" sz="20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Handles updates to any of the 11 clinical checklist columns: consult, labs, hematology, nephrology, dietitian, psychologist, endoscopy, barium, cardiology, colonoscopy, sleep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 Uses a column allowlist  returns 400 if the column name is not recognized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 Same three-step pattern as insurance: update → audit log → notification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 Uses computed property { [column]: value } to update any column dynamically with one query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9" name="Google Shape;429;g3f186959965_5_4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5950" y="1864975"/>
            <a:ext cx="4858423" cy="484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186959965_5_362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f186959965_5_362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f186959965_5_362"/>
          <p:cNvSpPr/>
          <p:nvPr/>
        </p:nvSpPr>
        <p:spPr>
          <a:xfrm>
            <a:off x="628250" y="687200"/>
            <a:ext cx="1040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29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lang="en-US" sz="3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Audit log utility function  createAuditEntry Utility</a:t>
            </a:r>
            <a:r>
              <a:rPr lang="en-US" sz="3200">
                <a:solidFill>
                  <a:schemeClr val="accent1"/>
                </a:solidFill>
              </a:rPr>
              <a:t> </a:t>
            </a:r>
            <a:endParaRPr b="1" sz="50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38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/home/claude/slides/logo.png" id="438" name="Google Shape;438;g3f186959965_5_3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g3f186959965_5_362"/>
          <p:cNvSpPr txBox="1"/>
          <p:nvPr/>
        </p:nvSpPr>
        <p:spPr>
          <a:xfrm>
            <a:off x="642550" y="1776325"/>
            <a:ext cx="272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server/utils/auditUtils.js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440" name="Google Shape;440;g3f186959965_5_362"/>
          <p:cNvSpPr txBox="1"/>
          <p:nvPr/>
        </p:nvSpPr>
        <p:spPr>
          <a:xfrm>
            <a:off x="742800" y="2402975"/>
            <a:ext cx="53055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 A shared utility imported into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patient.js</a:t>
            </a:r>
            <a:r>
              <a:rPr lang="en-US"/>
              <a:t> and used in both Patch routes instead of repeating the same code twice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Follows DRY principle Do Not Repeat Yourself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Audit log is written </a:t>
            </a:r>
            <a:r>
              <a:rPr lang="en-US"/>
              <a:t>once</a:t>
            </a:r>
            <a:r>
              <a:rPr lang="en-US"/>
              <a:t> and used everywhere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Every coordinator update (insurance, clinical) calls createAuditEntry from server/utils/auditUtils.js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Records: which patient, which field changed, the old value, the new value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old value is fetched before the update so it can be stored accurately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Used by both the insurance route and the clinical route  centralized so the pattern is consistent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1" name="Google Shape;441;g3f186959965_5_3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6100" y="2231600"/>
            <a:ext cx="3371850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c1fb2802f_0_111"/>
          <p:cNvSpPr/>
          <p:nvPr/>
        </p:nvSpPr>
        <p:spPr>
          <a:xfrm>
            <a:off x="548640" y="29260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WALKTHROUGH  - </a:t>
            </a:r>
            <a:r>
              <a:rPr b="1" lang="en-US" sz="12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DIRECTOR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ec1fb2802f_0_111"/>
          <p:cNvSpPr/>
          <p:nvPr/>
        </p:nvSpPr>
        <p:spPr>
          <a:xfrm>
            <a:off x="548640" y="566928"/>
            <a:ext cx="1005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Director Dashboard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ec1fb2802f_0_111"/>
          <p:cNvSpPr/>
          <p:nvPr/>
        </p:nvSpPr>
        <p:spPr>
          <a:xfrm>
            <a:off x="9859975" y="256032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ec1fb2802f_0_111"/>
          <p:cNvSpPr/>
          <p:nvPr/>
        </p:nvSpPr>
        <p:spPr>
          <a:xfrm>
            <a:off x="457200" y="651052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CS673 - Team 1 - BariatricPath - Code Walkthrough - Fatimah Hassan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ec1fb2802f_0_111"/>
          <p:cNvSpPr/>
          <p:nvPr/>
        </p:nvSpPr>
        <p:spPr>
          <a:xfrm>
            <a:off x="11368735" y="651052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ec1fb2802f_0_111"/>
          <p:cNvSpPr/>
          <p:nvPr/>
        </p:nvSpPr>
        <p:spPr>
          <a:xfrm>
            <a:off x="548640" y="1325880"/>
            <a:ext cx="11091600" cy="329100"/>
          </a:xfrm>
          <a:prstGeom prst="roundRect">
            <a:avLst>
              <a:gd fmla="val 1666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ec1fb2802f_0_111"/>
          <p:cNvSpPr/>
          <p:nvPr/>
        </p:nvSpPr>
        <p:spPr>
          <a:xfrm>
            <a:off x="777250" y="1325875"/>
            <a:ext cx="10769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Implemented in:  </a:t>
            </a:r>
            <a:r>
              <a:rPr b="0" i="1" lang="en-US" sz="1050" u="none" cap="none" strike="noStrike">
                <a:solidFill>
                  <a:srgbClr val="5B6B8C"/>
                </a:solidFill>
                <a:latin typeface="Courier New"/>
                <a:ea typeface="Courier New"/>
                <a:cs typeface="Courier New"/>
                <a:sym typeface="Courier New"/>
              </a:rPr>
              <a:t>client/src/</a:t>
            </a:r>
            <a:r>
              <a:rPr i="1" lang="en-US" sz="1050">
                <a:solidFill>
                  <a:srgbClr val="5B6B8C"/>
                </a:solidFill>
                <a:latin typeface="Courier New"/>
                <a:ea typeface="Courier New"/>
                <a:cs typeface="Courier New"/>
                <a:sym typeface="Courier New"/>
              </a:rPr>
              <a:t>pages/DirectorDashboard.jsx</a:t>
            </a:r>
            <a:r>
              <a:rPr b="0" i="1" lang="en-US" sz="1050" u="none" cap="none" strike="noStrike">
                <a:solidFill>
                  <a:srgbClr val="5B6B8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-US" sz="1050">
                <a:solidFill>
                  <a:srgbClr val="5B6B8C"/>
                </a:solidFill>
                <a:latin typeface="Courier New"/>
                <a:ea typeface="Courier New"/>
                <a:cs typeface="Courier New"/>
                <a:sym typeface="Courier New"/>
              </a:rPr>
              <a:t>client/src/components/PatientMetrics.jsx, client/src/components/SearchBar.jsx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ec1fb2802f_0_111"/>
          <p:cNvSpPr/>
          <p:nvPr/>
        </p:nvSpPr>
        <p:spPr>
          <a:xfrm>
            <a:off x="548640" y="1783080"/>
            <a:ext cx="6492300" cy="4434900"/>
          </a:xfrm>
          <a:prstGeom prst="roundRect">
            <a:avLst>
              <a:gd fmla="val 1649" name="adj"/>
            </a:avLst>
          </a:prstGeom>
          <a:solidFill>
            <a:srgbClr val="151A47"/>
          </a:solidFill>
          <a:ln>
            <a:noFill/>
          </a:ln>
          <a:effectLst>
            <a:outerShdw blurRad="101600" rotWithShape="0" algn="bl" dir="2700000" dist="38100">
              <a:srgbClr val="1E2761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ec1fb2802f_0_111"/>
          <p:cNvSpPr/>
          <p:nvPr/>
        </p:nvSpPr>
        <p:spPr>
          <a:xfrm>
            <a:off x="731522" y="2148850"/>
            <a:ext cx="260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8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4A800"/>
                </a:solidFill>
                <a:latin typeface="Calibri"/>
                <a:ea typeface="Calibri"/>
                <a:cs typeface="Calibri"/>
                <a:sym typeface="Calibri"/>
              </a:rPr>
              <a:t>client/src/pages/DirectorDashboard.jsx - Director Dashboard Page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ec1fb2802f_0_111"/>
          <p:cNvSpPr/>
          <p:nvPr/>
        </p:nvSpPr>
        <p:spPr>
          <a:xfrm>
            <a:off x="763575" y="2675638"/>
            <a:ext cx="2682900" cy="3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function DirectorDashboard() {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const { user } = useAuth();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&lt;&gt;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&lt;Navbar /&gt;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&lt;ReadOnlyBanner /&gt;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&lt;div className="container mt-4"&gt;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&lt;h2&gt;Program Director Dashboard&lt;/h2&gt;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 className="text-muted"&gt;Pipeline overview — all patients across the program&lt;/p&gt;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&lt;PatientMetrics /&gt;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&lt;SearchBar disableClick enableSort /&gt;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&lt;/div&gt;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&lt;AIChatWidget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role="PROGRAM_DIRECTOR"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patientContext={{ role: 'program_director' }}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/&gt;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&lt;/&gt;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7" name="Google Shape;457;g3ec1fb2802f_0_111"/>
          <p:cNvSpPr/>
          <p:nvPr/>
        </p:nvSpPr>
        <p:spPr>
          <a:xfrm>
            <a:off x="7269480" y="178308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ec1fb2802f_0_111"/>
          <p:cNvSpPr/>
          <p:nvPr/>
        </p:nvSpPr>
        <p:spPr>
          <a:xfrm>
            <a:off x="7269480" y="224028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comment_navy.png" id="459" name="Google Shape;459;g3ec1fb2802f_0_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2350" y="234315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3ec1fb2802f_0_111"/>
          <p:cNvSpPr/>
          <p:nvPr/>
        </p:nvSpPr>
        <p:spPr>
          <a:xfrm>
            <a:off x="7863840" y="2910061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Read-only access enforced</a:t>
            </a:r>
            <a:endParaRPr b="1" sz="125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ec1fb2802f_0_111"/>
          <p:cNvSpPr/>
          <p:nvPr/>
        </p:nvSpPr>
        <p:spPr>
          <a:xfrm>
            <a:off x="7863840" y="3211813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A ReadOnlyBanner is displayed and SearchBar is rendered with disableClick, preventing directors from opening or modifying individual patient records.</a:t>
            </a:r>
            <a:endParaRPr sz="10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ec1fb2802f_0_111"/>
          <p:cNvSpPr/>
          <p:nvPr/>
        </p:nvSpPr>
        <p:spPr>
          <a:xfrm>
            <a:off x="7269480" y="310896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server_navy.png" id="463" name="Google Shape;463;g3ec1fb2802f_0_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2350" y="321183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g3ec1fb2802f_0_111"/>
          <p:cNvSpPr/>
          <p:nvPr/>
        </p:nvSpPr>
        <p:spPr>
          <a:xfrm>
            <a:off x="7863840" y="2098516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Program-wide metrics displayed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ec1fb2802f_0_111"/>
          <p:cNvSpPr/>
          <p:nvPr/>
        </p:nvSpPr>
        <p:spPr>
          <a:xfrm>
            <a:off x="7863840" y="2400268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PatientMetrics loads aggregate data across all patients in the program pipeline.</a:t>
            </a:r>
            <a:endParaRPr sz="10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ec1fb2802f_0_111"/>
          <p:cNvSpPr/>
          <p:nvPr/>
        </p:nvSpPr>
        <p:spPr>
          <a:xfrm>
            <a:off x="7269480" y="397764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database_navy.png" id="467" name="Google Shape;467;g3ec1fb2802f_0_1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2350" y="40805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g3ec1fb2802f_0_111"/>
          <p:cNvSpPr/>
          <p:nvPr/>
        </p:nvSpPr>
        <p:spPr>
          <a:xfrm>
            <a:off x="7863840" y="395020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Patient list fetched with debounce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ec1fb2802f_0_111"/>
          <p:cNvSpPr/>
          <p:nvPr/>
        </p:nvSpPr>
        <p:spPr>
          <a:xfrm>
            <a:off x="7863840" y="425196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On load (and on any search/filter change), a debounced API call fetches patients matching the current search term, specialist type, and insurance status after a 300ms delay.</a:t>
            </a:r>
            <a:endParaRPr sz="10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ec1fb2802f_0_111"/>
          <p:cNvSpPr/>
          <p:nvPr/>
        </p:nvSpPr>
        <p:spPr>
          <a:xfrm>
            <a:off x="7269480" y="484632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network_navy.png" id="471" name="Google Shape;471;g3ec1fb2802f_0_1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72350" y="49491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g3ec1fb2802f_0_111"/>
          <p:cNvSpPr/>
          <p:nvPr/>
        </p:nvSpPr>
        <p:spPr>
          <a:xfrm>
            <a:off x="7863840" y="481888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Client-side sorting applied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ec1fb2802f_0_111"/>
          <p:cNvSpPr/>
          <p:nvPr/>
        </p:nvSpPr>
        <p:spPr>
          <a:xfrm>
            <a:off x="7863840" y="512064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The fetched results are sorted locally by the selected sort option — date, name, BMI, or progress percentage — without re-fetching from the API.</a:t>
            </a:r>
            <a:endParaRPr sz="10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ec1fb2802f_0_111"/>
          <p:cNvSpPr/>
          <p:nvPr/>
        </p:nvSpPr>
        <p:spPr>
          <a:xfrm>
            <a:off x="7269480" y="571500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robot_navy.png" id="475" name="Google Shape;475;g3ec1fb2802f_0_1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72350" y="58178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g3ec1fb2802f_0_111"/>
          <p:cNvSpPr/>
          <p:nvPr/>
        </p:nvSpPr>
        <p:spPr>
          <a:xfrm>
            <a:off x="7863840" y="568756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AI assistant available in context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ec1fb2802f_0_111"/>
          <p:cNvSpPr/>
          <p:nvPr/>
        </p:nvSpPr>
        <p:spPr>
          <a:xfrm>
            <a:off x="7863840" y="598932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An AIChatWidget is mounted with role: "PROGRAM_DIRECTOR", scoping the AI's context to program-level oversight rather than individual patient data.</a:t>
            </a:r>
            <a:endParaRPr sz="10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478" name="Google Shape;478;g3ec1fb2802f_0_1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g3ec1fb2802f_0_111"/>
          <p:cNvSpPr/>
          <p:nvPr/>
        </p:nvSpPr>
        <p:spPr>
          <a:xfrm>
            <a:off x="3809075" y="2368150"/>
            <a:ext cx="3097800" cy="3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PatientMetrics()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// 1. Fetch all patient records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patients ← apiRequest('/patients')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// 2. Calculate aggregate metrics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total ← patients.length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newThisWeek ← count(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patients created within last 7 days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)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insuranceCleared ← count(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patients where insurance = "clear"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)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surgeryReady ← count(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patients where progress.completed = progress.total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)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notEligible ← count(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patients where BMI &lt; 27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)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// 3. Build metric cards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metrics ← {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Total Patients,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Insurance Cleared,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Surgery Ready,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Not Eligible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renderMetrics(metrics)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0" name="Google Shape;480;g3ec1fb2802f_0_111"/>
          <p:cNvSpPr/>
          <p:nvPr/>
        </p:nvSpPr>
        <p:spPr>
          <a:xfrm>
            <a:off x="3768622" y="1920250"/>
            <a:ext cx="260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8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4A800"/>
                </a:solidFill>
                <a:latin typeface="Calibri"/>
                <a:ea typeface="Calibri"/>
                <a:cs typeface="Calibri"/>
                <a:sym typeface="Calibri"/>
              </a:rPr>
              <a:t>client/src/components/PatientMetrics.jsx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ec6b7c67d7_0_0"/>
          <p:cNvSpPr/>
          <p:nvPr/>
        </p:nvSpPr>
        <p:spPr>
          <a:xfrm>
            <a:off x="548640" y="29260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WALKTHROUGH  - </a:t>
            </a:r>
            <a:r>
              <a:rPr b="1" lang="en-US" sz="12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DIRECTOR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ec6b7c67d7_0_0"/>
          <p:cNvSpPr/>
          <p:nvPr/>
        </p:nvSpPr>
        <p:spPr>
          <a:xfrm>
            <a:off x="548640" y="566928"/>
            <a:ext cx="1005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Director Dashboard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ec6b7c67d7_0_0"/>
          <p:cNvSpPr/>
          <p:nvPr/>
        </p:nvSpPr>
        <p:spPr>
          <a:xfrm>
            <a:off x="9859975" y="256032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ec6b7c67d7_0_0"/>
          <p:cNvSpPr/>
          <p:nvPr/>
        </p:nvSpPr>
        <p:spPr>
          <a:xfrm>
            <a:off x="457200" y="651052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CS673 - Team 1 - BariatricPath - Code Walkthrough - Fatimah Hassan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ec6b7c67d7_0_0"/>
          <p:cNvSpPr/>
          <p:nvPr/>
        </p:nvSpPr>
        <p:spPr>
          <a:xfrm>
            <a:off x="11368735" y="651052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ec6b7c67d7_0_0"/>
          <p:cNvSpPr/>
          <p:nvPr/>
        </p:nvSpPr>
        <p:spPr>
          <a:xfrm>
            <a:off x="548640" y="1325880"/>
            <a:ext cx="11091600" cy="329100"/>
          </a:xfrm>
          <a:prstGeom prst="roundRect">
            <a:avLst>
              <a:gd fmla="val 1666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ec6b7c67d7_0_0"/>
          <p:cNvSpPr/>
          <p:nvPr/>
        </p:nvSpPr>
        <p:spPr>
          <a:xfrm>
            <a:off x="777250" y="1325875"/>
            <a:ext cx="10863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urier New"/>
              <a:buNone/>
            </a:pPr>
            <a:r>
              <a:rPr b="1" lang="en-US" sz="105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Implemented in:  </a:t>
            </a:r>
            <a:r>
              <a:rPr i="1" lang="en-US" sz="1050">
                <a:solidFill>
                  <a:srgbClr val="5B6B8C"/>
                </a:solidFill>
                <a:latin typeface="Courier New"/>
                <a:ea typeface="Courier New"/>
                <a:cs typeface="Courier New"/>
                <a:sym typeface="Courier New"/>
              </a:rPr>
              <a:t>client/src/pages/DirectorDashboard.jsx, client/src/components/PatientMetrics.jsx, client/src/components/SearchBar.jsx</a:t>
            </a:r>
            <a:endParaRPr b="1" sz="1050">
              <a:solidFill>
                <a:srgbClr val="1E276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3" name="Google Shape;493;g3ec6b7c67d7_0_0"/>
          <p:cNvSpPr/>
          <p:nvPr/>
        </p:nvSpPr>
        <p:spPr>
          <a:xfrm>
            <a:off x="548640" y="1783080"/>
            <a:ext cx="6492300" cy="4434900"/>
          </a:xfrm>
          <a:prstGeom prst="roundRect">
            <a:avLst>
              <a:gd fmla="val 1649" name="adj"/>
            </a:avLst>
          </a:prstGeom>
          <a:solidFill>
            <a:srgbClr val="151A47"/>
          </a:solidFill>
          <a:ln>
            <a:noFill/>
          </a:ln>
          <a:effectLst>
            <a:outerShdw blurRad="101600" rotWithShape="0" algn="bl" dir="2700000" dist="38100">
              <a:srgbClr val="1E2761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ec6b7c67d7_0_0"/>
          <p:cNvSpPr/>
          <p:nvPr/>
        </p:nvSpPr>
        <p:spPr>
          <a:xfrm>
            <a:off x="763575" y="2675638"/>
            <a:ext cx="2682900" cy="3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function DirectorDashboard() {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const { user } = useAuth();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&lt;&gt;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&lt;Navbar /&gt;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&lt;ReadOnlyBanner /&gt;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&lt;div className="container mt-4"&gt;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&lt;h2&gt;Program Director Dashboard&lt;/h2&gt;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 className="text-muted"&gt;Pipeline overview — all patients across the program&lt;/p&gt;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&lt;PatientMetrics /&gt;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&lt;SearchBar disableClick enableSort /&gt;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&lt;/div&gt;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&lt;AIChatWidget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role="PROGRAM_DIRECTOR"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patientContext={{ role: 'program_director' }}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/&gt;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&lt;/&gt;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5" name="Google Shape;495;g3ec6b7c67d7_0_0"/>
          <p:cNvSpPr/>
          <p:nvPr/>
        </p:nvSpPr>
        <p:spPr>
          <a:xfrm>
            <a:off x="7269480" y="178308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g3ec6b7c67d7_0_0"/>
          <p:cNvSpPr/>
          <p:nvPr/>
        </p:nvSpPr>
        <p:spPr>
          <a:xfrm>
            <a:off x="7269480" y="224028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comment_navy.png" id="497" name="Google Shape;497;g3ec6b7c67d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2350" y="234315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g3ec6b7c67d7_0_0"/>
          <p:cNvSpPr/>
          <p:nvPr/>
        </p:nvSpPr>
        <p:spPr>
          <a:xfrm>
            <a:off x="7269480" y="310896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server_navy.png" id="499" name="Google Shape;499;g3ec6b7c67d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2350" y="321183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ec6b7c67d7_0_0"/>
          <p:cNvSpPr/>
          <p:nvPr/>
        </p:nvSpPr>
        <p:spPr>
          <a:xfrm>
            <a:off x="7269480" y="397764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database_navy.png" id="501" name="Google Shape;501;g3ec6b7c67d7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2350" y="40805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g3ec6b7c67d7_0_0"/>
          <p:cNvSpPr/>
          <p:nvPr/>
        </p:nvSpPr>
        <p:spPr>
          <a:xfrm>
            <a:off x="7863840" y="395020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Patient list fetched with debounce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ec6b7c67d7_0_0"/>
          <p:cNvSpPr/>
          <p:nvPr/>
        </p:nvSpPr>
        <p:spPr>
          <a:xfrm>
            <a:off x="7863840" y="425196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On load (and on any search/filter change), a debounced API call fetches patients matching the current search term, specialist type, and insurance status after a 300ms delay.</a:t>
            </a:r>
            <a:endParaRPr sz="10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ec6b7c67d7_0_0"/>
          <p:cNvSpPr/>
          <p:nvPr/>
        </p:nvSpPr>
        <p:spPr>
          <a:xfrm>
            <a:off x="7269480" y="484632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network_navy.png" id="505" name="Google Shape;505;g3ec6b7c67d7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72350" y="49491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g3ec6b7c67d7_0_0"/>
          <p:cNvSpPr/>
          <p:nvPr/>
        </p:nvSpPr>
        <p:spPr>
          <a:xfrm>
            <a:off x="7863840" y="481888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Client-side sorting applied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ec6b7c67d7_0_0"/>
          <p:cNvSpPr/>
          <p:nvPr/>
        </p:nvSpPr>
        <p:spPr>
          <a:xfrm>
            <a:off x="7863840" y="512064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The fetched results are sorted locally by the selected sort option — date, name, BMI, or progress percentage — without re-fetching from the API.</a:t>
            </a:r>
            <a:endParaRPr sz="10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ec6b7c67d7_0_0"/>
          <p:cNvSpPr/>
          <p:nvPr/>
        </p:nvSpPr>
        <p:spPr>
          <a:xfrm>
            <a:off x="7269480" y="571500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robot_navy.png" id="509" name="Google Shape;509;g3ec6b7c67d7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72350" y="58178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g3ec6b7c67d7_0_0"/>
          <p:cNvSpPr/>
          <p:nvPr/>
        </p:nvSpPr>
        <p:spPr>
          <a:xfrm>
            <a:off x="7863840" y="568756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AI assistant available in context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ec6b7c67d7_0_0"/>
          <p:cNvSpPr/>
          <p:nvPr/>
        </p:nvSpPr>
        <p:spPr>
          <a:xfrm>
            <a:off x="7863840" y="598932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An AIChatWidget is mounted with role: "PROGRAM_DIRECTOR", scoping the AI's context to program-level oversight rather than individual patient data.</a:t>
            </a:r>
            <a:endParaRPr sz="10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512" name="Google Shape;512;g3ec6b7c67d7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g3ec6b7c67d7_0_0"/>
          <p:cNvSpPr/>
          <p:nvPr/>
        </p:nvSpPr>
        <p:spPr>
          <a:xfrm>
            <a:off x="3809075" y="2368150"/>
            <a:ext cx="3097800" cy="3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SearchBar()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// 1. Build search parameters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params ← {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searchTerm,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specialistType,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insuranceStatus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// 2. Fetch patients (300ms debounce)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patients ← apiRequest(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'/patients',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params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)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// 3. Sort results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sortedPatients ← sort(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patients,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date | name | BMI | progress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)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// 4. Render patient list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IF loading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displayLoadingMessage()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ELSE IF no patients found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displayNoResultsMessage()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ELSE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displayPatientCount()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displaySortOptions()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renderPatientTable(sortedPatients)</a:t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t/>
            </a:r>
            <a:endParaRPr sz="800">
              <a:solidFill>
                <a:srgbClr val="CADCF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4" name="Google Shape;514;g3ec6b7c67d7_0_0"/>
          <p:cNvSpPr/>
          <p:nvPr/>
        </p:nvSpPr>
        <p:spPr>
          <a:xfrm>
            <a:off x="3768622" y="1920250"/>
            <a:ext cx="260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8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4A800"/>
                </a:solidFill>
                <a:latin typeface="Calibri"/>
                <a:ea typeface="Calibri"/>
                <a:cs typeface="Calibri"/>
                <a:sym typeface="Calibri"/>
              </a:rPr>
              <a:t>client/src/components/SearchBar.jsx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ec6b7c67d7_0_0"/>
          <p:cNvSpPr/>
          <p:nvPr/>
        </p:nvSpPr>
        <p:spPr>
          <a:xfrm>
            <a:off x="7863840" y="2910061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Read-only access enforced</a:t>
            </a:r>
            <a:endParaRPr b="1" sz="125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ec6b7c67d7_0_0"/>
          <p:cNvSpPr/>
          <p:nvPr/>
        </p:nvSpPr>
        <p:spPr>
          <a:xfrm>
            <a:off x="7863840" y="3211813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A ReadOnlyBanner is displayed and SearchBar is rendered with disableClick, preventing directors from opening or modifying individual patient records.</a:t>
            </a:r>
            <a:endParaRPr sz="10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ec6b7c67d7_0_0"/>
          <p:cNvSpPr/>
          <p:nvPr/>
        </p:nvSpPr>
        <p:spPr>
          <a:xfrm>
            <a:off x="7863840" y="2098516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Program-wide metrics displayed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ec6b7c67d7_0_0"/>
          <p:cNvSpPr/>
          <p:nvPr/>
        </p:nvSpPr>
        <p:spPr>
          <a:xfrm>
            <a:off x="7863840" y="2400268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PatientMetrics loads aggregate data across all patients in the program pipeline.</a:t>
            </a:r>
            <a:endParaRPr sz="10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5B6B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ec6b7c67d7_0_0"/>
          <p:cNvSpPr/>
          <p:nvPr/>
        </p:nvSpPr>
        <p:spPr>
          <a:xfrm>
            <a:off x="731522" y="2148850"/>
            <a:ext cx="260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8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4A800"/>
                </a:solidFill>
                <a:latin typeface="Calibri"/>
                <a:ea typeface="Calibri"/>
                <a:cs typeface="Calibri"/>
                <a:sym typeface="Calibri"/>
              </a:rPr>
              <a:t>client/src/pages/DirectorDashboard.jsx - Director Dashboard Page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ec53e34944_0_84"/>
          <p:cNvSpPr/>
          <p:nvPr/>
        </p:nvSpPr>
        <p:spPr>
          <a:xfrm>
            <a:off x="548640" y="29260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WALKTHROUGH  - AI MICROSERVICE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ec53e34944_0_84"/>
          <p:cNvSpPr/>
          <p:nvPr/>
        </p:nvSpPr>
        <p:spPr>
          <a:xfrm>
            <a:off x="548640" y="566928"/>
            <a:ext cx="1005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Sorting Functions in Checklist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ec53e34944_0_84"/>
          <p:cNvSpPr/>
          <p:nvPr/>
        </p:nvSpPr>
        <p:spPr>
          <a:xfrm>
            <a:off x="9859975" y="256032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528" name="Google Shape;528;g3ec53e34944_0_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g3ec53e34944_0_84" title="Screenshot 2026-06-16 at 2.32.3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744700"/>
            <a:ext cx="7109850" cy="3960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g3ec53e34944_0_84" title="Screenshot 2026-06-16 at 2.32.1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1024" y="2420647"/>
            <a:ext cx="4401950" cy="4361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g3ec53e34944_0_84"/>
          <p:cNvSpPr txBox="1"/>
          <p:nvPr/>
        </p:nvSpPr>
        <p:spPr>
          <a:xfrm>
            <a:off x="620825" y="1371600"/>
            <a:ext cx="6598200" cy="13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Flexible Configuration (Reusable Component Design):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Instantaneous Client-Side Sorting: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Comprehensive Sorting Metrics: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ec53e34944_0_45"/>
          <p:cNvSpPr/>
          <p:nvPr/>
        </p:nvSpPr>
        <p:spPr>
          <a:xfrm>
            <a:off x="548640" y="29260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WALKTHROUGH  - AI MICROSERVICE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ec53e34944_0_45"/>
          <p:cNvSpPr/>
          <p:nvPr/>
        </p:nvSpPr>
        <p:spPr>
          <a:xfrm>
            <a:off x="548640" y="566928"/>
            <a:ext cx="1005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AI Chat Assistant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ec53e34944_0_45"/>
          <p:cNvSpPr/>
          <p:nvPr/>
        </p:nvSpPr>
        <p:spPr>
          <a:xfrm>
            <a:off x="9859975" y="256032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ec53e34944_0_45"/>
          <p:cNvSpPr/>
          <p:nvPr/>
        </p:nvSpPr>
        <p:spPr>
          <a:xfrm>
            <a:off x="457200" y="651052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CS673 - Team 1 - BariatricPath - Code Walkthrough - Fatimah Hassan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ec53e34944_0_45"/>
          <p:cNvSpPr/>
          <p:nvPr/>
        </p:nvSpPr>
        <p:spPr>
          <a:xfrm>
            <a:off x="11368735" y="651052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ec53e34944_0_45"/>
          <p:cNvSpPr/>
          <p:nvPr/>
        </p:nvSpPr>
        <p:spPr>
          <a:xfrm>
            <a:off x="548640" y="1325880"/>
            <a:ext cx="11091600" cy="329100"/>
          </a:xfrm>
          <a:prstGeom prst="roundRect">
            <a:avLst>
              <a:gd fmla="val 1666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ec53e34944_0_45"/>
          <p:cNvSpPr/>
          <p:nvPr/>
        </p:nvSpPr>
        <p:spPr>
          <a:xfrm>
            <a:off x="777240" y="1325880"/>
            <a:ext cx="10607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Implemented in:  </a:t>
            </a:r>
            <a:r>
              <a:rPr b="1" i="1" lang="en-US" sz="1050" u="none" cap="none" strike="noStrike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client/src/components/AIChatWidget.jsx, server/routes/ai.js, ai-service/rag.py</a:t>
            </a:r>
            <a:endParaRPr b="1" i="0" sz="1050" u="none" cap="none" strike="noStrik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3ec53e34944_0_45"/>
          <p:cNvSpPr/>
          <p:nvPr/>
        </p:nvSpPr>
        <p:spPr>
          <a:xfrm>
            <a:off x="548640" y="1783080"/>
            <a:ext cx="6492300" cy="4434900"/>
          </a:xfrm>
          <a:prstGeom prst="roundRect">
            <a:avLst>
              <a:gd fmla="val 1649" name="adj"/>
            </a:avLst>
          </a:prstGeom>
          <a:solidFill>
            <a:srgbClr val="151A47"/>
          </a:solidFill>
          <a:ln>
            <a:noFill/>
          </a:ln>
          <a:effectLst>
            <a:outerShdw blurRad="101600" rotWithShape="0" algn="bl" dir="2700000" dist="38100">
              <a:srgbClr val="1E2761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g3ec53e34944_0_45"/>
          <p:cNvSpPr/>
          <p:nvPr/>
        </p:nvSpPr>
        <p:spPr>
          <a:xfrm>
            <a:off x="731520" y="1920240"/>
            <a:ext cx="612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8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800"/>
                </a:solidFill>
                <a:latin typeface="Calibri"/>
                <a:ea typeface="Calibri"/>
                <a:cs typeface="Calibri"/>
                <a:sym typeface="Calibri"/>
              </a:rPr>
              <a:t>server/routes/ai.js - enrich &amp; forward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g3ec53e34944_0_45"/>
          <p:cNvSpPr/>
          <p:nvPr/>
        </p:nvSpPr>
        <p:spPr>
          <a:xfrm>
            <a:off x="731520" y="2240280"/>
            <a:ext cx="6126600" cy="39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// Already passed through verifyAuth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router.post('/chat', verifyAuth, async (req, res) =&gt; 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const { question, role } = req.body;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const userId = req.user.id;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// 1. Look up this user's real patient 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let context = {};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try 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const patient = await prisma.patient.findUnique({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where: { userId },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select: 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insurance: true,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visitType: true,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progress: true,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},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});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context = patient || {};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} catch (err) 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// Graceful fallback - AI still works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// with whatever the frontend already sent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context = req.body.context || {};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// 2. Forward enriched request to the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//    internal-only AI microservice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const aiResponse = await axios.post(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'http://ai-service:8000/chat',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question,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role,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patient_id: userId,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context,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res.json(aiResponse.data);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3ec53e34944_0_45"/>
          <p:cNvSpPr/>
          <p:nvPr/>
        </p:nvSpPr>
        <p:spPr>
          <a:xfrm>
            <a:off x="7269480" y="178308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ec53e34944_0_45"/>
          <p:cNvSpPr/>
          <p:nvPr/>
        </p:nvSpPr>
        <p:spPr>
          <a:xfrm>
            <a:off x="7269480" y="224028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comment_navy.png" id="549" name="Google Shape;549;g3ec53e34944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2350" y="234315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g3ec53e34944_0_45"/>
          <p:cNvSpPr/>
          <p:nvPr/>
        </p:nvSpPr>
        <p:spPr>
          <a:xfrm>
            <a:off x="7863840" y="221284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1. Same widget, every role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ec53e34944_0_45"/>
          <p:cNvSpPr/>
          <p:nvPr/>
        </p:nvSpPr>
        <p:spPr>
          <a:xfrm>
            <a:off x="7863840" y="251460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AIChatWidget.jsx is mounted on all three portals. It sends the question plus the user's role - role comes from the verified token, not user input.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g3ec53e34944_0_45"/>
          <p:cNvSpPr/>
          <p:nvPr/>
        </p:nvSpPr>
        <p:spPr>
          <a:xfrm>
            <a:off x="7269480" y="310896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server_navy.png" id="553" name="Google Shape;553;g3ec53e34944_0_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2350" y="321183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g3ec53e34944_0_45"/>
          <p:cNvSpPr/>
          <p:nvPr/>
        </p:nvSpPr>
        <p:spPr>
          <a:xfrm>
            <a:off x="7863840" y="308152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2. Express is the gateway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g3ec53e34944_0_45"/>
          <p:cNvSpPr/>
          <p:nvPr/>
        </p:nvSpPr>
        <p:spPr>
          <a:xfrm>
            <a:off x="7863840" y="338328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This route already ran verifyAuth - so we KNOW who's asking before we touch the database or the AI service.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ec53e34944_0_45"/>
          <p:cNvSpPr/>
          <p:nvPr/>
        </p:nvSpPr>
        <p:spPr>
          <a:xfrm>
            <a:off x="7269480" y="397764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database_navy.png" id="557" name="Google Shape;557;g3ec53e34944_0_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2350" y="40805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g3ec53e34944_0_45"/>
          <p:cNvSpPr/>
          <p:nvPr/>
        </p:nvSpPr>
        <p:spPr>
          <a:xfrm>
            <a:off x="7863840" y="395020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3. Real data, not guesses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g3ec53e34944_0_45"/>
          <p:cNvSpPr/>
          <p:nvPr/>
        </p:nvSpPr>
        <p:spPr>
          <a:xfrm>
            <a:off x="7863840" y="425196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We fetch the patient's actual insurance/visitType/progress from Postgres via Prisma and merge it into the AI request - the AI answers with real, current data.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ec53e34944_0_45"/>
          <p:cNvSpPr/>
          <p:nvPr/>
        </p:nvSpPr>
        <p:spPr>
          <a:xfrm>
            <a:off x="7269480" y="484632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network_navy.png" id="561" name="Google Shape;561;g3ec53e34944_0_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72350" y="49491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g3ec53e34944_0_45"/>
          <p:cNvSpPr/>
          <p:nvPr/>
        </p:nvSpPr>
        <p:spPr>
          <a:xfrm>
            <a:off x="7863840" y="481888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4. Internal network only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g3ec53e34944_0_45"/>
          <p:cNvSpPr/>
          <p:nvPr/>
        </p:nvSpPr>
        <p:spPr>
          <a:xfrm>
            <a:off x="7863840" y="512064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axios.post to http://ai-service:8000 - that hostname only resolves inside the Docker network. The AI service has no public port.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3ec53e34944_0_45"/>
          <p:cNvSpPr/>
          <p:nvPr/>
        </p:nvSpPr>
        <p:spPr>
          <a:xfrm>
            <a:off x="7269480" y="571500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robot_navy.png" id="565" name="Google Shape;565;g3ec53e34944_0_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72350" y="58178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g3ec53e34944_0_45"/>
          <p:cNvSpPr/>
          <p:nvPr/>
        </p:nvSpPr>
        <p:spPr>
          <a:xfrm>
            <a:off x="7863840" y="568756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5. FastAPI takes over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g3ec53e34944_0_45"/>
          <p:cNvSpPr/>
          <p:nvPr/>
        </p:nvSpPr>
        <p:spPr>
          <a:xfrm>
            <a:off x="7863840" y="598932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rag.py receives question + role + context and runs the retrieval-augmented generation pipeline (next slide).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568" name="Google Shape;568;g3ec53e34944_0_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ec1fb2802f_0_148"/>
          <p:cNvSpPr/>
          <p:nvPr/>
        </p:nvSpPr>
        <p:spPr>
          <a:xfrm>
            <a:off x="548640" y="29260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WALKTHROUGH  - AI MICROSERVICE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g3ec1fb2802f_0_148"/>
          <p:cNvSpPr/>
          <p:nvPr/>
        </p:nvSpPr>
        <p:spPr>
          <a:xfrm>
            <a:off x="548640" y="566928"/>
            <a:ext cx="1005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Retrieval-Augmented Generation (RAG)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ec1fb2802f_0_148"/>
          <p:cNvSpPr/>
          <p:nvPr/>
        </p:nvSpPr>
        <p:spPr>
          <a:xfrm>
            <a:off x="9859975" y="256032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g3ec1fb2802f_0_148"/>
          <p:cNvSpPr/>
          <p:nvPr/>
        </p:nvSpPr>
        <p:spPr>
          <a:xfrm>
            <a:off x="457200" y="651052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CS673 - Team 1 - BariatricPath - Code Walkthrough - Fatimah Hassan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ec1fb2802f_0_148"/>
          <p:cNvSpPr/>
          <p:nvPr/>
        </p:nvSpPr>
        <p:spPr>
          <a:xfrm>
            <a:off x="11368735" y="651052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ec1fb2802f_0_148"/>
          <p:cNvSpPr/>
          <p:nvPr/>
        </p:nvSpPr>
        <p:spPr>
          <a:xfrm>
            <a:off x="548640" y="1325880"/>
            <a:ext cx="11091600" cy="329100"/>
          </a:xfrm>
          <a:prstGeom prst="roundRect">
            <a:avLst>
              <a:gd fmla="val 1666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g3ec1fb2802f_0_148"/>
          <p:cNvSpPr/>
          <p:nvPr/>
        </p:nvSpPr>
        <p:spPr>
          <a:xfrm>
            <a:off x="777240" y="1325880"/>
            <a:ext cx="10607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Implemented in:  </a:t>
            </a:r>
            <a:r>
              <a:rPr b="1" i="1" lang="en-US" sz="1050" u="none" cap="none" strike="noStrike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ai-service/rag.py</a:t>
            </a:r>
            <a:endParaRPr b="1" i="0" sz="1050" u="none" cap="none" strike="noStrik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ec1fb2802f_0_148"/>
          <p:cNvSpPr/>
          <p:nvPr/>
        </p:nvSpPr>
        <p:spPr>
          <a:xfrm>
            <a:off x="548640" y="1783080"/>
            <a:ext cx="6492300" cy="4434900"/>
          </a:xfrm>
          <a:prstGeom prst="roundRect">
            <a:avLst>
              <a:gd fmla="val 1649" name="adj"/>
            </a:avLst>
          </a:prstGeom>
          <a:solidFill>
            <a:srgbClr val="151A47"/>
          </a:solidFill>
          <a:ln>
            <a:noFill/>
          </a:ln>
          <a:effectLst>
            <a:outerShdw blurRad="101600" rotWithShape="0" algn="bl" dir="2700000" dist="38100">
              <a:srgbClr val="1E2761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g3ec1fb2802f_0_148"/>
          <p:cNvSpPr/>
          <p:nvPr/>
        </p:nvSpPr>
        <p:spPr>
          <a:xfrm>
            <a:off x="731520" y="1920240"/>
            <a:ext cx="612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8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800"/>
                </a:solidFill>
                <a:latin typeface="Calibri"/>
                <a:ea typeface="Calibri"/>
                <a:cs typeface="Calibri"/>
                <a:sym typeface="Calibri"/>
              </a:rPr>
              <a:t>ai-service/rag.py - generate_response()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g3ec1fb2802f_0_148"/>
          <p:cNvSpPr/>
          <p:nvPr/>
        </p:nvSpPr>
        <p:spPr>
          <a:xfrm>
            <a:off x="731520" y="2240280"/>
            <a:ext cx="6126600" cy="39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MEMORY_WINDOW_SIZE = 7   # exchanges kept &amp; used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RETRIEVAL_TOP_K = 3       # docs retrieved per query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async def generate_response(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question, role, patient_context, session_key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1 - RETRIEVE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# question -&gt; embedding -&gt; ChromaDB search,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# filtered to this role's collection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docs = vector_store.similarity_search(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question,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k=RETRIEVAL_TOP_K,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filter={"role": role},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2 - AUGMENT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history = memory.get(session_key, [])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prompt = build_prompt(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system_prompt=ROLE_PROMPTS[role],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retrieved_docs=docs,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patient_context=patient_context,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history=history[-MEMORY_WINDOW_SIZE:],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question=question,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3 - GENERATE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answer = await llm.ainvoke(prompt)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4 - REMEMBER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history.append({"question": question,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"answer": answer})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memory[session_key] = history[-MEMORY_WINDOW_SIZE:]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{"answer": answer,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"sources": [d.metadata for d in docs]}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g3ec1fb2802f_0_148"/>
          <p:cNvSpPr/>
          <p:nvPr/>
        </p:nvSpPr>
        <p:spPr>
          <a:xfrm>
            <a:off x="7269480" y="178308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g3ec1fb2802f_0_148"/>
          <p:cNvSpPr/>
          <p:nvPr/>
        </p:nvSpPr>
        <p:spPr>
          <a:xfrm>
            <a:off x="7269480" y="224028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search_navy.png" id="586" name="Google Shape;586;g3ec1fb2802f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2350" y="234315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g3ec1fb2802f_0_148"/>
          <p:cNvSpPr/>
          <p:nvPr/>
        </p:nvSpPr>
        <p:spPr>
          <a:xfrm>
            <a:off x="7863840" y="221284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STEP 1 - Retrieve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ec1fb2802f_0_148"/>
          <p:cNvSpPr/>
          <p:nvPr/>
        </p:nvSpPr>
        <p:spPr>
          <a:xfrm>
            <a:off x="7863840" y="251460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ChromaDB does a similarity search over our 3 CSV knowledge bases. The filter={'role': role} means a patient's question only searches the patient FAQ - never the director's strategic docs.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g3ec1fb2802f_0_148"/>
          <p:cNvSpPr/>
          <p:nvPr/>
        </p:nvSpPr>
        <p:spPr>
          <a:xfrm>
            <a:off x="7269480" y="310896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layers_navy.png" id="590" name="Google Shape;590;g3ec1fb2802f_0_1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2350" y="321183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g3ec1fb2802f_0_148"/>
          <p:cNvSpPr/>
          <p:nvPr/>
        </p:nvSpPr>
        <p:spPr>
          <a:xfrm>
            <a:off x="7863840" y="308152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STEP 2 - Augment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ec1fb2802f_0_148"/>
          <p:cNvSpPr/>
          <p:nvPr/>
        </p:nvSpPr>
        <p:spPr>
          <a:xfrm>
            <a:off x="7863840" y="338328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build_prompt() assembles ONE prompt from 4 pieces: the role's system prompt, the retrieved docs, the patient's live data, and the last 7 exchanges (MEMORY_WINDOW_SIZE).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g3ec1fb2802f_0_148"/>
          <p:cNvSpPr/>
          <p:nvPr/>
        </p:nvSpPr>
        <p:spPr>
          <a:xfrm>
            <a:off x="7269480" y="397764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brain_gold.png" id="594" name="Google Shape;594;g3ec1fb2802f_0_1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2350" y="40805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g3ec1fb2802f_0_148"/>
          <p:cNvSpPr/>
          <p:nvPr/>
        </p:nvSpPr>
        <p:spPr>
          <a:xfrm>
            <a:off x="7863840" y="395020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STEP 3 - Generate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g3ec1fb2802f_0_148"/>
          <p:cNvSpPr/>
          <p:nvPr/>
        </p:nvSpPr>
        <p:spPr>
          <a:xfrm>
            <a:off x="7863840" y="425196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The full prompt goes to GPT-4.1-mini via LangChain's llm.ainvoke() - this is the only step that calls OpenAI.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g3ec1fb2802f_0_148"/>
          <p:cNvSpPr/>
          <p:nvPr/>
        </p:nvSpPr>
        <p:spPr>
          <a:xfrm>
            <a:off x="7269480" y="484632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sync_navy.png" id="598" name="Google Shape;598;g3ec1fb2802f_0_1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72350" y="49491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g3ec1fb2802f_0_148"/>
          <p:cNvSpPr/>
          <p:nvPr/>
        </p:nvSpPr>
        <p:spPr>
          <a:xfrm>
            <a:off x="7863840" y="481888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STEP 4 - Remember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g3ec1fb2802f_0_148"/>
          <p:cNvSpPr/>
          <p:nvPr/>
        </p:nvSpPr>
        <p:spPr>
          <a:xfrm>
            <a:off x="7863840" y="512064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The new Q&amp;A pair is appended to an in-memory dict keyed by session_key (role + patient_id), then trimmed back to 7 - a sliding window.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g3ec1fb2802f_0_148"/>
          <p:cNvSpPr/>
          <p:nvPr/>
        </p:nvSpPr>
        <p:spPr>
          <a:xfrm>
            <a:off x="7269480" y="571500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check_green.png" id="602" name="Google Shape;602;g3ec1fb2802f_0_1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72350" y="58178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g3ec1fb2802f_0_148"/>
          <p:cNvSpPr/>
          <p:nvPr/>
        </p:nvSpPr>
        <p:spPr>
          <a:xfrm>
            <a:off x="7863840" y="568756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g3ec1fb2802f_0_148"/>
          <p:cNvSpPr/>
          <p:nvPr/>
        </p:nvSpPr>
        <p:spPr>
          <a:xfrm>
            <a:off x="7863840" y="598932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Named constants (MEMORY_WINDOW_SIZE, RETRIEVAL_TOP_K) replaced magic numbers 7/10 from Iteration 2 - one source of truth, documented in code.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605" name="Google Shape;605;g3ec1fb2802f_0_1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ec1fb2802f_0_185"/>
          <p:cNvSpPr/>
          <p:nvPr/>
        </p:nvSpPr>
        <p:spPr>
          <a:xfrm>
            <a:off x="548640" y="29260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WALKTHROUGH  - SECURITY &amp; CONFIGURATION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g3ec1fb2802f_0_185"/>
          <p:cNvSpPr/>
          <p:nvPr/>
        </p:nvSpPr>
        <p:spPr>
          <a:xfrm>
            <a:off x="548640" y="566928"/>
            <a:ext cx="1005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CI/CD Pipeline (GitHub Actions)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g3ec1fb2802f_0_185"/>
          <p:cNvSpPr/>
          <p:nvPr/>
        </p:nvSpPr>
        <p:spPr>
          <a:xfrm>
            <a:off x="9859975" y="256032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3ec1fb2802f_0_185"/>
          <p:cNvSpPr/>
          <p:nvPr/>
        </p:nvSpPr>
        <p:spPr>
          <a:xfrm>
            <a:off x="457200" y="651052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CS673 - Team 1 - BariatricPath - Code Walkthrough - Fatimah Hassan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g3ec1fb2802f_0_185"/>
          <p:cNvSpPr/>
          <p:nvPr/>
        </p:nvSpPr>
        <p:spPr>
          <a:xfrm>
            <a:off x="11368735" y="651052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5C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g3ec1fb2802f_0_185"/>
          <p:cNvSpPr/>
          <p:nvPr/>
        </p:nvSpPr>
        <p:spPr>
          <a:xfrm>
            <a:off x="548640" y="1325880"/>
            <a:ext cx="11091600" cy="329100"/>
          </a:xfrm>
          <a:prstGeom prst="roundRect">
            <a:avLst>
              <a:gd fmla="val 1666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ec1fb2802f_0_185"/>
          <p:cNvSpPr/>
          <p:nvPr/>
        </p:nvSpPr>
        <p:spPr>
          <a:xfrm>
            <a:off x="777240" y="1325880"/>
            <a:ext cx="10607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Implemented in:  </a:t>
            </a:r>
            <a:r>
              <a:rPr b="1" i="1" lang="en-US" sz="1050" u="none" cap="none" strike="noStrike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.github/workflows/ci.yml, codeql.yml, trivy.yml, zap.yml</a:t>
            </a:r>
            <a:endParaRPr b="1" i="0" sz="1050" u="none" cap="none" strike="noStrik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g3ec1fb2802f_0_185"/>
          <p:cNvSpPr/>
          <p:nvPr/>
        </p:nvSpPr>
        <p:spPr>
          <a:xfrm>
            <a:off x="548640" y="1783080"/>
            <a:ext cx="6492300" cy="4434900"/>
          </a:xfrm>
          <a:prstGeom prst="roundRect">
            <a:avLst>
              <a:gd fmla="val 1649" name="adj"/>
            </a:avLst>
          </a:prstGeom>
          <a:solidFill>
            <a:srgbClr val="151A47"/>
          </a:solidFill>
          <a:ln>
            <a:noFill/>
          </a:ln>
          <a:effectLst>
            <a:outerShdw blurRad="101600" rotWithShape="0" algn="bl" dir="2700000" dist="38100">
              <a:srgbClr val="1E2761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g3ec1fb2802f_0_185"/>
          <p:cNvSpPr/>
          <p:nvPr/>
        </p:nvSpPr>
        <p:spPr>
          <a:xfrm>
            <a:off x="731520" y="1920240"/>
            <a:ext cx="612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8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800"/>
                </a:solidFill>
                <a:latin typeface="Calibri"/>
                <a:ea typeface="Calibri"/>
                <a:cs typeface="Calibri"/>
                <a:sym typeface="Calibri"/>
              </a:rPr>
              <a:t>.github/workflows/ci.yml (condensed)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ec1fb2802f_0_185"/>
          <p:cNvSpPr/>
          <p:nvPr/>
        </p:nvSpPr>
        <p:spPr>
          <a:xfrm>
            <a:off x="731520" y="2240280"/>
            <a:ext cx="6126600" cy="39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name: BariatricPath - CI Tests &amp; Linting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on: [push, pull_request]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jobs: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server-tests: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runs-on: ubuntu-latest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steps: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- uses: actions/checkout@v4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- run: npm ci --prefix server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- run: npm test --prefix server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# Jest + Supertest - 258 tests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client-tests: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runs-on: ubuntu-latest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steps: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- uses: actions/checkout@v4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- run: npm ci --prefix client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- run: npm run test --prefix client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# Vitest - 34 tests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ai-service-tests: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runs-on: ubuntu-latest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steps: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- uses: actions/checkout@v4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- run: pip install -r ai-service/requirements.txt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- run: pytest ai-service/tests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  # pytest - 9 tests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lint: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runs-on: ubuntu-latest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steps: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- uses: actions/checkout@v4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- run: npm run lint --prefix client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    - run: npm audit --omit=dev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g3ec1fb2802f_0_185"/>
          <p:cNvSpPr/>
          <p:nvPr/>
        </p:nvSpPr>
        <p:spPr>
          <a:xfrm>
            <a:off x="7269480" y="178308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g3ec1fb2802f_0_185"/>
          <p:cNvSpPr/>
          <p:nvPr/>
        </p:nvSpPr>
        <p:spPr>
          <a:xfrm>
            <a:off x="7269480" y="224028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checkdouble_navy.png" id="623" name="Google Shape;623;g3ec1fb2802f_0_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2350" y="234315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g3ec1fb2802f_0_185"/>
          <p:cNvSpPr/>
          <p:nvPr/>
        </p:nvSpPr>
        <p:spPr>
          <a:xfrm>
            <a:off x="7863840" y="221284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ci.yml - tests &amp; lint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g3ec1fb2802f_0_185"/>
          <p:cNvSpPr/>
          <p:nvPr/>
        </p:nvSpPr>
        <p:spPr>
          <a:xfrm>
            <a:off x="7863840" y="251460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On every push: Jest (258 tests) for the server, Vitest (34) for the client, pytest (9) for the AI service, plus ESLint and npm audit - all in parallel jobs.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g3ec1fb2802f_0_185"/>
          <p:cNvSpPr/>
          <p:nvPr/>
        </p:nvSpPr>
        <p:spPr>
          <a:xfrm>
            <a:off x="7269480" y="310896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search_navy.png" id="627" name="Google Shape;627;g3ec1fb2802f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2350" y="321183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g3ec1fb2802f_0_185"/>
          <p:cNvSpPr/>
          <p:nvPr/>
        </p:nvSpPr>
        <p:spPr>
          <a:xfrm>
            <a:off x="7863840" y="308152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codeql.yml - SAST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g3ec1fb2802f_0_185"/>
          <p:cNvSpPr/>
          <p:nvPr/>
        </p:nvSpPr>
        <p:spPr>
          <a:xfrm>
            <a:off x="7863840" y="338328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CodeQL statically analyzes JS + Python source for injection, XSS, and insecure patterns - 'static' means it reads the code without running 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g3ec1fb2802f_0_185"/>
          <p:cNvSpPr/>
          <p:nvPr/>
        </p:nvSpPr>
        <p:spPr>
          <a:xfrm>
            <a:off x="7269480" y="397764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shield_navy.png" id="631" name="Google Shape;631;g3ec1fb2802f_0_1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2350" y="40805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g3ec1fb2802f_0_185"/>
          <p:cNvSpPr/>
          <p:nvPr/>
        </p:nvSpPr>
        <p:spPr>
          <a:xfrm>
            <a:off x="7863840" y="395020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trivy.yml - container scan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g3ec1fb2802f_0_185"/>
          <p:cNvSpPr/>
          <p:nvPr/>
        </p:nvSpPr>
        <p:spPr>
          <a:xfrm>
            <a:off x="7863840" y="425196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Trivy scans our 3 Docker images and the filesystem for known CVEs and accidentally committed secrets, filtering out unfixed CVEs.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g3ec1fb2802f_0_185"/>
          <p:cNvSpPr/>
          <p:nvPr/>
        </p:nvSpPr>
        <p:spPr>
          <a:xfrm>
            <a:off x="7269480" y="484632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spider_gold.png" id="635" name="Google Shape;635;g3ec1fb2802f_0_1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72350" y="49491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g3ec1fb2802f_0_185"/>
          <p:cNvSpPr/>
          <p:nvPr/>
        </p:nvSpPr>
        <p:spPr>
          <a:xfrm>
            <a:off x="7863840" y="481888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zap.yml - DAST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g3ec1fb2802f_0_185"/>
          <p:cNvSpPr/>
          <p:nvPr/>
        </p:nvSpPr>
        <p:spPr>
          <a:xfrm>
            <a:off x="7863840" y="512064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OWASP ZAP actually RUNS the AI service and attacks it live - 'dynamic' means it tests the running application, not just the source.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g3ec1fb2802f_0_185"/>
          <p:cNvSpPr/>
          <p:nvPr/>
        </p:nvSpPr>
        <p:spPr>
          <a:xfrm>
            <a:off x="7269480" y="5715000"/>
            <a:ext cx="457200" cy="457200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dewalkthrough_deck/icons/github_navy.png" id="639" name="Google Shape;639;g3ec1fb2802f_0_18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72350" y="58178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g3ec1fb2802f_0_185"/>
          <p:cNvSpPr/>
          <p:nvPr/>
        </p:nvSpPr>
        <p:spPr>
          <a:xfrm>
            <a:off x="7863840" y="5687568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Branch protection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g3ec1fb2802f_0_185"/>
          <p:cNvSpPr/>
          <p:nvPr/>
        </p:nvSpPr>
        <p:spPr>
          <a:xfrm>
            <a:off x="7863840" y="5989320"/>
            <a:ext cx="416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dev requires all 4 workflows green plus 1+ reviewer before merge - built incrementally by the Security Lead, one workflow verified at a time.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642" name="Google Shape;642;g3ec1fb2802f_0_18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f186959965_5_304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g3f186959965_5_304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g3f186959965_5_304"/>
          <p:cNvSpPr/>
          <p:nvPr/>
        </p:nvSpPr>
        <p:spPr>
          <a:xfrm>
            <a:off x="502926" y="777250"/>
            <a:ext cx="1009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Manual Deployment to DigitalOcean</a:t>
            </a:r>
            <a:endParaRPr b="0" i="0" sz="3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651" name="Google Shape;651;g3f186959965_5_3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g3f186959965_5_304"/>
          <p:cNvSpPr txBox="1"/>
          <p:nvPr/>
        </p:nvSpPr>
        <p:spPr>
          <a:xfrm>
            <a:off x="380638" y="1450675"/>
            <a:ext cx="9131700" cy="22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App is deployed on a DigitalOcean droplet at https://67.205.191.149</a:t>
            </a:r>
            <a:endParaRPr sz="12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Deployment steps (done manually):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                 a. SSH into the droplet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                  b. git pull origin main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                  c. docker compose up -d --build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Nginx reverse proxy handles HTTPS (self-signed certificate) on port 443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All five services start automatically: React frontend, Express backend, FastAPI AI service, PostgreSQL, Nginx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200"/>
              <a:t> All five services start automatically: React frontend, Express backend, FastAPI AI service, PostgreSQL, </a:t>
            </a:r>
            <a:r>
              <a:rPr lang="en-US"/>
              <a:t>Nginx</a:t>
            </a:r>
            <a:endParaRPr/>
          </a:p>
        </p:txBody>
      </p:sp>
      <p:pic>
        <p:nvPicPr>
          <p:cNvPr id="653" name="Google Shape;653;g3f186959965_5_3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474" y="4436025"/>
            <a:ext cx="2339875" cy="159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g3f186959965_5_3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5349" y="4383750"/>
            <a:ext cx="2573236" cy="170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g3f186959965_5_30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41186" y="4383750"/>
            <a:ext cx="1909614" cy="170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g3f186959965_5_30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50800" y="4142450"/>
            <a:ext cx="2418938" cy="201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g3f186959965_5_30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12350" y="4142438"/>
            <a:ext cx="2573225" cy="2017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ec161b3862_0_109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g3ec161b3862_0_109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g3ec161b3862_0_109"/>
          <p:cNvSpPr/>
          <p:nvPr/>
        </p:nvSpPr>
        <p:spPr>
          <a:xfrm>
            <a:off x="502926" y="777250"/>
            <a:ext cx="1009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HTTPS &amp; Nginx</a:t>
            </a:r>
            <a:endParaRPr b="0" i="0" sz="3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666" name="Google Shape;666;g3ec161b3862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g3ec161b3862_0_109"/>
          <p:cNvSpPr/>
          <p:nvPr/>
        </p:nvSpPr>
        <p:spPr>
          <a:xfrm>
            <a:off x="502925" y="1508750"/>
            <a:ext cx="252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docker-compose.yml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g3ec161b3862_0_109"/>
          <p:cNvSpPr txBox="1"/>
          <p:nvPr/>
        </p:nvSpPr>
        <p:spPr>
          <a:xfrm>
            <a:off x="467875" y="2194675"/>
            <a:ext cx="5201400" cy="38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chemeClr val="accent1"/>
                </a:solidFill>
              </a:rPr>
              <a:t>Implemented</a:t>
            </a:r>
            <a:r>
              <a:rPr b="1" lang="en-US" sz="1000">
                <a:solidFill>
                  <a:schemeClr val="accent1"/>
                </a:solidFill>
              </a:rPr>
              <a:t> in: nginx.conf, docker-compose.yml</a:t>
            </a:r>
            <a:endParaRPr b="1" sz="1000">
              <a:solidFill>
                <a:schemeClr val="accent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Nginx runs as a Docker container and acts as a reverse proxy in front of the application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A self-signed SSL certificate is stored in /root/ssl on the droplet and mounted into the Nginx container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All HTTPS traffic on port 443 is terminated at Nginx and routed by path: /api/* is forwarded to the backend (port 5001), all other requests are forwarded to the frontend (port 5173)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HTTP traffic on port 5173 remains directly accessible on the droplet as a secondary access point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t/>
            </a:r>
            <a:endParaRPr b="1" sz="4000">
              <a:solidFill>
                <a:srgbClr val="1A1A2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669" name="Google Shape;669;g3ec161b3862_0_109" title="ngi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763" y="2084800"/>
            <a:ext cx="4740724" cy="4421525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g3ec161b3862_0_109"/>
          <p:cNvSpPr txBox="1"/>
          <p:nvPr/>
        </p:nvSpPr>
        <p:spPr>
          <a:xfrm>
            <a:off x="6042113" y="171910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Niginx</a:t>
            </a:r>
            <a:r>
              <a:rPr lang="en-US"/>
              <a:t> service block from Docker-compose.yml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f186959965_5_8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g3f186959965_5_8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g3f186959965_5_8"/>
          <p:cNvSpPr/>
          <p:nvPr/>
        </p:nvSpPr>
        <p:spPr>
          <a:xfrm>
            <a:off x="960126" y="672075"/>
            <a:ext cx="1009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HTTPS &amp; Nginx</a:t>
            </a:r>
            <a:endParaRPr b="0" i="0" sz="3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679" name="Google Shape;679;g3f186959965_5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g3f186959965_5_8"/>
          <p:cNvSpPr/>
          <p:nvPr/>
        </p:nvSpPr>
        <p:spPr>
          <a:xfrm>
            <a:off x="502925" y="1508750"/>
            <a:ext cx="252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fngix.config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g3f186959965_5_8"/>
          <p:cNvSpPr txBox="1"/>
          <p:nvPr/>
        </p:nvSpPr>
        <p:spPr>
          <a:xfrm>
            <a:off x="0" y="2175425"/>
            <a:ext cx="7199400" cy="39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listen 443 ssl : HTTPS on port 443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ssl_certificate /etc/nginx/ssl/server.crt : </a:t>
            </a:r>
            <a:r>
              <a:rPr lang="en-US" sz="1800"/>
              <a:t>the self-signed cert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location /api/ → proxy_pass http://backend:5001 : API routing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location / → proxy_pass http://frontend:5173 : frontend</a:t>
            </a:r>
            <a:r>
              <a:rPr lang="en-US" sz="1800"/>
              <a:t> </a:t>
            </a:r>
            <a:r>
              <a:rPr lang="en-US" sz="1800"/>
              <a:t>routing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</p:txBody>
      </p:sp>
      <p:pic>
        <p:nvPicPr>
          <p:cNvPr id="682" name="Google Shape;682;g3f186959965_5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1273" y="1508750"/>
            <a:ext cx="4992500" cy="457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f186959965_5_28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g3f186959965_5_28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g3f186959965_5_28"/>
          <p:cNvSpPr/>
          <p:nvPr/>
        </p:nvSpPr>
        <p:spPr>
          <a:xfrm>
            <a:off x="502926" y="777250"/>
            <a:ext cx="1009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HTTPS &amp; Nginx</a:t>
            </a:r>
            <a:endParaRPr b="0" i="0" sz="3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691" name="Google Shape;691;g3f186959965_5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g3f186959965_5_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26850"/>
            <a:ext cx="11887201" cy="1143511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g3f186959965_5_28"/>
          <p:cNvSpPr txBox="1"/>
          <p:nvPr/>
        </p:nvSpPr>
        <p:spPr>
          <a:xfrm>
            <a:off x="1954575" y="1507275"/>
            <a:ext cx="47703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Docker containers running on Droplet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f186959965_5_18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g3f186959965_5_18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g3f186959965_5_18"/>
          <p:cNvSpPr/>
          <p:nvPr/>
        </p:nvSpPr>
        <p:spPr>
          <a:xfrm>
            <a:off x="502926" y="777250"/>
            <a:ext cx="1009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HTTPS &amp; Nginx</a:t>
            </a:r>
            <a:endParaRPr b="0" i="0" sz="3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702" name="Google Shape;702;g3f186959965_5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g3f186959965_5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124" y="2587800"/>
            <a:ext cx="4860649" cy="381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g3f186959965_5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8600" y="2587800"/>
            <a:ext cx="5309674" cy="39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g3f186959965_5_18"/>
          <p:cNvSpPr txBox="1"/>
          <p:nvPr/>
        </p:nvSpPr>
        <p:spPr>
          <a:xfrm>
            <a:off x="621975" y="1378675"/>
            <a:ext cx="107109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 is deployed on URL </a:t>
            </a:r>
            <a:r>
              <a:rPr lang="en-US" u="sng">
                <a:solidFill>
                  <a:schemeClr val="hlink"/>
                </a:solidFill>
                <a:hlinkClick r:id="rId6"/>
              </a:rPr>
              <a:t>https://67.205.191.149</a:t>
            </a:r>
            <a:r>
              <a:rPr lang="en-US"/>
              <a:t> using HTTPS and self certificate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E2761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ec6212ee17_1_11"/>
          <p:cNvSpPr/>
          <p:nvPr/>
        </p:nvSpPr>
        <p:spPr>
          <a:xfrm>
            <a:off x="9859975" y="256032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g3ec6212ee17_1_11"/>
          <p:cNvSpPr/>
          <p:nvPr/>
        </p:nvSpPr>
        <p:spPr>
          <a:xfrm>
            <a:off x="457200" y="651052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C4"/>
                </a:solidFill>
                <a:latin typeface="Calibri"/>
                <a:ea typeface="Calibri"/>
                <a:cs typeface="Calibri"/>
                <a:sym typeface="Calibri"/>
              </a:rPr>
              <a:t>CS673 - Team 1 - BariatricPath - Final Iteration - Summer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g3ec6212ee17_1_11"/>
          <p:cNvSpPr/>
          <p:nvPr/>
        </p:nvSpPr>
        <p:spPr>
          <a:xfrm>
            <a:off x="11368735" y="651052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7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7C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g3ec6212ee17_1_11"/>
          <p:cNvSpPr/>
          <p:nvPr/>
        </p:nvSpPr>
        <p:spPr>
          <a:xfrm>
            <a:off x="9052560" y="1188720"/>
            <a:ext cx="3931800" cy="3931800"/>
          </a:xfrm>
          <a:prstGeom prst="ellipse">
            <a:avLst/>
          </a:prstGeom>
          <a:solidFill>
            <a:srgbClr val="2A35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g3ec6212ee17_1_11"/>
          <p:cNvSpPr/>
          <p:nvPr/>
        </p:nvSpPr>
        <p:spPr>
          <a:xfrm>
            <a:off x="9692640" y="1828800"/>
            <a:ext cx="2651700" cy="2651700"/>
          </a:xfrm>
          <a:prstGeom prst="ellipse">
            <a:avLst/>
          </a:prstGeom>
          <a:solidFill>
            <a:srgbClr val="3745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g3ec6212ee17_1_11"/>
          <p:cNvSpPr/>
          <p:nvPr/>
        </p:nvSpPr>
        <p:spPr>
          <a:xfrm>
            <a:off x="10607040" y="2697480"/>
            <a:ext cx="914400" cy="914400"/>
          </a:xfrm>
          <a:prstGeom prst="ellipse">
            <a:avLst/>
          </a:prstGeom>
          <a:solidFill>
            <a:srgbClr val="4C5B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ariatric_deck/icons/sitemap_white.png" id="717" name="Google Shape;717;g3ec6212ee17_1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12780" y="29032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g3ec6212ee17_1_11"/>
          <p:cNvSpPr/>
          <p:nvPr/>
        </p:nvSpPr>
        <p:spPr>
          <a:xfrm>
            <a:off x="548640" y="1280160"/>
            <a:ext cx="36576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58C"/>
              </a:buClr>
              <a:buSzPts val="11000"/>
              <a:buFont typeface="Cambria"/>
              <a:buNone/>
            </a:pPr>
            <a:r>
              <a:rPr b="1" i="0" lang="en-US" sz="11000" u="none" cap="none" strike="noStrike">
                <a:solidFill>
                  <a:srgbClr val="37458C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g3ec6212ee17_1_11"/>
          <p:cNvSpPr/>
          <p:nvPr/>
        </p:nvSpPr>
        <p:spPr>
          <a:xfrm>
            <a:off x="594360" y="3017520"/>
            <a:ext cx="73152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lang="en-US" sz="4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Important Algorithms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800"/>
              </a:buClr>
              <a:buSzPts val="4800"/>
              <a:buFont typeface="Cambria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g3ec6212ee17_1_11"/>
          <p:cNvSpPr/>
          <p:nvPr/>
        </p:nvSpPr>
        <p:spPr>
          <a:xfrm>
            <a:off x="612648" y="44348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How we handle complex requests and logics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_light.png" id="721" name="Google Shape;721;g3ec6212ee17_1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ec6212ee17_1_0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g3ec6212ee17_1_0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g3ec6212ee17_1_0"/>
          <p:cNvSpPr/>
          <p:nvPr/>
        </p:nvSpPr>
        <p:spPr>
          <a:xfrm>
            <a:off x="502926" y="777250"/>
            <a:ext cx="1009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Specialist Recommendation</a:t>
            </a: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Algorithm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730" name="Google Shape;730;g3ec6212ee17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g3ec6212ee17_1_0"/>
          <p:cNvSpPr/>
          <p:nvPr/>
        </p:nvSpPr>
        <p:spPr>
          <a:xfrm>
            <a:off x="502925" y="1425100"/>
            <a:ext cx="252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1" i="1" lang="en-US" sz="150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server/utils/routingLogic.js </a:t>
            </a:r>
            <a:endParaRPr b="1" i="1" sz="15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g3ec6212ee17_1_0"/>
          <p:cNvSpPr txBox="1"/>
          <p:nvPr/>
        </p:nvSpPr>
        <p:spPr>
          <a:xfrm>
            <a:off x="7818125" y="1958200"/>
            <a:ext cx="4077600" cy="11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A rule-based decision algorithm that determines which specialist a patient should see based on their BMI and surgery history.</a:t>
            </a:r>
            <a:endParaRPr sz="15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33" name="Google Shape;733;g3ec6212ee17_1_0" title="Screenshot 2026-06-16 at 1.14.0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975" y="1958190"/>
            <a:ext cx="7665726" cy="4336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ec161b3862_0_123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g3ec161b3862_0_123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g3ec161b3862_0_123"/>
          <p:cNvSpPr/>
          <p:nvPr/>
        </p:nvSpPr>
        <p:spPr>
          <a:xfrm>
            <a:off x="502926" y="777250"/>
            <a:ext cx="1009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Clinical Field Initialization Algorithm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742" name="Google Shape;742;g3ec161b3862_0_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g3ec161b3862_0_123"/>
          <p:cNvSpPr/>
          <p:nvPr/>
        </p:nvSpPr>
        <p:spPr>
          <a:xfrm>
            <a:off x="502925" y="1508750"/>
            <a:ext cx="252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file/path/here/for/shown/file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ec161b3862_0_142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g3ec161b3862_0_142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g3ec161b3862_0_142"/>
          <p:cNvSpPr/>
          <p:nvPr/>
        </p:nvSpPr>
        <p:spPr>
          <a:xfrm>
            <a:off x="502926" y="777250"/>
            <a:ext cx="1009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New Patient Detection Algorithm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752" name="Google Shape;752;g3ec161b3862_0_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g3ec161b3862_0_142"/>
          <p:cNvSpPr/>
          <p:nvPr/>
        </p:nvSpPr>
        <p:spPr>
          <a:xfrm>
            <a:off x="502925" y="1508750"/>
            <a:ext cx="252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file/path/here/for/shown/file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ec161b3862_0_151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CODE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g3ec161b3862_0_151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g3ec161b3862_0_151"/>
          <p:cNvSpPr/>
          <p:nvPr/>
        </p:nvSpPr>
        <p:spPr>
          <a:xfrm>
            <a:off x="502926" y="777250"/>
            <a:ext cx="1009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Token Refresh and Authentication </a:t>
            </a: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Algorithm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762" name="Google Shape;762;g3ec161b3862_0_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g3ec161b3862_0_151"/>
          <p:cNvSpPr/>
          <p:nvPr/>
        </p:nvSpPr>
        <p:spPr>
          <a:xfrm>
            <a:off x="502925" y="1799050"/>
            <a:ext cx="252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file/path/here/for/shown/file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5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770" name="Google Shape;7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1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13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5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5"/>
          <p:cNvSpPr/>
          <p:nvPr/>
        </p:nvSpPr>
        <p:spPr>
          <a:xfrm>
            <a:off x="3467100" y="1142990"/>
            <a:ext cx="5257800" cy="457200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5"/>
          <p:cNvSpPr/>
          <p:nvPr/>
        </p:nvSpPr>
        <p:spPr>
          <a:xfrm>
            <a:off x="3741420" y="1554470"/>
            <a:ext cx="4755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5" name="Google Shape;775;p15"/>
          <p:cNvCxnSpPr/>
          <p:nvPr/>
        </p:nvCxnSpPr>
        <p:spPr>
          <a:xfrm>
            <a:off x="3718495" y="2583540"/>
            <a:ext cx="1371600" cy="0"/>
          </a:xfrm>
          <a:prstGeom prst="straightConnector1">
            <a:avLst/>
          </a:prstGeom>
          <a:noFill/>
          <a:ln cap="flat" cmpd="sng" w="38100">
            <a:solidFill>
              <a:srgbClr val="F4B9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6" name="Google Shape;776;p15"/>
          <p:cNvSpPr/>
          <p:nvPr/>
        </p:nvSpPr>
        <p:spPr>
          <a:xfrm>
            <a:off x="3718495" y="2766420"/>
            <a:ext cx="475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1 — BariatricPath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5"/>
          <p:cNvSpPr/>
          <p:nvPr/>
        </p:nvSpPr>
        <p:spPr>
          <a:xfrm>
            <a:off x="3718495" y="3177900"/>
            <a:ext cx="475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Kai · Shaima · Kolya · Jianing · Fatimah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5"/>
          <p:cNvSpPr/>
          <p:nvPr/>
        </p:nvSpPr>
        <p:spPr>
          <a:xfrm>
            <a:off x="3741420" y="5212070"/>
            <a:ext cx="475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CS673 Software Engineering — Summer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2026-05-25T15:46:46Z</dcterms:created>
  <dc:creator>CS673 Team 1 — BariatricPath</dc:creator>
</cp:coreProperties>
</file>