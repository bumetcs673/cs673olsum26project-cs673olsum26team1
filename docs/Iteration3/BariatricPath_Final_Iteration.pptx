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Ftp3OxwR9aNkuOmgxLokCvx8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5ED656-998D-43FE-8ED1-5B3E3F8F77ED}">
  <a:tblStyle styleId="{955ED656-998D-43FE-8ED1-5B3E3F8F77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AI Contribution</c:v>
                </c:pt>
              </c:strCache>
            </c:strRef>
          </c:tx>
          <c:spPr>
            <a:solidFill>
              <a:schemeClr val="accent1"/>
            </a:solidFill>
            <a:ln w="9525" cap="flat">
              <a:solidFill>
                <a:srgbClr val="F9F9F9"/>
              </a:solidFill>
              <a:prstDash val="solid"/>
              <a:round/>
            </a:ln>
            <a:effectLst/>
          </c:spPr>
          <c:dPt>
            <c:idx val="0"/>
            <c:bubble3D val="0"/>
            <c:spPr>
              <a:solidFill>
                <a:srgbClr val="F4A800"/>
              </a:solidFill>
              <a:effectLst/>
            </c:spPr>
          </c:dPt>
          <c:dPt>
            <c:idx val="1"/>
            <c:bubble3D val="0"/>
            <c:spPr>
              <a:solidFill>
                <a:srgbClr val="1E2761"/>
              </a:solidFill>
              <a:effectLst/>
            </c:spPr>
          </c:dPt>
          <c:dPt>
            <c:idx val="2"/>
            <c:bubble3D val="0"/>
            <c:spPr>
              <a:solidFill>
                <a:srgbClr val="CADCFC"/>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AI-assisted [AI]</c:v>
                </c:pt>
                <c:pt idx="1">
                  <c:v>Hybrid (AI + human refinement) [HYBRID]</c:v>
                </c:pt>
                <c:pt idx="2">
                  <c:v>Human-written [HUMAN]</c:v>
                </c:pt>
              </c:strCache>
            </c:strRef>
          </c:cat>
          <c:val>
            <c:numRef>
              <c:f>Sheet1!$B$2:$B$4</c:f>
              <c:numCache>
                <c:ptCount val="3"/>
                <c:pt idx="0">
                  <c:v>35</c:v>
                </c:pt>
                <c:pt idx="1">
                  <c:v>45</c:v>
                </c:pt>
                <c:pt idx="2">
                  <c:v>20</c:v>
                </c:pt>
              </c:numCache>
            </c:numRef>
          </c:val>
        </c:ser>
        <c:firstSliceAng val="0"/>
        <c:holeSize val="55"/>
      </c:doughnutChart>
      <c:spPr>
        <a:noFill/>
        <a:ln>
          <a:noFill/>
        </a:ln>
        <a:effectLst/>
      </c:spPr>
    </c:plotArea>
    <c:legend>
      <c:legendPos val="b"/>
      <c:overlay val="0"/>
      <c:txPr>
        <a:bodyPr/>
        <a:lstStyle/>
        <a:p>
          <a:pPr>
            <a:defRPr>
              <a:solidFill>
                <a:srgbClr val="1E2761"/>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case diagram built natively in PowerPoint shapes - fully editable. Each actor column lists their primary use cases. The AI Assistant use case appears for all three roles, reflecting our role-based RAG implementation.</a:t>
            </a:r>
            <a:endParaRPr/>
          </a:p>
        </p:txBody>
      </p:sp>
      <p:sp>
        <p:nvSpPr>
          <p:cNvPr id="223" name="Google Shape;2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c69f6a7fb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ec69f6a7fb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3ec69f6a7fb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ec69f6a7fb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3ec69f6a7fb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3ec69f6a7fb_0_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c69f6a7fb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ec69f6a7fb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ec69f6a7fb_0_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ec69f6a7fb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ec69f6a7fb_0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g3ec69f6a7fb_0_1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c69f6a7fb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ec69f6a7fb_0_1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3ec69f6a7fb_0_1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ec69f6a7fb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ec69f6a7fb_0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ec69f6a7fb_0_1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Native PowerPoint sequence diagram - editable. Steps 3-4 show RBAC enforcement before any AI call. Step 7 highlights the internal-only network boundary for the AI service.</a:t>
            </a:r>
            <a:endParaRPr/>
          </a:p>
        </p:txBody>
      </p:sp>
      <p:sp>
        <p:nvSpPr>
          <p:cNvPr id="579" name="Google Shape;57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ec1cabf127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ec1cabf127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g3ec1cabf127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Speaking notes: emphasize that ZAP runs a LIVE attack against the running AI service in CI - this is dynamic, not static, testing. Zero exploitable findings. The 5 informational items are hardening suggestions, not vulnerabilities, and are explained on this slide. If you have a screenshot of the ZAP report or the GitHub Actions run, add it to the right side or as a follow-up slide.</a:t>
            </a:r>
            <a:endParaRPr/>
          </a:p>
        </p:txBody>
      </p:sp>
      <p:sp>
        <p:nvSpPr>
          <p:cNvPr id="899" name="Google Shape;89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ec1cabf12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7" name="Google Shape;957;g3ec1cabf127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Speaking notes: emphasize that ZAP runs a LIVE attack against the running AI service in CI - this is dynamic, not static, testing. Zero exploitable findings. The 5 informational items are hardening suggestions, not vulnerabilities, and are explained on this slide. If you have a screenshot of the ZAP report or the GitHub Actions run, add it to the right side or as a follow-up slide.</a:t>
            </a:r>
            <a:endParaRPr/>
          </a:p>
        </p:txBody>
      </p:sp>
      <p:sp>
        <p:nvSpPr>
          <p:cNvPr id="958" name="Google Shape;958;g3ec1cabf127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5" name="Google Shape;112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1" name="Google Shape;116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21.png"/><Relationship Id="rId8"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2.png"/><Relationship Id="rId11" Type="http://schemas.openxmlformats.org/officeDocument/2006/relationships/image" Target="../media/image13.png"/><Relationship Id="rId10" Type="http://schemas.openxmlformats.org/officeDocument/2006/relationships/image" Target="../media/image10.png"/><Relationship Id="rId9"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6.png"/><Relationship Id="rId9" Type="http://schemas.openxmlformats.org/officeDocument/2006/relationships/image" Target="../media/image35.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2.png"/><Relationship Id="rId8"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7.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5.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5.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4.png"/><Relationship Id="rId4" Type="http://schemas.openxmlformats.org/officeDocument/2006/relationships/image" Target="../media/image38.png"/><Relationship Id="rId5" Type="http://schemas.openxmlformats.org/officeDocument/2006/relationships/image" Target="../media/image9.png"/><Relationship Id="rId6" Type="http://schemas.openxmlformats.org/officeDocument/2006/relationships/image" Target="../media/image59.png"/><Relationship Id="rId7" Type="http://schemas.openxmlformats.org/officeDocument/2006/relationships/image" Target="../media/image40.png"/><Relationship Id="rId8"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26.png"/><Relationship Id="rId10" Type="http://schemas.openxmlformats.org/officeDocument/2006/relationships/image" Target="../media/image35.png"/><Relationship Id="rId9" Type="http://schemas.openxmlformats.org/officeDocument/2006/relationships/image" Target="../media/image46.png"/><Relationship Id="rId5" Type="http://schemas.openxmlformats.org/officeDocument/2006/relationships/image" Target="../media/image45.png"/><Relationship Id="rId6" Type="http://schemas.openxmlformats.org/officeDocument/2006/relationships/image" Target="../media/image32.png"/><Relationship Id="rId7" Type="http://schemas.openxmlformats.org/officeDocument/2006/relationships/image" Target="../media/image56.png"/><Relationship Id="rId8"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1.png"/><Relationship Id="rId4" Type="http://schemas.openxmlformats.org/officeDocument/2006/relationships/image" Target="../media/image14.png"/><Relationship Id="rId9" Type="http://schemas.openxmlformats.org/officeDocument/2006/relationships/image" Target="../media/image35.png"/><Relationship Id="rId5" Type="http://schemas.openxmlformats.org/officeDocument/2006/relationships/image" Target="../media/image25.png"/><Relationship Id="rId6" Type="http://schemas.openxmlformats.org/officeDocument/2006/relationships/image" Target="../media/image76.png"/><Relationship Id="rId7" Type="http://schemas.openxmlformats.org/officeDocument/2006/relationships/image" Target="../media/image32.png"/><Relationship Id="rId8"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58.png"/><Relationship Id="rId10" Type="http://schemas.openxmlformats.org/officeDocument/2006/relationships/image" Target="../media/image35.png"/><Relationship Id="rId9" Type="http://schemas.openxmlformats.org/officeDocument/2006/relationships/image" Target="../media/image57.png"/><Relationship Id="rId5" Type="http://schemas.openxmlformats.org/officeDocument/2006/relationships/image" Target="../media/image64.png"/><Relationship Id="rId6" Type="http://schemas.openxmlformats.org/officeDocument/2006/relationships/image" Target="../media/image68.png"/><Relationship Id="rId7" Type="http://schemas.openxmlformats.org/officeDocument/2006/relationships/image" Target="../media/image56.png"/><Relationship Id="rId8"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64.png"/><Relationship Id="rId10" Type="http://schemas.openxmlformats.org/officeDocument/2006/relationships/image" Target="../media/image58.png"/><Relationship Id="rId9" Type="http://schemas.openxmlformats.org/officeDocument/2006/relationships/image" Target="../media/image35.png"/><Relationship Id="rId5" Type="http://schemas.openxmlformats.org/officeDocument/2006/relationships/image" Target="../media/image68.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5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31.png"/><Relationship Id="rId6" Type="http://schemas.openxmlformats.org/officeDocument/2006/relationships/image" Target="../media/image63.png"/><Relationship Id="rId7"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5.png"/><Relationship Id="rId4" Type="http://schemas.openxmlformats.org/officeDocument/2006/relationships/image" Target="../media/image26.png"/><Relationship Id="rId9" Type="http://schemas.openxmlformats.org/officeDocument/2006/relationships/image" Target="../media/image35.png"/><Relationship Id="rId5" Type="http://schemas.openxmlformats.org/officeDocument/2006/relationships/image" Target="../media/image7.png"/><Relationship Id="rId6" Type="http://schemas.openxmlformats.org/officeDocument/2006/relationships/image" Target="../media/image73.png"/><Relationship Id="rId7" Type="http://schemas.openxmlformats.org/officeDocument/2006/relationships/image" Target="../media/image70.png"/><Relationship Id="rId8"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2.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4.png"/><Relationship Id="rId4" Type="http://schemas.openxmlformats.org/officeDocument/2006/relationships/image" Target="../media/image77.png"/><Relationship Id="rId5"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4.png"/><Relationship Id="rId4" Type="http://schemas.openxmlformats.org/officeDocument/2006/relationships/image" Target="../media/image102.png"/><Relationship Id="rId5" Type="http://schemas.openxmlformats.org/officeDocument/2006/relationships/image" Target="../media/image81.png"/><Relationship Id="rId6"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0.png"/><Relationship Id="rId4"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32.png"/><Relationship Id="rId8" Type="http://schemas.openxmlformats.org/officeDocument/2006/relationships/image" Target="../media/image35.png"/></Relationships>
</file>

<file path=ppt/slides/_rels/slide33.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60.png"/><Relationship Id="rId13" Type="http://schemas.openxmlformats.org/officeDocument/2006/relationships/image" Target="../media/image29.png"/><Relationship Id="rId12" Type="http://schemas.openxmlformats.org/officeDocument/2006/relationships/image" Target="../media/image40.pn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drive.google.com/file/d/1FZTe6AG233DE1ZmQvbI1DW5u_cBetMt7/view?usp=drive_link" TargetMode="External"/><Relationship Id="rId4" Type="http://schemas.openxmlformats.org/officeDocument/2006/relationships/image" Target="../media/image8.png"/><Relationship Id="rId9" Type="http://schemas.openxmlformats.org/officeDocument/2006/relationships/image" Target="../media/image89.png"/><Relationship Id="rId14" Type="http://schemas.openxmlformats.org/officeDocument/2006/relationships/image" Target="../media/image13.png"/><Relationship Id="rId5" Type="http://schemas.openxmlformats.org/officeDocument/2006/relationships/image" Target="../media/image84.png"/><Relationship Id="rId6" Type="http://schemas.openxmlformats.org/officeDocument/2006/relationships/image" Target="../media/image86.png"/><Relationship Id="rId7" Type="http://schemas.openxmlformats.org/officeDocument/2006/relationships/image" Target="../media/image2.png"/><Relationship Id="rId8" Type="http://schemas.openxmlformats.org/officeDocument/2006/relationships/image" Target="../media/image8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chart" Target="../charts/chart1.xml"/><Relationship Id="rId4" Type="http://schemas.openxmlformats.org/officeDocument/2006/relationships/image" Target="../media/image22.png"/><Relationship Id="rId5" Type="http://schemas.openxmlformats.org/officeDocument/2006/relationships/image" Target="../media/image59.png"/><Relationship Id="rId6" Type="http://schemas.openxmlformats.org/officeDocument/2006/relationships/image" Target="../media/image31.png"/><Relationship Id="rId7" Type="http://schemas.openxmlformats.org/officeDocument/2006/relationships/image" Target="../media/image97.png"/><Relationship Id="rId8"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0.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8778240" y="914400"/>
            <a:ext cx="4206240" cy="420624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418320" y="1554480"/>
            <a:ext cx="2926080" cy="292608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0378440" y="2514600"/>
            <a:ext cx="1005840" cy="100584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heartbeat_white.png" id="19" name="Google Shape;19;p1"/>
          <p:cNvPicPr preferRelativeResize="0"/>
          <p:nvPr/>
        </p:nvPicPr>
        <p:blipFill rotWithShape="1">
          <a:blip r:embed="rId3">
            <a:alphaModFix/>
          </a:blip>
          <a:srcRect b="0" l="0" r="0" t="0"/>
          <a:stretch/>
        </p:blipFill>
        <p:spPr>
          <a:xfrm>
            <a:off x="10579608" y="2715768"/>
            <a:ext cx="603504" cy="603504"/>
          </a:xfrm>
          <a:prstGeom prst="rect">
            <a:avLst/>
          </a:prstGeom>
          <a:noFill/>
          <a:ln>
            <a:noFill/>
          </a:ln>
        </p:spPr>
      </p:pic>
      <p:sp>
        <p:nvSpPr>
          <p:cNvPr id="20" name="Google Shape;20;p1"/>
          <p:cNvSpPr/>
          <p:nvPr/>
        </p:nvSpPr>
        <p:spPr>
          <a:xfrm>
            <a:off x="421630" y="1435620"/>
            <a:ext cx="82296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mbria"/>
              <a:buNone/>
            </a:pPr>
            <a:r>
              <a:rPr b="1" i="0" lang="en-US" sz="6400" u="none" cap="none" strike="noStrike">
                <a:solidFill>
                  <a:srgbClr val="FFFFFF"/>
                </a:solidFill>
                <a:latin typeface="Cambria"/>
                <a:ea typeface="Cambria"/>
                <a:cs typeface="Cambria"/>
                <a:sym typeface="Cambria"/>
              </a:rPr>
              <a:t>Bariatric</a:t>
            </a:r>
            <a:r>
              <a:rPr b="1" i="0" lang="en-US" sz="6400" u="none" cap="none" strike="noStrike">
                <a:solidFill>
                  <a:srgbClr val="1155CC"/>
                </a:solidFill>
                <a:latin typeface="Cambria"/>
                <a:ea typeface="Cambria"/>
                <a:cs typeface="Cambria"/>
                <a:sym typeface="Cambria"/>
              </a:rPr>
              <a:t>Pathway</a:t>
            </a:r>
            <a:endParaRPr b="0" i="0" sz="6400" u="none" cap="none" strike="noStrike">
              <a:solidFill>
                <a:srgbClr val="1155CC"/>
              </a:solidFill>
              <a:latin typeface="Calibri"/>
              <a:ea typeface="Calibri"/>
              <a:cs typeface="Calibri"/>
              <a:sym typeface="Calibri"/>
            </a:endParaRPr>
          </a:p>
        </p:txBody>
      </p:sp>
      <p:sp>
        <p:nvSpPr>
          <p:cNvPr id="21" name="Google Shape;21;p1"/>
          <p:cNvSpPr/>
          <p:nvPr/>
        </p:nvSpPr>
        <p:spPr>
          <a:xfrm>
            <a:off x="658368" y="25146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200"/>
              <a:buFont typeface="Calibri"/>
              <a:buNone/>
            </a:pPr>
            <a:r>
              <a:rPr b="0" i="1" lang="en-US" sz="2200" u="none" cap="none" strike="noStrike">
                <a:solidFill>
                  <a:srgbClr val="CADCFC"/>
                </a:solidFill>
                <a:latin typeface="Calibri"/>
                <a:ea typeface="Calibri"/>
                <a:cs typeface="Calibri"/>
                <a:sym typeface="Calibri"/>
              </a:rPr>
              <a:t>A Clinical Evaluation Management System</a:t>
            </a:r>
            <a:endParaRPr b="0" i="0" sz="2200" u="none" cap="none" strike="noStrike">
              <a:solidFill>
                <a:schemeClr val="dk1"/>
              </a:solidFill>
              <a:latin typeface="Calibri"/>
              <a:ea typeface="Calibri"/>
              <a:cs typeface="Calibri"/>
              <a:sym typeface="Calibri"/>
            </a:endParaRPr>
          </a:p>
        </p:txBody>
      </p:sp>
      <p:sp>
        <p:nvSpPr>
          <p:cNvPr id="22" name="Google Shape;22;p1"/>
          <p:cNvSpPr/>
          <p:nvPr/>
        </p:nvSpPr>
        <p:spPr>
          <a:xfrm>
            <a:off x="640080" y="3520440"/>
            <a:ext cx="3931920" cy="457200"/>
          </a:xfrm>
          <a:prstGeom prst="roundRect">
            <a:avLst>
              <a:gd fmla="val 16000" name="adj"/>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640080" y="3520440"/>
            <a:ext cx="3931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400"/>
              <a:buFont typeface="Calibri"/>
              <a:buNone/>
            </a:pPr>
            <a:r>
              <a:rPr b="1" i="0" lang="en-US" sz="1400" u="none" cap="none" strike="noStrike">
                <a:solidFill>
                  <a:srgbClr val="151A47"/>
                </a:solidFill>
                <a:latin typeface="Calibri"/>
                <a:ea typeface="Calibri"/>
                <a:cs typeface="Calibri"/>
                <a:sym typeface="Calibri"/>
              </a:rPr>
              <a:t>FINAL ITERATION PRESENTATION</a:t>
            </a:r>
            <a:endParaRPr b="0" i="0" sz="1400" u="none" cap="none" strike="noStrike">
              <a:solidFill>
                <a:schemeClr val="dk1"/>
              </a:solidFill>
              <a:latin typeface="Calibri"/>
              <a:ea typeface="Calibri"/>
              <a:cs typeface="Calibri"/>
              <a:sym typeface="Calibri"/>
            </a:endParaRPr>
          </a:p>
        </p:txBody>
      </p:sp>
      <p:sp>
        <p:nvSpPr>
          <p:cNvPr id="24" name="Google Shape;24;p1"/>
          <p:cNvSpPr/>
          <p:nvPr/>
        </p:nvSpPr>
        <p:spPr>
          <a:xfrm>
            <a:off x="658368" y="41605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CS673 Software Engineering  -  Team 1  -  Summer 2026</a:t>
            </a:r>
            <a:endParaRPr b="0" i="0" sz="1600" u="none" cap="none" strike="noStrike">
              <a:solidFill>
                <a:schemeClr val="dk1"/>
              </a:solidFill>
              <a:latin typeface="Calibri"/>
              <a:ea typeface="Calibri"/>
              <a:cs typeface="Calibri"/>
              <a:sym typeface="Calibri"/>
            </a:endParaRPr>
          </a:p>
        </p:txBody>
      </p:sp>
      <p:sp>
        <p:nvSpPr>
          <p:cNvPr id="25" name="Google Shape;25;p1"/>
          <p:cNvSpPr/>
          <p:nvPr/>
        </p:nvSpPr>
        <p:spPr>
          <a:xfrm>
            <a:off x="658368" y="60350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9DD"/>
              </a:buClr>
              <a:buSzPts val="1300"/>
              <a:buFont typeface="Calibri"/>
              <a:buNone/>
            </a:pPr>
            <a:r>
              <a:rPr b="0" i="0" lang="en-US" sz="1300" u="none" cap="none" strike="noStrike">
                <a:solidFill>
                  <a:srgbClr val="9AA9DD"/>
                </a:solidFill>
                <a:latin typeface="Calibri"/>
                <a:ea typeface="Calibri"/>
                <a:cs typeface="Calibri"/>
                <a:sym typeface="Calibri"/>
              </a:rPr>
              <a:t>Presented by: Kai Fernandes - Shaima Nimeri - Fatimah Hassan - Kolya Gavlishin - Jianing Li</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OUR TEAM</a:t>
            </a:r>
            <a:endParaRPr b="0" i="0" sz="1200" u="none" cap="none" strike="noStrike">
              <a:solidFill>
                <a:schemeClr val="dk1"/>
              </a:solidFill>
              <a:latin typeface="Calibri"/>
              <a:ea typeface="Calibri"/>
              <a:cs typeface="Calibri"/>
              <a:sym typeface="Calibri"/>
            </a:endParaRPr>
          </a:p>
        </p:txBody>
      </p:sp>
      <p:sp>
        <p:nvSpPr>
          <p:cNvPr id="32" name="Google Shape;32;p2"/>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Meet </a:t>
            </a:r>
            <a:r>
              <a:rPr b="1" lang="en-US" sz="3200">
                <a:solidFill>
                  <a:srgbClr val="1E2761"/>
                </a:solidFill>
                <a:latin typeface="Cambria"/>
                <a:ea typeface="Cambria"/>
                <a:cs typeface="Cambria"/>
                <a:sym typeface="Cambria"/>
              </a:rPr>
              <a:t>BariatricPath’s Team</a:t>
            </a:r>
            <a:endParaRPr b="0" i="0" sz="3200" u="none" cap="none" strike="noStrike">
              <a:solidFill>
                <a:schemeClr val="dk1"/>
              </a:solidFill>
              <a:latin typeface="Calibri"/>
              <a:ea typeface="Calibri"/>
              <a:cs typeface="Calibri"/>
              <a:sym typeface="Calibri"/>
            </a:endParaRPr>
          </a:p>
        </p:txBody>
      </p:sp>
      <p:sp>
        <p:nvSpPr>
          <p:cNvPr id="33" name="Google Shape;33;p2"/>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34" name="Google Shape;34;p2"/>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35" name="Google Shape;35;p2"/>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6" name="Google Shape;36;p2"/>
          <p:cNvSpPr/>
          <p:nvPr/>
        </p:nvSpPr>
        <p:spPr>
          <a:xfrm>
            <a:off x="548650" y="1463056"/>
            <a:ext cx="11091600" cy="1294800"/>
          </a:xfrm>
          <a:prstGeom prst="roundRect">
            <a:avLst>
              <a:gd fmla="val 7368"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822950" y="1463054"/>
            <a:ext cx="10515600" cy="120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Problem</a:t>
            </a:r>
            <a:r>
              <a:rPr lang="en-US" sz="1300">
                <a:solidFill>
                  <a:srgbClr val="1E2761"/>
                </a:solidFill>
                <a:latin typeface="Calibri"/>
                <a:ea typeface="Calibri"/>
                <a:cs typeface="Calibri"/>
                <a:sym typeface="Calibri"/>
              </a:rPr>
              <a:t>: Bariatric surgery requires patients to navigate a complex, multi-stage evaluation process, but today that coordination happens across scattered spreadsheets, emails, and phone calls — leaving patients in the dark and coordinators without a reliable source of truth.</a:t>
            </a:r>
            <a:endParaRPr sz="1300">
              <a:solidFill>
                <a:srgbClr val="1E276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Calibri"/>
              <a:buNone/>
            </a:pPr>
            <a:r>
              <a:t/>
            </a:r>
            <a:endParaRPr sz="1300">
              <a:solidFill>
                <a:srgbClr val="1E276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Solution</a:t>
            </a:r>
            <a:r>
              <a:rPr lang="en-US" sz="1300">
                <a:solidFill>
                  <a:srgbClr val="1E2761"/>
                </a:solidFill>
                <a:latin typeface="Calibri"/>
                <a:ea typeface="Calibri"/>
                <a:cs typeface="Calibri"/>
                <a:sym typeface="Calibri"/>
              </a:rPr>
              <a:t>: BariatricPath brings patients, coordinators, and program directors into one system with real-time status tracking, role-based access, an AI assistant, and a complete audit trail.</a:t>
            </a:r>
            <a:endParaRPr sz="1300">
              <a:solidFill>
                <a:srgbClr val="1E2761"/>
              </a:solidFill>
              <a:latin typeface="Calibri"/>
              <a:ea typeface="Calibri"/>
              <a:cs typeface="Calibri"/>
              <a:sym typeface="Calibri"/>
            </a:endParaRPr>
          </a:p>
        </p:txBody>
      </p:sp>
      <p:sp>
        <p:nvSpPr>
          <p:cNvPr id="38" name="Google Shape;38;p2"/>
          <p:cNvSpPr/>
          <p:nvPr/>
        </p:nvSpPr>
        <p:spPr>
          <a:xfrm>
            <a:off x="283500" y="3139449"/>
            <a:ext cx="2157900" cy="3086100"/>
          </a:xfrm>
          <a:prstGeom prst="roundRect">
            <a:avLst>
              <a:gd fmla="val 339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973862" y="3459480"/>
            <a:ext cx="777300" cy="7773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tie_white.png" id="40" name="Google Shape;40;p2"/>
          <p:cNvPicPr preferRelativeResize="0"/>
          <p:nvPr/>
        </p:nvPicPr>
        <p:blipFill rotWithShape="1">
          <a:blip r:embed="rId3">
            <a:alphaModFix/>
          </a:blip>
          <a:srcRect b="0" l="0" r="0" t="0"/>
          <a:stretch/>
        </p:blipFill>
        <p:spPr>
          <a:xfrm>
            <a:off x="1148741" y="3634359"/>
            <a:ext cx="427482" cy="427482"/>
          </a:xfrm>
          <a:prstGeom prst="rect">
            <a:avLst/>
          </a:prstGeom>
          <a:noFill/>
          <a:ln>
            <a:noFill/>
          </a:ln>
        </p:spPr>
      </p:pic>
      <p:sp>
        <p:nvSpPr>
          <p:cNvPr id="41" name="Google Shape;41;p2"/>
          <p:cNvSpPr/>
          <p:nvPr/>
        </p:nvSpPr>
        <p:spPr>
          <a:xfrm>
            <a:off x="283490" y="4328160"/>
            <a:ext cx="2157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1600"/>
              <a:buFont typeface="Cambria"/>
              <a:buNone/>
            </a:pPr>
            <a:r>
              <a:rPr b="1" i="0" lang="en-US" sz="1600" u="none" cap="none" strike="noStrike">
                <a:solidFill>
                  <a:srgbClr val="F4A800"/>
                </a:solidFill>
                <a:latin typeface="Cambria"/>
                <a:ea typeface="Cambria"/>
                <a:cs typeface="Cambria"/>
                <a:sym typeface="Cambria"/>
              </a:rPr>
              <a:t>SN</a:t>
            </a:r>
            <a:endParaRPr b="0" i="0" sz="1600" u="none" cap="none" strike="noStrike">
              <a:solidFill>
                <a:schemeClr val="dk1"/>
              </a:solidFill>
              <a:latin typeface="Calibri"/>
              <a:ea typeface="Calibri"/>
              <a:cs typeface="Calibri"/>
              <a:sym typeface="Calibri"/>
            </a:endParaRPr>
          </a:p>
        </p:txBody>
      </p:sp>
      <p:sp>
        <p:nvSpPr>
          <p:cNvPr id="42" name="Google Shape;42;p2"/>
          <p:cNvSpPr/>
          <p:nvPr/>
        </p:nvSpPr>
        <p:spPr>
          <a:xfrm>
            <a:off x="374930" y="4648200"/>
            <a:ext cx="197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Shaima Nimeri</a:t>
            </a:r>
            <a:endParaRPr b="0" i="0" sz="1400" u="none" cap="none" strike="noStrike">
              <a:solidFill>
                <a:schemeClr val="dk1"/>
              </a:solidFill>
              <a:latin typeface="Calibri"/>
              <a:ea typeface="Calibri"/>
              <a:cs typeface="Calibri"/>
              <a:sym typeface="Calibri"/>
            </a:endParaRPr>
          </a:p>
        </p:txBody>
      </p:sp>
      <p:sp>
        <p:nvSpPr>
          <p:cNvPr id="43" name="Google Shape;43;p2"/>
          <p:cNvSpPr/>
          <p:nvPr/>
        </p:nvSpPr>
        <p:spPr>
          <a:xfrm>
            <a:off x="448075" y="5151125"/>
            <a:ext cx="1828800" cy="86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Team Lead</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Design &amp; Implementation Lead</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Requirement Lead</a:t>
            </a:r>
            <a:endParaRPr b="0" i="0" sz="1100" u="none" cap="none" strike="noStrike">
              <a:solidFill>
                <a:schemeClr val="dk1"/>
              </a:solidFill>
              <a:latin typeface="Calibri"/>
              <a:ea typeface="Calibri"/>
              <a:cs typeface="Calibri"/>
              <a:sym typeface="Calibri"/>
            </a:endParaRPr>
          </a:p>
        </p:txBody>
      </p:sp>
      <p:sp>
        <p:nvSpPr>
          <p:cNvPr id="44" name="Google Shape;44;p2"/>
          <p:cNvSpPr/>
          <p:nvPr/>
        </p:nvSpPr>
        <p:spPr>
          <a:xfrm>
            <a:off x="2642650" y="3139449"/>
            <a:ext cx="2157900" cy="3086100"/>
          </a:xfrm>
          <a:prstGeom prst="roundRect">
            <a:avLst>
              <a:gd fmla="val 339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333014" y="3459480"/>
            <a:ext cx="777300" cy="7773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cog_white.png" id="46" name="Google Shape;46;p2"/>
          <p:cNvPicPr preferRelativeResize="0"/>
          <p:nvPr/>
        </p:nvPicPr>
        <p:blipFill rotWithShape="1">
          <a:blip r:embed="rId4">
            <a:alphaModFix/>
          </a:blip>
          <a:srcRect b="0" l="0" r="0" t="0"/>
          <a:stretch/>
        </p:blipFill>
        <p:spPr>
          <a:xfrm>
            <a:off x="3507893" y="3634359"/>
            <a:ext cx="427482" cy="427482"/>
          </a:xfrm>
          <a:prstGeom prst="rect">
            <a:avLst/>
          </a:prstGeom>
          <a:noFill/>
          <a:ln>
            <a:noFill/>
          </a:ln>
        </p:spPr>
      </p:pic>
      <p:sp>
        <p:nvSpPr>
          <p:cNvPr id="47" name="Google Shape;47;p2"/>
          <p:cNvSpPr/>
          <p:nvPr/>
        </p:nvSpPr>
        <p:spPr>
          <a:xfrm>
            <a:off x="2642642" y="4328160"/>
            <a:ext cx="2157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1600"/>
              <a:buFont typeface="Cambria"/>
              <a:buNone/>
            </a:pPr>
            <a:r>
              <a:rPr b="1" i="0" lang="en-US" sz="1600" u="none" cap="none" strike="noStrike">
                <a:solidFill>
                  <a:srgbClr val="F4A800"/>
                </a:solidFill>
                <a:latin typeface="Cambria"/>
                <a:ea typeface="Cambria"/>
                <a:cs typeface="Cambria"/>
                <a:sym typeface="Cambria"/>
              </a:rPr>
              <a:t>KF</a:t>
            </a:r>
            <a:endParaRPr b="0" i="0" sz="1600" u="none" cap="none" strike="noStrike">
              <a:solidFill>
                <a:schemeClr val="dk1"/>
              </a:solidFill>
              <a:latin typeface="Calibri"/>
              <a:ea typeface="Calibri"/>
              <a:cs typeface="Calibri"/>
              <a:sym typeface="Calibri"/>
            </a:endParaRPr>
          </a:p>
        </p:txBody>
      </p:sp>
      <p:sp>
        <p:nvSpPr>
          <p:cNvPr id="48" name="Google Shape;48;p2"/>
          <p:cNvSpPr/>
          <p:nvPr/>
        </p:nvSpPr>
        <p:spPr>
          <a:xfrm>
            <a:off x="2734082" y="4648200"/>
            <a:ext cx="197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Kai Fernandes</a:t>
            </a:r>
            <a:endParaRPr b="0" i="0" sz="1400" u="none" cap="none" strike="noStrike">
              <a:solidFill>
                <a:schemeClr val="dk1"/>
              </a:solidFill>
              <a:latin typeface="Calibri"/>
              <a:ea typeface="Calibri"/>
              <a:cs typeface="Calibri"/>
              <a:sym typeface="Calibri"/>
            </a:endParaRPr>
          </a:p>
        </p:txBody>
      </p:sp>
      <p:sp>
        <p:nvSpPr>
          <p:cNvPr id="49" name="Google Shape;49;p2"/>
          <p:cNvSpPr/>
          <p:nvPr/>
        </p:nvSpPr>
        <p:spPr>
          <a:xfrm>
            <a:off x="2807231" y="5151125"/>
            <a:ext cx="1828800" cy="86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Team Co-Lead</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Configuration Co-Lead</a:t>
            </a:r>
            <a:endParaRPr b="0" i="0" sz="1100" u="none" cap="none" strike="noStrike">
              <a:solidFill>
                <a:schemeClr val="dk1"/>
              </a:solidFill>
              <a:latin typeface="Calibri"/>
              <a:ea typeface="Calibri"/>
              <a:cs typeface="Calibri"/>
              <a:sym typeface="Calibri"/>
            </a:endParaRPr>
          </a:p>
        </p:txBody>
      </p:sp>
      <p:sp>
        <p:nvSpPr>
          <p:cNvPr id="50" name="Google Shape;50;p2"/>
          <p:cNvSpPr/>
          <p:nvPr/>
        </p:nvSpPr>
        <p:spPr>
          <a:xfrm>
            <a:off x="5001801" y="3139449"/>
            <a:ext cx="2157900" cy="3086100"/>
          </a:xfrm>
          <a:prstGeom prst="roundRect">
            <a:avLst>
              <a:gd fmla="val 339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692166" y="3459480"/>
            <a:ext cx="777300" cy="7773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shield_white.png" id="52" name="Google Shape;52;p2"/>
          <p:cNvPicPr preferRelativeResize="0"/>
          <p:nvPr/>
        </p:nvPicPr>
        <p:blipFill rotWithShape="1">
          <a:blip r:embed="rId5">
            <a:alphaModFix/>
          </a:blip>
          <a:srcRect b="0" l="0" r="0" t="0"/>
          <a:stretch/>
        </p:blipFill>
        <p:spPr>
          <a:xfrm>
            <a:off x="5867045" y="3634359"/>
            <a:ext cx="427482" cy="427482"/>
          </a:xfrm>
          <a:prstGeom prst="rect">
            <a:avLst/>
          </a:prstGeom>
          <a:noFill/>
          <a:ln>
            <a:noFill/>
          </a:ln>
        </p:spPr>
      </p:pic>
      <p:sp>
        <p:nvSpPr>
          <p:cNvPr id="53" name="Google Shape;53;p2"/>
          <p:cNvSpPr/>
          <p:nvPr/>
        </p:nvSpPr>
        <p:spPr>
          <a:xfrm>
            <a:off x="5001794" y="4328160"/>
            <a:ext cx="2157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1600"/>
              <a:buFont typeface="Cambria"/>
              <a:buNone/>
            </a:pPr>
            <a:r>
              <a:rPr b="1" i="0" lang="en-US" sz="1600" u="none" cap="none" strike="noStrike">
                <a:solidFill>
                  <a:srgbClr val="F4A800"/>
                </a:solidFill>
                <a:latin typeface="Cambria"/>
                <a:ea typeface="Cambria"/>
                <a:cs typeface="Cambria"/>
                <a:sym typeface="Cambria"/>
              </a:rPr>
              <a:t>FH</a:t>
            </a:r>
            <a:endParaRPr b="0" i="0" sz="1600" u="none" cap="none" strike="noStrike">
              <a:solidFill>
                <a:schemeClr val="dk1"/>
              </a:solidFill>
              <a:latin typeface="Calibri"/>
              <a:ea typeface="Calibri"/>
              <a:cs typeface="Calibri"/>
              <a:sym typeface="Calibri"/>
            </a:endParaRPr>
          </a:p>
        </p:txBody>
      </p:sp>
      <p:sp>
        <p:nvSpPr>
          <p:cNvPr id="54" name="Google Shape;54;p2"/>
          <p:cNvSpPr/>
          <p:nvPr/>
        </p:nvSpPr>
        <p:spPr>
          <a:xfrm>
            <a:off x="5093234" y="4648200"/>
            <a:ext cx="197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Fatimah Hassan</a:t>
            </a:r>
            <a:endParaRPr b="0" i="0" sz="1400" u="none" cap="none" strike="noStrike">
              <a:solidFill>
                <a:schemeClr val="dk1"/>
              </a:solidFill>
              <a:latin typeface="Calibri"/>
              <a:ea typeface="Calibri"/>
              <a:cs typeface="Calibri"/>
              <a:sym typeface="Calibri"/>
            </a:endParaRPr>
          </a:p>
        </p:txBody>
      </p:sp>
      <p:sp>
        <p:nvSpPr>
          <p:cNvPr id="55" name="Google Shape;55;p2"/>
          <p:cNvSpPr/>
          <p:nvPr/>
        </p:nvSpPr>
        <p:spPr>
          <a:xfrm>
            <a:off x="5166387" y="5151125"/>
            <a:ext cx="1828800" cy="86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Security Lead</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Configuration Co-Lead</a:t>
            </a:r>
            <a:endParaRPr b="0" i="0" sz="1100" u="none" cap="none" strike="noStrike">
              <a:solidFill>
                <a:schemeClr val="dk1"/>
              </a:solidFill>
              <a:latin typeface="Calibri"/>
              <a:ea typeface="Calibri"/>
              <a:cs typeface="Calibri"/>
              <a:sym typeface="Calibri"/>
            </a:endParaRPr>
          </a:p>
        </p:txBody>
      </p:sp>
      <p:sp>
        <p:nvSpPr>
          <p:cNvPr id="56" name="Google Shape;56;p2"/>
          <p:cNvSpPr/>
          <p:nvPr/>
        </p:nvSpPr>
        <p:spPr>
          <a:xfrm>
            <a:off x="7360951" y="3139449"/>
            <a:ext cx="2157900" cy="3086100"/>
          </a:xfrm>
          <a:prstGeom prst="roundRect">
            <a:avLst>
              <a:gd fmla="val 339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8051318" y="3459480"/>
            <a:ext cx="777300" cy="7773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md_white.png" id="58" name="Google Shape;58;p2"/>
          <p:cNvPicPr preferRelativeResize="0"/>
          <p:nvPr/>
        </p:nvPicPr>
        <p:blipFill rotWithShape="1">
          <a:blip r:embed="rId6">
            <a:alphaModFix/>
          </a:blip>
          <a:srcRect b="0" l="0" r="0" t="0"/>
          <a:stretch/>
        </p:blipFill>
        <p:spPr>
          <a:xfrm>
            <a:off x="8226197" y="3634359"/>
            <a:ext cx="427482" cy="427482"/>
          </a:xfrm>
          <a:prstGeom prst="rect">
            <a:avLst/>
          </a:prstGeom>
          <a:noFill/>
          <a:ln>
            <a:noFill/>
          </a:ln>
        </p:spPr>
      </p:pic>
      <p:sp>
        <p:nvSpPr>
          <p:cNvPr id="59" name="Google Shape;59;p2"/>
          <p:cNvSpPr/>
          <p:nvPr/>
        </p:nvSpPr>
        <p:spPr>
          <a:xfrm>
            <a:off x="7360946" y="4328160"/>
            <a:ext cx="2157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1600"/>
              <a:buFont typeface="Cambria"/>
              <a:buNone/>
            </a:pPr>
            <a:r>
              <a:rPr b="1" i="0" lang="en-US" sz="1600" u="none" cap="none" strike="noStrike">
                <a:solidFill>
                  <a:srgbClr val="F4A800"/>
                </a:solidFill>
                <a:latin typeface="Cambria"/>
                <a:ea typeface="Cambria"/>
                <a:cs typeface="Cambria"/>
                <a:sym typeface="Cambria"/>
              </a:rPr>
              <a:t>JL</a:t>
            </a:r>
            <a:endParaRPr b="0" i="0" sz="1600" u="none" cap="none" strike="noStrike">
              <a:solidFill>
                <a:schemeClr val="dk1"/>
              </a:solidFill>
              <a:latin typeface="Calibri"/>
              <a:ea typeface="Calibri"/>
              <a:cs typeface="Calibri"/>
              <a:sym typeface="Calibri"/>
            </a:endParaRPr>
          </a:p>
        </p:txBody>
      </p:sp>
      <p:sp>
        <p:nvSpPr>
          <p:cNvPr id="60" name="Google Shape;60;p2"/>
          <p:cNvSpPr/>
          <p:nvPr/>
        </p:nvSpPr>
        <p:spPr>
          <a:xfrm>
            <a:off x="7452386" y="4648200"/>
            <a:ext cx="197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Jianing Li</a:t>
            </a:r>
            <a:endParaRPr b="0" i="0" sz="1400" u="none" cap="none" strike="noStrike">
              <a:solidFill>
                <a:schemeClr val="dk1"/>
              </a:solidFill>
              <a:latin typeface="Calibri"/>
              <a:ea typeface="Calibri"/>
              <a:cs typeface="Calibri"/>
              <a:sym typeface="Calibri"/>
            </a:endParaRPr>
          </a:p>
        </p:txBody>
      </p:sp>
      <p:sp>
        <p:nvSpPr>
          <p:cNvPr id="61" name="Google Shape;61;p2"/>
          <p:cNvSpPr/>
          <p:nvPr/>
        </p:nvSpPr>
        <p:spPr>
          <a:xfrm>
            <a:off x="7525543" y="5151125"/>
            <a:ext cx="1828800" cy="86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Requirement Co-Lead</a:t>
            </a:r>
            <a:endParaRPr b="0" i="0" sz="1100" u="none" cap="none" strike="noStrike">
              <a:solidFill>
                <a:schemeClr val="dk1"/>
              </a:solidFill>
              <a:latin typeface="Calibri"/>
              <a:ea typeface="Calibri"/>
              <a:cs typeface="Calibri"/>
              <a:sym typeface="Calibri"/>
            </a:endParaRPr>
          </a:p>
        </p:txBody>
      </p:sp>
      <p:sp>
        <p:nvSpPr>
          <p:cNvPr id="62" name="Google Shape;62;p2"/>
          <p:cNvSpPr/>
          <p:nvPr/>
        </p:nvSpPr>
        <p:spPr>
          <a:xfrm>
            <a:off x="9720101" y="3139449"/>
            <a:ext cx="2157900" cy="3086100"/>
          </a:xfrm>
          <a:prstGeom prst="roundRect">
            <a:avLst>
              <a:gd fmla="val 339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0410470" y="3459480"/>
            <a:ext cx="777300" cy="7773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white.png" id="64" name="Google Shape;64;p2"/>
          <p:cNvPicPr preferRelativeResize="0"/>
          <p:nvPr/>
        </p:nvPicPr>
        <p:blipFill rotWithShape="1">
          <a:blip r:embed="rId7">
            <a:alphaModFix/>
          </a:blip>
          <a:srcRect b="0" l="0" r="0" t="0"/>
          <a:stretch/>
        </p:blipFill>
        <p:spPr>
          <a:xfrm>
            <a:off x="10585349" y="3634359"/>
            <a:ext cx="427482" cy="427482"/>
          </a:xfrm>
          <a:prstGeom prst="rect">
            <a:avLst/>
          </a:prstGeom>
          <a:noFill/>
          <a:ln>
            <a:noFill/>
          </a:ln>
        </p:spPr>
      </p:pic>
      <p:sp>
        <p:nvSpPr>
          <p:cNvPr id="65" name="Google Shape;65;p2"/>
          <p:cNvSpPr/>
          <p:nvPr/>
        </p:nvSpPr>
        <p:spPr>
          <a:xfrm>
            <a:off x="9720098" y="4328160"/>
            <a:ext cx="2157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1600"/>
              <a:buFont typeface="Cambria"/>
              <a:buNone/>
            </a:pPr>
            <a:r>
              <a:rPr b="1" i="0" lang="en-US" sz="1600" u="none" cap="none" strike="noStrike">
                <a:solidFill>
                  <a:srgbClr val="F4A800"/>
                </a:solidFill>
                <a:latin typeface="Cambria"/>
                <a:ea typeface="Cambria"/>
                <a:cs typeface="Cambria"/>
                <a:sym typeface="Cambria"/>
              </a:rPr>
              <a:t>KG</a:t>
            </a:r>
            <a:endParaRPr b="0" i="0" sz="1600" u="none" cap="none" strike="noStrike">
              <a:solidFill>
                <a:schemeClr val="dk1"/>
              </a:solidFill>
              <a:latin typeface="Calibri"/>
              <a:ea typeface="Calibri"/>
              <a:cs typeface="Calibri"/>
              <a:sym typeface="Calibri"/>
            </a:endParaRPr>
          </a:p>
        </p:txBody>
      </p:sp>
      <p:sp>
        <p:nvSpPr>
          <p:cNvPr id="66" name="Google Shape;66;p2"/>
          <p:cNvSpPr/>
          <p:nvPr/>
        </p:nvSpPr>
        <p:spPr>
          <a:xfrm>
            <a:off x="9811538" y="4648200"/>
            <a:ext cx="197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Kolya Gavlishin</a:t>
            </a:r>
            <a:endParaRPr b="0" i="0" sz="1400" u="none" cap="none" strike="noStrike">
              <a:solidFill>
                <a:schemeClr val="dk1"/>
              </a:solidFill>
              <a:latin typeface="Calibri"/>
              <a:ea typeface="Calibri"/>
              <a:cs typeface="Calibri"/>
              <a:sym typeface="Calibri"/>
            </a:endParaRPr>
          </a:p>
        </p:txBody>
      </p:sp>
      <p:sp>
        <p:nvSpPr>
          <p:cNvPr id="67" name="Google Shape;67;p2"/>
          <p:cNvSpPr/>
          <p:nvPr/>
        </p:nvSpPr>
        <p:spPr>
          <a:xfrm>
            <a:off x="9884700" y="5151125"/>
            <a:ext cx="1828800" cy="86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QA Lead</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5B6B8C"/>
              </a:buClr>
              <a:buSzPts val="1100"/>
              <a:buFont typeface="Calibri"/>
              <a:buChar char="•"/>
            </a:pPr>
            <a:r>
              <a:rPr b="0" i="0" lang="en-US" sz="1100" u="none" cap="none" strike="noStrike">
                <a:solidFill>
                  <a:srgbClr val="5B6B8C"/>
                </a:solidFill>
                <a:latin typeface="Calibri"/>
                <a:ea typeface="Calibri"/>
                <a:cs typeface="Calibri"/>
                <a:sym typeface="Calibri"/>
              </a:rPr>
              <a:t>Design &amp; Implementation Co-Lead</a:t>
            </a:r>
            <a:endParaRPr b="0" i="0" sz="1100" u="none" cap="none" strike="noStrike">
              <a:solidFill>
                <a:schemeClr val="dk1"/>
              </a:solidFill>
              <a:latin typeface="Calibri"/>
              <a:ea typeface="Calibri"/>
              <a:cs typeface="Calibri"/>
              <a:sym typeface="Calibri"/>
            </a:endParaRPr>
          </a:p>
        </p:txBody>
      </p:sp>
      <p:pic>
        <p:nvPicPr>
          <p:cNvPr descr="/home/claude/slides/logo.png" id="68" name="Google Shape;68;p2"/>
          <p:cNvPicPr preferRelativeResize="0"/>
          <p:nvPr/>
        </p:nvPicPr>
        <p:blipFill rotWithShape="1">
          <a:blip r:embed="rId8">
            <a:alphaModFix/>
          </a:blip>
          <a:srcRect b="0" l="0" r="0" t="0"/>
          <a:stretch/>
        </p:blipFill>
        <p:spPr>
          <a:xfrm>
            <a:off x="10972813" y="236618"/>
            <a:ext cx="100584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73" name="Shape 73"/>
        <p:cNvGrpSpPr/>
        <p:nvPr/>
      </p:nvGrpSpPr>
      <p:grpSpPr>
        <a:xfrm>
          <a:off x="0" y="0"/>
          <a:ext cx="0" cy="0"/>
          <a:chOff x="0" y="0"/>
          <a:chExt cx="0" cy="0"/>
        </a:xfrm>
      </p:grpSpPr>
      <p:sp>
        <p:nvSpPr>
          <p:cNvPr id="74" name="Google Shape;74;p3"/>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75" name="Google Shape;75;p3"/>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76" name="Google Shape;76;p3"/>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77" name="Google Shape;77;p3"/>
          <p:cNvSpPr/>
          <p:nvPr/>
        </p:nvSpPr>
        <p:spPr>
          <a:xfrm>
            <a:off x="548640" y="502920"/>
            <a:ext cx="7315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Today's Agenda</a:t>
            </a:r>
            <a:endParaRPr b="0" i="0" sz="3600" u="none" cap="none" strike="noStrike">
              <a:solidFill>
                <a:schemeClr val="dk1"/>
              </a:solidFill>
              <a:latin typeface="Calibri"/>
              <a:ea typeface="Calibri"/>
              <a:cs typeface="Calibri"/>
              <a:sym typeface="Calibri"/>
            </a:endParaRPr>
          </a:p>
        </p:txBody>
      </p:sp>
      <p:sp>
        <p:nvSpPr>
          <p:cNvPr id="78" name="Google Shape;78;p3"/>
          <p:cNvSpPr/>
          <p:nvPr/>
        </p:nvSpPr>
        <p:spPr>
          <a:xfrm>
            <a:off x="566928" y="12344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1" lang="en-US" sz="1400" u="none" cap="none" strike="noStrike">
                <a:solidFill>
                  <a:srgbClr val="CADCFC"/>
                </a:solidFill>
                <a:latin typeface="Calibri"/>
                <a:ea typeface="Calibri"/>
                <a:cs typeface="Calibri"/>
                <a:sym typeface="Calibri"/>
              </a:rPr>
              <a:t>Final iteration - emphasis on new work, with full project recap</a:t>
            </a:r>
            <a:endParaRPr b="0" i="0" sz="1400" u="none" cap="none" strike="noStrike">
              <a:solidFill>
                <a:schemeClr val="dk1"/>
              </a:solidFill>
              <a:latin typeface="Calibri"/>
              <a:ea typeface="Calibri"/>
              <a:cs typeface="Calibri"/>
              <a:sym typeface="Calibri"/>
            </a:endParaRPr>
          </a:p>
        </p:txBody>
      </p:sp>
      <p:sp>
        <p:nvSpPr>
          <p:cNvPr id="79" name="Google Shape;79;p3"/>
          <p:cNvSpPr/>
          <p:nvPr/>
        </p:nvSpPr>
        <p:spPr>
          <a:xfrm>
            <a:off x="548640" y="1783080"/>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13232" y="1783080"/>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01</a:t>
            </a:r>
            <a:endParaRPr b="0" i="0" sz="2600" u="none" cap="none" strike="noStrike">
              <a:solidFill>
                <a:schemeClr val="dk1"/>
              </a:solidFill>
              <a:latin typeface="Calibri"/>
              <a:ea typeface="Calibri"/>
              <a:cs typeface="Calibri"/>
              <a:sym typeface="Calibri"/>
            </a:endParaRPr>
          </a:p>
        </p:txBody>
      </p:sp>
      <p:sp>
        <p:nvSpPr>
          <p:cNvPr id="81" name="Google Shape;81;p3"/>
          <p:cNvSpPr/>
          <p:nvPr/>
        </p:nvSpPr>
        <p:spPr>
          <a:xfrm>
            <a:off x="5120640" y="2043684"/>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tasks_white.png" id="82" name="Google Shape;82;p3"/>
          <p:cNvPicPr preferRelativeResize="0"/>
          <p:nvPr/>
        </p:nvPicPr>
        <p:blipFill rotWithShape="1">
          <a:blip r:embed="rId3">
            <a:alphaModFix/>
          </a:blip>
          <a:srcRect b="0" l="0" r="0" t="0"/>
          <a:stretch/>
        </p:blipFill>
        <p:spPr>
          <a:xfrm>
            <a:off x="5233797" y="2156841"/>
            <a:ext cx="276606" cy="276606"/>
          </a:xfrm>
          <a:prstGeom prst="rect">
            <a:avLst/>
          </a:prstGeom>
          <a:noFill/>
          <a:ln>
            <a:noFill/>
          </a:ln>
        </p:spPr>
      </p:pic>
      <p:sp>
        <p:nvSpPr>
          <p:cNvPr id="83" name="Google Shape;83;p3"/>
          <p:cNvSpPr/>
          <p:nvPr/>
        </p:nvSpPr>
        <p:spPr>
          <a:xfrm>
            <a:off x="1600200" y="1901952"/>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Requirements &amp; Project Management</a:t>
            </a:r>
            <a:endParaRPr b="0" i="0" sz="1400" u="none" cap="none" strike="noStrike">
              <a:solidFill>
                <a:schemeClr val="dk1"/>
              </a:solidFill>
              <a:latin typeface="Calibri"/>
              <a:ea typeface="Calibri"/>
              <a:cs typeface="Calibri"/>
              <a:sym typeface="Calibri"/>
            </a:endParaRPr>
          </a:p>
        </p:txBody>
      </p:sp>
      <p:sp>
        <p:nvSpPr>
          <p:cNvPr id="84" name="Google Shape;84;p3"/>
          <p:cNvSpPr/>
          <p:nvPr/>
        </p:nvSpPr>
        <p:spPr>
          <a:xfrm>
            <a:off x="1600200" y="2313432"/>
            <a:ext cx="3429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lang="en-US" sz="1050">
                <a:solidFill>
                  <a:srgbClr val="CADCFC"/>
                </a:solidFill>
                <a:latin typeface="Calibri"/>
                <a:ea typeface="Calibri"/>
                <a:cs typeface="Calibri"/>
                <a:sym typeface="Calibri"/>
              </a:rPr>
              <a:t>User stories, INVEST, sprint summary, and use case diagram.</a:t>
            </a:r>
            <a:endParaRPr sz="1050">
              <a:solidFill>
                <a:srgbClr val="CADCFC"/>
              </a:solidFill>
              <a:latin typeface="Calibri"/>
              <a:ea typeface="Calibri"/>
              <a:cs typeface="Calibri"/>
              <a:sym typeface="Calibri"/>
            </a:endParaRPr>
          </a:p>
        </p:txBody>
      </p:sp>
      <p:sp>
        <p:nvSpPr>
          <p:cNvPr id="85" name="Google Shape;85;p3"/>
          <p:cNvSpPr/>
          <p:nvPr/>
        </p:nvSpPr>
        <p:spPr>
          <a:xfrm>
            <a:off x="548640" y="2935224"/>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713232" y="2935224"/>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02</a:t>
            </a:r>
            <a:endParaRPr b="0" i="0" sz="2600" u="none" cap="none" strike="noStrike">
              <a:solidFill>
                <a:schemeClr val="dk1"/>
              </a:solidFill>
              <a:latin typeface="Calibri"/>
              <a:ea typeface="Calibri"/>
              <a:cs typeface="Calibri"/>
              <a:sym typeface="Calibri"/>
            </a:endParaRPr>
          </a:p>
        </p:txBody>
      </p:sp>
      <p:sp>
        <p:nvSpPr>
          <p:cNvPr id="87" name="Google Shape;87;p3"/>
          <p:cNvSpPr/>
          <p:nvPr/>
        </p:nvSpPr>
        <p:spPr>
          <a:xfrm>
            <a:off x="5120640" y="3195828"/>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itemap_white.png" id="88" name="Google Shape;88;p3"/>
          <p:cNvPicPr preferRelativeResize="0"/>
          <p:nvPr/>
        </p:nvPicPr>
        <p:blipFill rotWithShape="1">
          <a:blip r:embed="rId4">
            <a:alphaModFix/>
          </a:blip>
          <a:srcRect b="0" l="0" r="0" t="0"/>
          <a:stretch/>
        </p:blipFill>
        <p:spPr>
          <a:xfrm>
            <a:off x="5233797" y="3308985"/>
            <a:ext cx="276606" cy="276606"/>
          </a:xfrm>
          <a:prstGeom prst="rect">
            <a:avLst/>
          </a:prstGeom>
          <a:noFill/>
          <a:ln>
            <a:noFill/>
          </a:ln>
        </p:spPr>
      </p:pic>
      <p:sp>
        <p:nvSpPr>
          <p:cNvPr id="89" name="Google Shape;89;p3"/>
          <p:cNvSpPr/>
          <p:nvPr/>
        </p:nvSpPr>
        <p:spPr>
          <a:xfrm>
            <a:off x="1600200" y="3054096"/>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Architecture &amp; Design</a:t>
            </a:r>
            <a:endParaRPr b="0" i="0" sz="1400" u="none" cap="none" strike="noStrike">
              <a:solidFill>
                <a:schemeClr val="dk1"/>
              </a:solidFill>
              <a:latin typeface="Calibri"/>
              <a:ea typeface="Calibri"/>
              <a:cs typeface="Calibri"/>
              <a:sym typeface="Calibri"/>
            </a:endParaRPr>
          </a:p>
        </p:txBody>
      </p:sp>
      <p:sp>
        <p:nvSpPr>
          <p:cNvPr id="90" name="Google Shape;90;p3"/>
          <p:cNvSpPr/>
          <p:nvPr/>
        </p:nvSpPr>
        <p:spPr>
          <a:xfrm>
            <a:off x="1600200" y="3465576"/>
            <a:ext cx="3429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Three-tier + AI microservice, database design, key decisions</a:t>
            </a:r>
            <a:endParaRPr b="0" i="0" sz="1050" u="none" cap="none" strike="noStrike">
              <a:solidFill>
                <a:schemeClr val="dk1"/>
              </a:solidFill>
              <a:latin typeface="Calibri"/>
              <a:ea typeface="Calibri"/>
              <a:cs typeface="Calibri"/>
              <a:sym typeface="Calibri"/>
            </a:endParaRPr>
          </a:p>
        </p:txBody>
      </p:sp>
      <p:sp>
        <p:nvSpPr>
          <p:cNvPr id="91" name="Google Shape;91;p3"/>
          <p:cNvSpPr/>
          <p:nvPr/>
        </p:nvSpPr>
        <p:spPr>
          <a:xfrm>
            <a:off x="548640" y="4087368"/>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713232" y="4087368"/>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03</a:t>
            </a:r>
            <a:endParaRPr b="0" i="0" sz="2600" u="none" cap="none" strike="noStrike">
              <a:solidFill>
                <a:schemeClr val="dk1"/>
              </a:solidFill>
              <a:latin typeface="Calibri"/>
              <a:ea typeface="Calibri"/>
              <a:cs typeface="Calibri"/>
              <a:sym typeface="Calibri"/>
            </a:endParaRPr>
          </a:p>
        </p:txBody>
      </p:sp>
      <p:sp>
        <p:nvSpPr>
          <p:cNvPr id="93" name="Google Shape;93;p3"/>
          <p:cNvSpPr/>
          <p:nvPr/>
        </p:nvSpPr>
        <p:spPr>
          <a:xfrm>
            <a:off x="5120640" y="4347972"/>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ode_white.png" id="94" name="Google Shape;94;p3"/>
          <p:cNvPicPr preferRelativeResize="0"/>
          <p:nvPr/>
        </p:nvPicPr>
        <p:blipFill rotWithShape="1">
          <a:blip r:embed="rId5">
            <a:alphaModFix/>
          </a:blip>
          <a:srcRect b="0" l="0" r="0" t="0"/>
          <a:stretch/>
        </p:blipFill>
        <p:spPr>
          <a:xfrm>
            <a:off x="5233797" y="4461129"/>
            <a:ext cx="276606" cy="276606"/>
          </a:xfrm>
          <a:prstGeom prst="rect">
            <a:avLst/>
          </a:prstGeom>
          <a:noFill/>
          <a:ln>
            <a:noFill/>
          </a:ln>
        </p:spPr>
      </p:pic>
      <p:sp>
        <p:nvSpPr>
          <p:cNvPr id="95" name="Google Shape;95;p3"/>
          <p:cNvSpPr/>
          <p:nvPr/>
        </p:nvSpPr>
        <p:spPr>
          <a:xfrm>
            <a:off x="1600200" y="4206240"/>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Implementation &amp; AI Chatbot</a:t>
            </a:r>
            <a:endParaRPr b="0" i="0" sz="1400" u="none" cap="none" strike="noStrike">
              <a:solidFill>
                <a:schemeClr val="dk1"/>
              </a:solidFill>
              <a:latin typeface="Calibri"/>
              <a:ea typeface="Calibri"/>
              <a:cs typeface="Calibri"/>
              <a:sym typeface="Calibri"/>
            </a:endParaRPr>
          </a:p>
        </p:txBody>
      </p:sp>
      <p:sp>
        <p:nvSpPr>
          <p:cNvPr id="96" name="Google Shape;96;p3"/>
          <p:cNvSpPr/>
          <p:nvPr/>
        </p:nvSpPr>
        <p:spPr>
          <a:xfrm>
            <a:off x="1600200" y="4617720"/>
            <a:ext cx="3429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Project structure, code metrics, AI chatbot, refactoring</a:t>
            </a:r>
            <a:endParaRPr b="0" i="0" sz="1050" u="none" cap="none" strike="noStrike">
              <a:solidFill>
                <a:schemeClr val="dk1"/>
              </a:solidFill>
              <a:latin typeface="Calibri"/>
              <a:ea typeface="Calibri"/>
              <a:cs typeface="Calibri"/>
              <a:sym typeface="Calibri"/>
            </a:endParaRPr>
          </a:p>
        </p:txBody>
      </p:sp>
      <p:sp>
        <p:nvSpPr>
          <p:cNvPr id="97" name="Google Shape;97;p3"/>
          <p:cNvSpPr/>
          <p:nvPr/>
        </p:nvSpPr>
        <p:spPr>
          <a:xfrm>
            <a:off x="548640" y="5239512"/>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713232" y="5239512"/>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04</a:t>
            </a:r>
            <a:endParaRPr b="0" i="0" sz="2600" u="none" cap="none" strike="noStrike">
              <a:solidFill>
                <a:schemeClr val="dk1"/>
              </a:solidFill>
              <a:latin typeface="Calibri"/>
              <a:ea typeface="Calibri"/>
              <a:cs typeface="Calibri"/>
              <a:sym typeface="Calibri"/>
            </a:endParaRPr>
          </a:p>
        </p:txBody>
      </p:sp>
      <p:sp>
        <p:nvSpPr>
          <p:cNvPr id="99" name="Google Shape;99;p3"/>
          <p:cNvSpPr/>
          <p:nvPr/>
        </p:nvSpPr>
        <p:spPr>
          <a:xfrm>
            <a:off x="5120640" y="5500116"/>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lask_white.png" id="100" name="Google Shape;100;p3"/>
          <p:cNvPicPr preferRelativeResize="0"/>
          <p:nvPr/>
        </p:nvPicPr>
        <p:blipFill rotWithShape="1">
          <a:blip r:embed="rId6">
            <a:alphaModFix/>
          </a:blip>
          <a:srcRect b="0" l="0" r="0" t="0"/>
          <a:stretch/>
        </p:blipFill>
        <p:spPr>
          <a:xfrm>
            <a:off x="5233797" y="5613273"/>
            <a:ext cx="276606" cy="276606"/>
          </a:xfrm>
          <a:prstGeom prst="rect">
            <a:avLst/>
          </a:prstGeom>
          <a:noFill/>
          <a:ln>
            <a:noFill/>
          </a:ln>
        </p:spPr>
      </p:pic>
      <p:sp>
        <p:nvSpPr>
          <p:cNvPr id="101" name="Google Shape;101;p3"/>
          <p:cNvSpPr/>
          <p:nvPr/>
        </p:nvSpPr>
        <p:spPr>
          <a:xfrm>
            <a:off x="1600200" y="5358384"/>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Testing &amp; Q</a:t>
            </a:r>
            <a:r>
              <a:rPr b="1" lang="en-US">
                <a:solidFill>
                  <a:srgbClr val="FFFFFF"/>
                </a:solidFill>
                <a:latin typeface="Calibri"/>
                <a:ea typeface="Calibri"/>
                <a:cs typeface="Calibri"/>
                <a:sym typeface="Calibri"/>
              </a:rPr>
              <a:t>uality Assurance</a:t>
            </a:r>
            <a:endParaRPr b="0" i="0" sz="1400" u="none" cap="none" strike="noStrike">
              <a:solidFill>
                <a:schemeClr val="dk1"/>
              </a:solidFill>
              <a:latin typeface="Calibri"/>
              <a:ea typeface="Calibri"/>
              <a:cs typeface="Calibri"/>
              <a:sym typeface="Calibri"/>
            </a:endParaRPr>
          </a:p>
        </p:txBody>
      </p:sp>
      <p:sp>
        <p:nvSpPr>
          <p:cNvPr id="102" name="Google Shape;102;p3"/>
          <p:cNvSpPr/>
          <p:nvPr/>
        </p:nvSpPr>
        <p:spPr>
          <a:xfrm>
            <a:off x="1600200" y="5769864"/>
            <a:ext cx="3429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Coverage, metrics, pass rates, CI/CD pipeline</a:t>
            </a:r>
            <a:endParaRPr b="0" i="0" sz="1050" u="none" cap="none" strike="noStrike">
              <a:solidFill>
                <a:schemeClr val="dk1"/>
              </a:solidFill>
              <a:latin typeface="Calibri"/>
              <a:ea typeface="Calibri"/>
              <a:cs typeface="Calibri"/>
              <a:sym typeface="Calibri"/>
            </a:endParaRPr>
          </a:p>
        </p:txBody>
      </p:sp>
      <p:sp>
        <p:nvSpPr>
          <p:cNvPr id="103" name="Google Shape;103;p3"/>
          <p:cNvSpPr/>
          <p:nvPr/>
        </p:nvSpPr>
        <p:spPr>
          <a:xfrm>
            <a:off x="6355080" y="1783080"/>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6519672" y="1783080"/>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05</a:t>
            </a:r>
            <a:endParaRPr b="0" i="0" sz="2600" u="none" cap="none" strike="noStrike">
              <a:solidFill>
                <a:schemeClr val="dk1"/>
              </a:solidFill>
              <a:latin typeface="Calibri"/>
              <a:ea typeface="Calibri"/>
              <a:cs typeface="Calibri"/>
              <a:sym typeface="Calibri"/>
            </a:endParaRPr>
          </a:p>
        </p:txBody>
      </p:sp>
      <p:sp>
        <p:nvSpPr>
          <p:cNvPr id="105" name="Google Shape;105;p3"/>
          <p:cNvSpPr/>
          <p:nvPr/>
        </p:nvSpPr>
        <p:spPr>
          <a:xfrm>
            <a:off x="10927080" y="2043684"/>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white.png" id="106" name="Google Shape;106;p3"/>
          <p:cNvPicPr preferRelativeResize="0"/>
          <p:nvPr/>
        </p:nvPicPr>
        <p:blipFill rotWithShape="1">
          <a:blip r:embed="rId7">
            <a:alphaModFix/>
          </a:blip>
          <a:srcRect b="0" l="0" r="0" t="0"/>
          <a:stretch/>
        </p:blipFill>
        <p:spPr>
          <a:xfrm>
            <a:off x="11040237" y="2156841"/>
            <a:ext cx="276606" cy="276606"/>
          </a:xfrm>
          <a:prstGeom prst="rect">
            <a:avLst/>
          </a:prstGeom>
          <a:noFill/>
          <a:ln>
            <a:noFill/>
          </a:ln>
        </p:spPr>
      </p:pic>
      <p:sp>
        <p:nvSpPr>
          <p:cNvPr id="107" name="Google Shape;107;p3"/>
          <p:cNvSpPr/>
          <p:nvPr/>
        </p:nvSpPr>
        <p:spPr>
          <a:xfrm>
            <a:off x="7406640" y="1901952"/>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Security</a:t>
            </a:r>
            <a:endParaRPr b="0" i="0" sz="1400" u="none" cap="none" strike="noStrike">
              <a:solidFill>
                <a:schemeClr val="dk1"/>
              </a:solidFill>
              <a:latin typeface="Calibri"/>
              <a:ea typeface="Calibri"/>
              <a:cs typeface="Calibri"/>
              <a:sym typeface="Calibri"/>
            </a:endParaRPr>
          </a:p>
        </p:txBody>
      </p:sp>
      <p:sp>
        <p:nvSpPr>
          <p:cNvPr id="108" name="Google Shape;108;p3"/>
          <p:cNvSpPr/>
          <p:nvPr/>
        </p:nvSpPr>
        <p:spPr>
          <a:xfrm>
            <a:off x="7406640" y="2313432"/>
            <a:ext cx="3429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Threat model, controls, SAST/DAST pipeline, ZAP results</a:t>
            </a:r>
            <a:endParaRPr b="0" i="0" sz="1050" u="none" cap="none" strike="noStrike">
              <a:solidFill>
                <a:schemeClr val="dk1"/>
              </a:solidFill>
              <a:latin typeface="Calibri"/>
              <a:ea typeface="Calibri"/>
              <a:cs typeface="Calibri"/>
              <a:sym typeface="Calibri"/>
            </a:endParaRPr>
          </a:p>
        </p:txBody>
      </p:sp>
      <p:sp>
        <p:nvSpPr>
          <p:cNvPr id="109" name="Google Shape;109;p3"/>
          <p:cNvSpPr/>
          <p:nvPr/>
        </p:nvSpPr>
        <p:spPr>
          <a:xfrm>
            <a:off x="6355080" y="2935224"/>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6519672" y="2935224"/>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06</a:t>
            </a:r>
            <a:endParaRPr b="0" i="0" sz="2600" u="none" cap="none" strike="noStrike">
              <a:solidFill>
                <a:schemeClr val="dk1"/>
              </a:solidFill>
              <a:latin typeface="Calibri"/>
              <a:ea typeface="Calibri"/>
              <a:cs typeface="Calibri"/>
              <a:sym typeface="Calibri"/>
            </a:endParaRPr>
          </a:p>
        </p:txBody>
      </p:sp>
      <p:sp>
        <p:nvSpPr>
          <p:cNvPr id="111" name="Google Shape;111;p3"/>
          <p:cNvSpPr/>
          <p:nvPr/>
        </p:nvSpPr>
        <p:spPr>
          <a:xfrm>
            <a:off x="10927080" y="3195828"/>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loud_white.png" id="112" name="Google Shape;112;p3"/>
          <p:cNvPicPr preferRelativeResize="0"/>
          <p:nvPr/>
        </p:nvPicPr>
        <p:blipFill rotWithShape="1">
          <a:blip r:embed="rId8">
            <a:alphaModFix/>
          </a:blip>
          <a:srcRect b="0" l="0" r="0" t="0"/>
          <a:stretch/>
        </p:blipFill>
        <p:spPr>
          <a:xfrm>
            <a:off x="11040237" y="3308985"/>
            <a:ext cx="276606" cy="276606"/>
          </a:xfrm>
          <a:prstGeom prst="rect">
            <a:avLst/>
          </a:prstGeom>
          <a:noFill/>
          <a:ln>
            <a:noFill/>
          </a:ln>
        </p:spPr>
      </p:pic>
      <p:sp>
        <p:nvSpPr>
          <p:cNvPr id="113" name="Google Shape;113;p3"/>
          <p:cNvSpPr/>
          <p:nvPr/>
        </p:nvSpPr>
        <p:spPr>
          <a:xfrm>
            <a:off x="7406640" y="3054096"/>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Deployment &amp; Operations</a:t>
            </a:r>
            <a:endParaRPr b="0" i="0" sz="1400" u="none" cap="none" strike="noStrike">
              <a:solidFill>
                <a:schemeClr val="dk1"/>
              </a:solidFill>
              <a:latin typeface="Calibri"/>
              <a:ea typeface="Calibri"/>
              <a:cs typeface="Calibri"/>
              <a:sym typeface="Calibri"/>
            </a:endParaRPr>
          </a:p>
        </p:txBody>
      </p:sp>
      <p:sp>
        <p:nvSpPr>
          <p:cNvPr id="114" name="Google Shape;114;p3"/>
          <p:cNvSpPr/>
          <p:nvPr/>
        </p:nvSpPr>
        <p:spPr>
          <a:xfrm>
            <a:off x="7406640" y="3465576"/>
            <a:ext cx="3429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Docker Compose on DigitalOcean, architecture &amp; limitations</a:t>
            </a:r>
            <a:endParaRPr b="0" i="0" sz="1050" u="none" cap="none" strike="noStrike">
              <a:solidFill>
                <a:schemeClr val="dk1"/>
              </a:solidFill>
              <a:latin typeface="Calibri"/>
              <a:ea typeface="Calibri"/>
              <a:cs typeface="Calibri"/>
              <a:sym typeface="Calibri"/>
            </a:endParaRPr>
          </a:p>
        </p:txBody>
      </p:sp>
      <p:sp>
        <p:nvSpPr>
          <p:cNvPr id="115" name="Google Shape;115;p3"/>
          <p:cNvSpPr/>
          <p:nvPr/>
        </p:nvSpPr>
        <p:spPr>
          <a:xfrm>
            <a:off x="6355080" y="4087368"/>
            <a:ext cx="5349300" cy="1024200"/>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6519672" y="4087368"/>
            <a:ext cx="868800" cy="102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07</a:t>
            </a:r>
            <a:endParaRPr b="0" i="0" sz="2600" u="none" cap="none" strike="noStrike">
              <a:solidFill>
                <a:schemeClr val="dk1"/>
              </a:solidFill>
              <a:latin typeface="Calibri"/>
              <a:ea typeface="Calibri"/>
              <a:cs typeface="Calibri"/>
              <a:sym typeface="Calibri"/>
            </a:endParaRPr>
          </a:p>
        </p:txBody>
      </p:sp>
      <p:sp>
        <p:nvSpPr>
          <p:cNvPr id="117" name="Google Shape;117;p3"/>
          <p:cNvSpPr/>
          <p:nvPr/>
        </p:nvSpPr>
        <p:spPr>
          <a:xfrm>
            <a:off x="10927080" y="4347972"/>
            <a:ext cx="502800" cy="5028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white.png" id="118" name="Google Shape;118;p3"/>
          <p:cNvPicPr preferRelativeResize="0"/>
          <p:nvPr/>
        </p:nvPicPr>
        <p:blipFill rotWithShape="1">
          <a:blip r:embed="rId9">
            <a:alphaModFix/>
          </a:blip>
          <a:srcRect b="0" l="0" r="0" t="0"/>
          <a:stretch/>
        </p:blipFill>
        <p:spPr>
          <a:xfrm>
            <a:off x="11040237" y="4461129"/>
            <a:ext cx="276606" cy="276606"/>
          </a:xfrm>
          <a:prstGeom prst="rect">
            <a:avLst/>
          </a:prstGeom>
          <a:noFill/>
          <a:ln>
            <a:noFill/>
          </a:ln>
        </p:spPr>
      </p:pic>
      <p:sp>
        <p:nvSpPr>
          <p:cNvPr id="119" name="Google Shape;119;p3"/>
          <p:cNvSpPr/>
          <p:nvPr/>
        </p:nvSpPr>
        <p:spPr>
          <a:xfrm>
            <a:off x="7406640" y="4206240"/>
            <a:ext cx="3429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Live Demo</a:t>
            </a:r>
            <a:endParaRPr b="0" i="0" sz="1400" u="none" cap="none" strike="noStrike">
              <a:solidFill>
                <a:schemeClr val="dk1"/>
              </a:solidFill>
              <a:latin typeface="Calibri"/>
              <a:ea typeface="Calibri"/>
              <a:cs typeface="Calibri"/>
              <a:sym typeface="Calibri"/>
            </a:endParaRPr>
          </a:p>
        </p:txBody>
      </p:sp>
      <p:sp>
        <p:nvSpPr>
          <p:cNvPr id="120" name="Google Shape;120;p3"/>
          <p:cNvSpPr/>
          <p:nvPr/>
        </p:nvSpPr>
        <p:spPr>
          <a:xfrm>
            <a:off x="7406640" y="4617720"/>
            <a:ext cx="3429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lang="en-US" sz="1050">
                <a:solidFill>
                  <a:srgbClr val="CADCFC"/>
                </a:solidFill>
                <a:latin typeface="Calibri"/>
                <a:ea typeface="Calibri"/>
                <a:cs typeface="Calibri"/>
                <a:sym typeface="Calibri"/>
              </a:rPr>
              <a:t>Live walkthrough  </a:t>
            </a:r>
            <a:r>
              <a:rPr b="0" i="0" lang="en-US" sz="1050" u="none" cap="none" strike="noStrike">
                <a:solidFill>
                  <a:srgbClr val="CADCFC"/>
                </a:solidFill>
                <a:latin typeface="Calibri"/>
                <a:ea typeface="Calibri"/>
                <a:cs typeface="Calibri"/>
                <a:sym typeface="Calibri"/>
              </a:rPr>
              <a:t>AI contribution summary across the project</a:t>
            </a:r>
            <a:endParaRPr b="0" i="0" sz="1050" u="none" cap="none" strike="noStrike">
              <a:solidFill>
                <a:schemeClr val="dk1"/>
              </a:solidFill>
              <a:latin typeface="Calibri"/>
              <a:ea typeface="Calibri"/>
              <a:cs typeface="Calibri"/>
              <a:sym typeface="Calibri"/>
            </a:endParaRPr>
          </a:p>
        </p:txBody>
      </p:sp>
      <p:sp>
        <p:nvSpPr>
          <p:cNvPr id="121" name="Google Shape;121;p3"/>
          <p:cNvSpPr/>
          <p:nvPr/>
        </p:nvSpPr>
        <p:spPr>
          <a:xfrm>
            <a:off x="6355080" y="5239512"/>
            <a:ext cx="5349240" cy="1024128"/>
          </a:xfrm>
          <a:prstGeom prst="roundRect">
            <a:avLst>
              <a:gd fmla="val 6250"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6519672" y="5239512"/>
            <a:ext cx="868680"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800"/>
              </a:buClr>
              <a:buSzPts val="2600"/>
              <a:buFont typeface="Cambria"/>
              <a:buNone/>
            </a:pPr>
            <a:r>
              <a:rPr b="1" i="0" lang="en-US" sz="2600" u="none" cap="none" strike="noStrike">
                <a:solidFill>
                  <a:srgbClr val="F4A800"/>
                </a:solidFill>
                <a:latin typeface="Cambria"/>
                <a:ea typeface="Cambria"/>
                <a:cs typeface="Cambria"/>
                <a:sym typeface="Cambria"/>
              </a:rPr>
              <a:t>08</a:t>
            </a:r>
            <a:endParaRPr b="0" i="0" sz="2600" u="none" cap="none" strike="noStrike">
              <a:solidFill>
                <a:schemeClr val="dk1"/>
              </a:solidFill>
              <a:latin typeface="Calibri"/>
              <a:ea typeface="Calibri"/>
              <a:cs typeface="Calibri"/>
              <a:sym typeface="Calibri"/>
            </a:endParaRPr>
          </a:p>
        </p:txBody>
      </p:sp>
      <p:sp>
        <p:nvSpPr>
          <p:cNvPr id="123" name="Google Shape;123;p3"/>
          <p:cNvSpPr/>
          <p:nvPr/>
        </p:nvSpPr>
        <p:spPr>
          <a:xfrm>
            <a:off x="10927080" y="5500116"/>
            <a:ext cx="502920" cy="50292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cket_white.png" id="124" name="Google Shape;124;p3"/>
          <p:cNvPicPr preferRelativeResize="0"/>
          <p:nvPr/>
        </p:nvPicPr>
        <p:blipFill rotWithShape="1">
          <a:blip r:embed="rId10">
            <a:alphaModFix/>
          </a:blip>
          <a:srcRect b="0" l="0" r="0" t="0"/>
          <a:stretch/>
        </p:blipFill>
        <p:spPr>
          <a:xfrm>
            <a:off x="11040237" y="5613273"/>
            <a:ext cx="276606" cy="276606"/>
          </a:xfrm>
          <a:prstGeom prst="rect">
            <a:avLst/>
          </a:prstGeom>
          <a:noFill/>
          <a:ln>
            <a:noFill/>
          </a:ln>
        </p:spPr>
      </p:pic>
      <p:sp>
        <p:nvSpPr>
          <p:cNvPr id="125" name="Google Shape;125;p3"/>
          <p:cNvSpPr/>
          <p:nvPr/>
        </p:nvSpPr>
        <p:spPr>
          <a:xfrm>
            <a:off x="7406640" y="5358384"/>
            <a:ext cx="3429000" cy="4114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400"/>
              <a:buFont typeface="Calibri"/>
              <a:buNone/>
            </a:pPr>
            <a:r>
              <a:rPr b="1" lang="en-US">
                <a:solidFill>
                  <a:schemeClr val="lt1"/>
                </a:solidFill>
                <a:latin typeface="Calibri"/>
                <a:ea typeface="Calibri"/>
                <a:cs typeface="Calibri"/>
                <a:sym typeface="Calibri"/>
              </a:rPr>
              <a:t>AI Usage &amp; Lessons Learned</a:t>
            </a:r>
            <a:endParaRPr b="1">
              <a:solidFill>
                <a:srgbClr val="FFFFFF"/>
              </a:solidFill>
              <a:latin typeface="Calibri"/>
              <a:ea typeface="Calibri"/>
              <a:cs typeface="Calibri"/>
              <a:sym typeface="Calibri"/>
            </a:endParaRPr>
          </a:p>
        </p:txBody>
      </p:sp>
      <p:sp>
        <p:nvSpPr>
          <p:cNvPr id="126" name="Google Shape;126;p3"/>
          <p:cNvSpPr/>
          <p:nvPr/>
        </p:nvSpPr>
        <p:spPr>
          <a:xfrm>
            <a:off x="7406650" y="5769875"/>
            <a:ext cx="33375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ADCFC"/>
              </a:buClr>
              <a:buSzPts val="1050"/>
              <a:buFont typeface="Calibri"/>
              <a:buNone/>
            </a:pPr>
            <a:r>
              <a:rPr lang="en-US" sz="1050">
                <a:solidFill>
                  <a:srgbClr val="CADCFC"/>
                </a:solidFill>
                <a:latin typeface="Calibri"/>
                <a:ea typeface="Calibri"/>
                <a:cs typeface="Calibri"/>
                <a:sym typeface="Calibri"/>
              </a:rPr>
              <a:t>AI contribution summary across the project</a:t>
            </a:r>
            <a:r>
              <a:rPr b="0" i="0" lang="en-US" sz="1050" u="none" cap="none" strike="noStrike">
                <a:solidFill>
                  <a:srgbClr val="CADCFC"/>
                </a:solidFill>
                <a:latin typeface="Calibri"/>
                <a:ea typeface="Calibri"/>
                <a:cs typeface="Calibri"/>
                <a:sym typeface="Calibri"/>
              </a:rPr>
              <a:t> + retrospective</a:t>
            </a:r>
            <a:endParaRPr b="0" i="0" sz="1050" u="none" cap="none" strike="noStrike">
              <a:solidFill>
                <a:schemeClr val="dk1"/>
              </a:solidFill>
              <a:latin typeface="Calibri"/>
              <a:ea typeface="Calibri"/>
              <a:cs typeface="Calibri"/>
              <a:sym typeface="Calibri"/>
            </a:endParaRPr>
          </a:p>
        </p:txBody>
      </p:sp>
      <p:pic>
        <p:nvPicPr>
          <p:cNvPr descr="/home/claude/slides/logo_light.png" id="127" name="Google Shape;127;p3"/>
          <p:cNvPicPr preferRelativeResize="0"/>
          <p:nvPr/>
        </p:nvPicPr>
        <p:blipFill rotWithShape="1">
          <a:blip r:embed="rId11">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32" name="Shape 132"/>
        <p:cNvGrpSpPr/>
        <p:nvPr/>
      </p:nvGrpSpPr>
      <p:grpSpPr>
        <a:xfrm>
          <a:off x="0" y="0"/>
          <a:ext cx="0" cy="0"/>
          <a:chOff x="0" y="0"/>
          <a:chExt cx="0" cy="0"/>
        </a:xfrm>
      </p:grpSpPr>
      <p:sp>
        <p:nvSpPr>
          <p:cNvPr id="133" name="Google Shape;133;p4"/>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134" name="Google Shape;134;p4"/>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135" name="Google Shape;135;p4"/>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36" name="Google Shape;136;p4"/>
          <p:cNvSpPr/>
          <p:nvPr/>
        </p:nvSpPr>
        <p:spPr>
          <a:xfrm>
            <a:off x="9052560" y="1188720"/>
            <a:ext cx="3931920" cy="393192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9692640" y="1828800"/>
            <a:ext cx="2651760" cy="265176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10607040" y="2697480"/>
            <a:ext cx="914400" cy="9144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tasks_white.png" id="139" name="Google Shape;139;p4"/>
          <p:cNvPicPr preferRelativeResize="0"/>
          <p:nvPr/>
        </p:nvPicPr>
        <p:blipFill rotWithShape="1">
          <a:blip r:embed="rId3">
            <a:alphaModFix/>
          </a:blip>
          <a:srcRect b="0" l="0" r="0" t="0"/>
          <a:stretch/>
        </p:blipFill>
        <p:spPr>
          <a:xfrm>
            <a:off x="10812780" y="2903220"/>
            <a:ext cx="502920" cy="502920"/>
          </a:xfrm>
          <a:prstGeom prst="rect">
            <a:avLst/>
          </a:prstGeom>
          <a:noFill/>
          <a:ln>
            <a:noFill/>
          </a:ln>
        </p:spPr>
      </p:pic>
      <p:sp>
        <p:nvSpPr>
          <p:cNvPr id="140" name="Google Shape;140;p4"/>
          <p:cNvSpPr/>
          <p:nvPr/>
        </p:nvSpPr>
        <p:spPr>
          <a:xfrm>
            <a:off x="548640" y="1280160"/>
            <a:ext cx="36576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58C"/>
              </a:buClr>
              <a:buSzPts val="11000"/>
              <a:buFont typeface="Cambria"/>
              <a:buNone/>
            </a:pPr>
            <a:r>
              <a:rPr b="1" i="0" lang="en-US" sz="11000" u="none" cap="none" strike="noStrike">
                <a:solidFill>
                  <a:srgbClr val="37458C"/>
                </a:solidFill>
                <a:latin typeface="Cambria"/>
                <a:ea typeface="Cambria"/>
                <a:cs typeface="Cambria"/>
                <a:sym typeface="Cambria"/>
              </a:rPr>
              <a:t>01</a:t>
            </a:r>
            <a:endParaRPr b="0" i="0" sz="11000" u="none" cap="none" strike="noStrike">
              <a:solidFill>
                <a:schemeClr val="dk1"/>
              </a:solidFill>
              <a:latin typeface="Calibri"/>
              <a:ea typeface="Calibri"/>
              <a:cs typeface="Calibri"/>
              <a:sym typeface="Calibri"/>
            </a:endParaRPr>
          </a:p>
        </p:txBody>
      </p:sp>
      <p:sp>
        <p:nvSpPr>
          <p:cNvPr id="141" name="Google Shape;141;p4"/>
          <p:cNvSpPr/>
          <p:nvPr/>
        </p:nvSpPr>
        <p:spPr>
          <a:xfrm>
            <a:off x="594360" y="30175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Requirements &amp;</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A800"/>
              </a:buClr>
              <a:buSzPts val="4800"/>
              <a:buFont typeface="Cambria"/>
              <a:buNone/>
            </a:pPr>
            <a:r>
              <a:rPr b="1" i="0" lang="en-US" sz="4800" u="none" cap="none" strike="noStrike">
                <a:solidFill>
                  <a:srgbClr val="F4A800"/>
                </a:solidFill>
                <a:latin typeface="Cambria"/>
                <a:ea typeface="Cambria"/>
                <a:cs typeface="Cambria"/>
                <a:sym typeface="Cambria"/>
              </a:rPr>
              <a:t>Project Management</a:t>
            </a:r>
            <a:endParaRPr b="0" i="0" sz="4800" u="none" cap="none" strike="noStrike">
              <a:solidFill>
                <a:schemeClr val="dk1"/>
              </a:solidFill>
              <a:latin typeface="Calibri"/>
              <a:ea typeface="Calibri"/>
              <a:cs typeface="Calibri"/>
              <a:sym typeface="Calibri"/>
            </a:endParaRPr>
          </a:p>
        </p:txBody>
      </p:sp>
      <p:sp>
        <p:nvSpPr>
          <p:cNvPr id="142" name="Google Shape;142;p4"/>
          <p:cNvSpPr/>
          <p:nvPr/>
        </p:nvSpPr>
        <p:spPr>
          <a:xfrm>
            <a:off x="612648" y="443484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User stories, INVEST, sprint </a:t>
            </a:r>
            <a:r>
              <a:rPr i="1" lang="en-US" sz="1600">
                <a:solidFill>
                  <a:srgbClr val="CADCFC"/>
                </a:solidFill>
                <a:latin typeface="Calibri"/>
                <a:ea typeface="Calibri"/>
                <a:cs typeface="Calibri"/>
                <a:sym typeface="Calibri"/>
              </a:rPr>
              <a:t>summary</a:t>
            </a:r>
            <a:r>
              <a:rPr b="0" i="1" lang="en-US" sz="1600" u="none" cap="none" strike="noStrike">
                <a:solidFill>
                  <a:srgbClr val="CADCFC"/>
                </a:solidFill>
                <a:latin typeface="Calibri"/>
                <a:ea typeface="Calibri"/>
                <a:cs typeface="Calibri"/>
                <a:sym typeface="Calibri"/>
              </a:rPr>
              <a:t>, </a:t>
            </a:r>
            <a:r>
              <a:rPr i="1" lang="en-US" sz="1600">
                <a:solidFill>
                  <a:srgbClr val="CADCFC"/>
                </a:solidFill>
                <a:latin typeface="Calibri"/>
                <a:ea typeface="Calibri"/>
                <a:cs typeface="Calibri"/>
                <a:sym typeface="Calibri"/>
              </a:rPr>
              <a:t>and use case diagram.</a:t>
            </a:r>
            <a:endParaRPr b="0" i="0" sz="1600" u="none" cap="none" strike="noStrike">
              <a:solidFill>
                <a:schemeClr val="dk1"/>
              </a:solidFill>
              <a:latin typeface="Calibri"/>
              <a:ea typeface="Calibri"/>
              <a:cs typeface="Calibri"/>
              <a:sym typeface="Calibri"/>
            </a:endParaRPr>
          </a:p>
        </p:txBody>
      </p:sp>
      <p:pic>
        <p:nvPicPr>
          <p:cNvPr descr="/home/claude/slides/logo_light.png" id="143" name="Google Shape;143;p4"/>
          <p:cNvPicPr preferRelativeResize="0"/>
          <p:nvPr/>
        </p:nvPicPr>
        <p:blipFill rotWithShape="1">
          <a:blip r:embed="rId4">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5"/>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REQUIREMENT ANALYSIS</a:t>
            </a:r>
            <a:endParaRPr b="0" i="0" sz="1200" u="none" cap="none" strike="noStrike">
              <a:solidFill>
                <a:schemeClr val="dk1"/>
              </a:solidFill>
              <a:latin typeface="Calibri"/>
              <a:ea typeface="Calibri"/>
              <a:cs typeface="Calibri"/>
              <a:sym typeface="Calibri"/>
            </a:endParaRPr>
          </a:p>
        </p:txBody>
      </p:sp>
      <p:sp>
        <p:nvSpPr>
          <p:cNvPr id="150" name="Google Shape;150;p5"/>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How We Manage Requirements</a:t>
            </a:r>
            <a:endParaRPr b="0" i="0" sz="3200" u="none" cap="none" strike="noStrike">
              <a:solidFill>
                <a:schemeClr val="dk1"/>
              </a:solidFill>
              <a:latin typeface="Calibri"/>
              <a:ea typeface="Calibri"/>
              <a:cs typeface="Calibri"/>
              <a:sym typeface="Calibri"/>
            </a:endParaRPr>
          </a:p>
        </p:txBody>
      </p:sp>
      <p:sp>
        <p:nvSpPr>
          <p:cNvPr id="151" name="Google Shape;151;p5"/>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152" name="Google Shape;152;p5"/>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153" name="Google Shape;153;p5"/>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54" name="Google Shape;154;p5"/>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INVEST-compliant user stories tracked in Jira (Atlassian), broken into subtasks with Given/When/Then acceptance criteria.</a:t>
            </a:r>
            <a:endParaRPr b="0" i="0" sz="1300" u="none" cap="none" strike="noStrike">
              <a:solidFill>
                <a:schemeClr val="dk1"/>
              </a:solidFill>
              <a:latin typeface="Calibri"/>
              <a:ea typeface="Calibri"/>
              <a:cs typeface="Calibri"/>
              <a:sym typeface="Calibri"/>
            </a:endParaRPr>
          </a:p>
        </p:txBody>
      </p:sp>
      <p:sp>
        <p:nvSpPr>
          <p:cNvPr id="155" name="Google Shape;155;p5"/>
          <p:cNvSpPr/>
          <p:nvPr/>
        </p:nvSpPr>
        <p:spPr>
          <a:xfrm>
            <a:off x="548640" y="1874520"/>
            <a:ext cx="2697480" cy="1417320"/>
          </a:xfrm>
          <a:prstGeom prst="roundRect">
            <a:avLst>
              <a:gd fmla="val 5161"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548640" y="1920240"/>
            <a:ext cx="26974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4400"/>
              <a:buFont typeface="Cambria"/>
              <a:buNone/>
            </a:pPr>
            <a:r>
              <a:rPr b="1" i="0" lang="en-US" sz="4400" u="none" cap="none" strike="noStrike">
                <a:solidFill>
                  <a:srgbClr val="1E2761"/>
                </a:solidFill>
                <a:latin typeface="Cambria"/>
                <a:ea typeface="Cambria"/>
                <a:cs typeface="Cambria"/>
                <a:sym typeface="Cambria"/>
              </a:rPr>
              <a:t>23</a:t>
            </a:r>
            <a:r>
              <a:rPr b="1" lang="en-US" sz="4400">
                <a:solidFill>
                  <a:srgbClr val="1E2761"/>
                </a:solidFill>
                <a:latin typeface="Cambria"/>
                <a:ea typeface="Cambria"/>
                <a:cs typeface="Cambria"/>
                <a:sym typeface="Cambria"/>
              </a:rPr>
              <a:t>0</a:t>
            </a:r>
            <a:endParaRPr b="0" i="0" sz="4400" u="none" cap="none" strike="noStrike">
              <a:solidFill>
                <a:schemeClr val="dk1"/>
              </a:solidFill>
              <a:latin typeface="Calibri"/>
              <a:ea typeface="Calibri"/>
              <a:cs typeface="Calibri"/>
              <a:sym typeface="Calibri"/>
            </a:endParaRPr>
          </a:p>
        </p:txBody>
      </p:sp>
      <p:sp>
        <p:nvSpPr>
          <p:cNvPr id="157" name="Google Shape;157;p5"/>
          <p:cNvSpPr/>
          <p:nvPr/>
        </p:nvSpPr>
        <p:spPr>
          <a:xfrm>
            <a:off x="685800" y="2697480"/>
            <a:ext cx="2423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100"/>
              <a:buFont typeface="Calibri"/>
              <a:buNone/>
            </a:pPr>
            <a:r>
              <a:rPr b="0" i="0" lang="en-US" sz="1100" u="none" cap="none" strike="noStrike">
                <a:solidFill>
                  <a:srgbClr val="5B6B8C"/>
                </a:solidFill>
                <a:latin typeface="Calibri"/>
                <a:ea typeface="Calibri"/>
                <a:cs typeface="Calibri"/>
                <a:sym typeface="Calibri"/>
              </a:rPr>
              <a:t>Total work items tracked in Jira</a:t>
            </a:r>
            <a:endParaRPr b="0" i="0" sz="1100" u="none" cap="none" strike="noStrike">
              <a:solidFill>
                <a:schemeClr val="dk1"/>
              </a:solidFill>
              <a:latin typeface="Calibri"/>
              <a:ea typeface="Calibri"/>
              <a:cs typeface="Calibri"/>
              <a:sym typeface="Calibri"/>
            </a:endParaRPr>
          </a:p>
        </p:txBody>
      </p:sp>
      <p:sp>
        <p:nvSpPr>
          <p:cNvPr id="158" name="Google Shape;158;p5"/>
          <p:cNvSpPr/>
          <p:nvPr/>
        </p:nvSpPr>
        <p:spPr>
          <a:xfrm>
            <a:off x="3410712" y="1874520"/>
            <a:ext cx="2697480" cy="1417320"/>
          </a:xfrm>
          <a:prstGeom prst="roundRect">
            <a:avLst>
              <a:gd fmla="val 5161"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3410712" y="1920240"/>
            <a:ext cx="26974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4400"/>
              <a:buFont typeface="Cambria"/>
              <a:buNone/>
            </a:pPr>
            <a:r>
              <a:rPr b="1" lang="en-US" sz="4400">
                <a:solidFill>
                  <a:srgbClr val="1E2761"/>
                </a:solidFill>
                <a:latin typeface="Cambria"/>
                <a:ea typeface="Cambria"/>
                <a:cs typeface="Cambria"/>
                <a:sym typeface="Cambria"/>
              </a:rPr>
              <a:t>130</a:t>
            </a:r>
            <a:r>
              <a:rPr b="1" i="0" lang="en-US" sz="4400" u="none" cap="none" strike="noStrike">
                <a:solidFill>
                  <a:srgbClr val="1E2761"/>
                </a:solidFill>
                <a:latin typeface="Cambria"/>
                <a:ea typeface="Cambria"/>
                <a:cs typeface="Cambria"/>
                <a:sym typeface="Cambria"/>
              </a:rPr>
              <a:t>+</a:t>
            </a:r>
            <a:endParaRPr b="0" i="0" sz="4400" u="none" cap="none" strike="noStrike">
              <a:solidFill>
                <a:schemeClr val="dk1"/>
              </a:solidFill>
              <a:latin typeface="Calibri"/>
              <a:ea typeface="Calibri"/>
              <a:cs typeface="Calibri"/>
              <a:sym typeface="Calibri"/>
            </a:endParaRPr>
          </a:p>
        </p:txBody>
      </p:sp>
      <p:sp>
        <p:nvSpPr>
          <p:cNvPr id="160" name="Google Shape;160;p5"/>
          <p:cNvSpPr/>
          <p:nvPr/>
        </p:nvSpPr>
        <p:spPr>
          <a:xfrm>
            <a:off x="3547872" y="2697480"/>
            <a:ext cx="2423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100"/>
              <a:buFont typeface="Calibri"/>
              <a:buNone/>
            </a:pPr>
            <a:r>
              <a:rPr b="0" i="0" lang="en-US" sz="1100" u="none" cap="none" strike="noStrike">
                <a:solidFill>
                  <a:srgbClr val="5B6B8C"/>
                </a:solidFill>
                <a:latin typeface="Calibri"/>
                <a:ea typeface="Calibri"/>
                <a:cs typeface="Calibri"/>
                <a:sym typeface="Calibri"/>
              </a:rPr>
              <a:t>Stories / tasks completed</a:t>
            </a:r>
            <a:endParaRPr b="0" i="0" sz="1100" u="none" cap="none" strike="noStrike">
              <a:solidFill>
                <a:schemeClr val="dk1"/>
              </a:solidFill>
              <a:latin typeface="Calibri"/>
              <a:ea typeface="Calibri"/>
              <a:cs typeface="Calibri"/>
              <a:sym typeface="Calibri"/>
            </a:endParaRPr>
          </a:p>
        </p:txBody>
      </p:sp>
      <p:sp>
        <p:nvSpPr>
          <p:cNvPr id="161" name="Google Shape;161;p5"/>
          <p:cNvSpPr/>
          <p:nvPr/>
        </p:nvSpPr>
        <p:spPr>
          <a:xfrm>
            <a:off x="6272784" y="1874520"/>
            <a:ext cx="2697480" cy="1417320"/>
          </a:xfrm>
          <a:prstGeom prst="roundRect">
            <a:avLst>
              <a:gd fmla="val 5161"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6272784" y="1920240"/>
            <a:ext cx="26974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4400"/>
              <a:buFont typeface="Cambria"/>
              <a:buNone/>
            </a:pPr>
            <a:r>
              <a:rPr b="1" i="0" lang="en-US" sz="4400" u="none" cap="none" strike="noStrike">
                <a:solidFill>
                  <a:srgbClr val="1E2761"/>
                </a:solidFill>
                <a:latin typeface="Cambria"/>
                <a:ea typeface="Cambria"/>
                <a:cs typeface="Cambria"/>
                <a:sym typeface="Cambria"/>
              </a:rPr>
              <a:t>3</a:t>
            </a:r>
            <a:endParaRPr b="0" i="0" sz="4400" u="none" cap="none" strike="noStrike">
              <a:solidFill>
                <a:schemeClr val="dk1"/>
              </a:solidFill>
              <a:latin typeface="Calibri"/>
              <a:ea typeface="Calibri"/>
              <a:cs typeface="Calibri"/>
              <a:sym typeface="Calibri"/>
            </a:endParaRPr>
          </a:p>
        </p:txBody>
      </p:sp>
      <p:sp>
        <p:nvSpPr>
          <p:cNvPr id="163" name="Google Shape;163;p5"/>
          <p:cNvSpPr/>
          <p:nvPr/>
        </p:nvSpPr>
        <p:spPr>
          <a:xfrm>
            <a:off x="6409944" y="2697480"/>
            <a:ext cx="2423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100"/>
              <a:buFont typeface="Calibri"/>
              <a:buNone/>
            </a:pPr>
            <a:r>
              <a:rPr b="0" i="0" lang="en-US" sz="1100" u="none" cap="none" strike="noStrike">
                <a:solidFill>
                  <a:srgbClr val="5B6B8C"/>
                </a:solidFill>
                <a:latin typeface="Calibri"/>
                <a:ea typeface="Calibri"/>
                <a:cs typeface="Calibri"/>
                <a:sym typeface="Calibri"/>
              </a:rPr>
              <a:t>Sprints completed (Iter. 1-3)</a:t>
            </a:r>
            <a:endParaRPr b="0" i="0" sz="1100" u="none" cap="none" strike="noStrike">
              <a:solidFill>
                <a:schemeClr val="dk1"/>
              </a:solidFill>
              <a:latin typeface="Calibri"/>
              <a:ea typeface="Calibri"/>
              <a:cs typeface="Calibri"/>
              <a:sym typeface="Calibri"/>
            </a:endParaRPr>
          </a:p>
        </p:txBody>
      </p:sp>
      <p:sp>
        <p:nvSpPr>
          <p:cNvPr id="164" name="Google Shape;164;p5"/>
          <p:cNvSpPr/>
          <p:nvPr/>
        </p:nvSpPr>
        <p:spPr>
          <a:xfrm>
            <a:off x="9134856" y="1874520"/>
            <a:ext cx="2697480" cy="1417320"/>
          </a:xfrm>
          <a:prstGeom prst="roundRect">
            <a:avLst>
              <a:gd fmla="val 5161"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9134856" y="1920240"/>
            <a:ext cx="26974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4400"/>
              <a:buFont typeface="Cambria"/>
              <a:buNone/>
            </a:pPr>
            <a:r>
              <a:rPr b="1" i="0" lang="en-US" sz="4400" u="none" cap="none" strike="noStrike">
                <a:solidFill>
                  <a:srgbClr val="1E2761"/>
                </a:solidFill>
                <a:latin typeface="Cambria"/>
                <a:ea typeface="Cambria"/>
                <a:cs typeface="Cambria"/>
                <a:sym typeface="Cambria"/>
              </a:rPr>
              <a:t>5</a:t>
            </a:r>
            <a:endParaRPr b="0" i="0" sz="4400" u="none" cap="none" strike="noStrike">
              <a:solidFill>
                <a:schemeClr val="dk1"/>
              </a:solidFill>
              <a:latin typeface="Calibri"/>
              <a:ea typeface="Calibri"/>
              <a:cs typeface="Calibri"/>
              <a:sym typeface="Calibri"/>
            </a:endParaRPr>
          </a:p>
        </p:txBody>
      </p:sp>
      <p:sp>
        <p:nvSpPr>
          <p:cNvPr id="166" name="Google Shape;166;p5"/>
          <p:cNvSpPr/>
          <p:nvPr/>
        </p:nvSpPr>
        <p:spPr>
          <a:xfrm>
            <a:off x="9272016" y="2697480"/>
            <a:ext cx="24231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100"/>
              <a:buFont typeface="Calibri"/>
              <a:buNone/>
            </a:pPr>
            <a:r>
              <a:rPr b="0" i="0" lang="en-US" sz="1100" u="none" cap="none" strike="noStrike">
                <a:solidFill>
                  <a:srgbClr val="5B6B8C"/>
                </a:solidFill>
                <a:latin typeface="Calibri"/>
                <a:ea typeface="Calibri"/>
                <a:cs typeface="Calibri"/>
                <a:sym typeface="Calibri"/>
              </a:rPr>
              <a:t>Avg. story points (Fibonacci)</a:t>
            </a:r>
            <a:endParaRPr b="0" i="0" sz="1100" u="none" cap="none" strike="noStrike">
              <a:solidFill>
                <a:schemeClr val="dk1"/>
              </a:solidFill>
              <a:latin typeface="Calibri"/>
              <a:ea typeface="Calibri"/>
              <a:cs typeface="Calibri"/>
              <a:sym typeface="Calibri"/>
            </a:endParaRPr>
          </a:p>
        </p:txBody>
      </p:sp>
      <p:sp>
        <p:nvSpPr>
          <p:cNvPr id="167" name="Google Shape;167;p5"/>
          <p:cNvSpPr/>
          <p:nvPr/>
        </p:nvSpPr>
        <p:spPr>
          <a:xfrm>
            <a:off x="548640" y="35661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Every story follows INVEST</a:t>
            </a:r>
            <a:endParaRPr b="0" i="0" sz="1600" u="none" cap="none" strike="noStrike">
              <a:solidFill>
                <a:schemeClr val="dk1"/>
              </a:solidFill>
              <a:latin typeface="Calibri"/>
              <a:ea typeface="Calibri"/>
              <a:cs typeface="Calibri"/>
              <a:sym typeface="Calibri"/>
            </a:endParaRPr>
          </a:p>
        </p:txBody>
      </p:sp>
      <p:sp>
        <p:nvSpPr>
          <p:cNvPr id="168" name="Google Shape;168;p5"/>
          <p:cNvSpPr/>
          <p:nvPr/>
        </p:nvSpPr>
        <p:spPr>
          <a:xfrm>
            <a:off x="1220724" y="402336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169" name="Google Shape;169;p5"/>
          <p:cNvPicPr preferRelativeResize="0"/>
          <p:nvPr/>
        </p:nvPicPr>
        <p:blipFill rotWithShape="1">
          <a:blip r:embed="rId3">
            <a:alphaModFix/>
          </a:blip>
          <a:srcRect b="0" l="0" r="0" t="0"/>
          <a:stretch/>
        </p:blipFill>
        <p:spPr>
          <a:xfrm>
            <a:off x="1449095" y="4251731"/>
            <a:ext cx="457" cy="457"/>
          </a:xfrm>
          <a:prstGeom prst="rect">
            <a:avLst/>
          </a:prstGeom>
          <a:noFill/>
          <a:ln>
            <a:noFill/>
          </a:ln>
        </p:spPr>
      </p:pic>
      <p:sp>
        <p:nvSpPr>
          <p:cNvPr id="170" name="Google Shape;170;p5"/>
          <p:cNvSpPr/>
          <p:nvPr/>
        </p:nvSpPr>
        <p:spPr>
          <a:xfrm>
            <a:off x="548640" y="4023360"/>
            <a:ext cx="18013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I</a:t>
            </a:r>
            <a:endParaRPr b="0" i="0" sz="2000" u="none" cap="none" strike="noStrike">
              <a:solidFill>
                <a:schemeClr val="dk1"/>
              </a:solidFill>
              <a:latin typeface="Calibri"/>
              <a:ea typeface="Calibri"/>
              <a:cs typeface="Calibri"/>
              <a:sym typeface="Calibri"/>
            </a:endParaRPr>
          </a:p>
        </p:txBody>
      </p:sp>
      <p:sp>
        <p:nvSpPr>
          <p:cNvPr id="171" name="Google Shape;171;p5"/>
          <p:cNvSpPr/>
          <p:nvPr/>
        </p:nvSpPr>
        <p:spPr>
          <a:xfrm>
            <a:off x="548640" y="4553712"/>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Independent</a:t>
            </a:r>
            <a:endParaRPr b="0" i="0" sz="1200" u="none" cap="none" strike="noStrike">
              <a:solidFill>
                <a:schemeClr val="dk1"/>
              </a:solidFill>
              <a:latin typeface="Calibri"/>
              <a:ea typeface="Calibri"/>
              <a:cs typeface="Calibri"/>
              <a:sym typeface="Calibri"/>
            </a:endParaRPr>
          </a:p>
        </p:txBody>
      </p:sp>
      <p:sp>
        <p:nvSpPr>
          <p:cNvPr id="172" name="Google Shape;172;p5"/>
          <p:cNvSpPr/>
          <p:nvPr/>
        </p:nvSpPr>
        <p:spPr>
          <a:xfrm>
            <a:off x="548640" y="4846320"/>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stands alone</a:t>
            </a:r>
            <a:endParaRPr b="0" i="0" sz="1000" u="none" cap="none" strike="noStrike">
              <a:solidFill>
                <a:schemeClr val="dk1"/>
              </a:solidFill>
              <a:latin typeface="Calibri"/>
              <a:ea typeface="Calibri"/>
              <a:cs typeface="Calibri"/>
              <a:sym typeface="Calibri"/>
            </a:endParaRPr>
          </a:p>
        </p:txBody>
      </p:sp>
      <p:sp>
        <p:nvSpPr>
          <p:cNvPr id="173" name="Google Shape;173;p5"/>
          <p:cNvSpPr/>
          <p:nvPr/>
        </p:nvSpPr>
        <p:spPr>
          <a:xfrm>
            <a:off x="3113532" y="402336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174" name="Google Shape;174;p5"/>
          <p:cNvPicPr preferRelativeResize="0"/>
          <p:nvPr/>
        </p:nvPicPr>
        <p:blipFill rotWithShape="1">
          <a:blip r:embed="rId3">
            <a:alphaModFix/>
          </a:blip>
          <a:srcRect b="0" l="0" r="0" t="0"/>
          <a:stretch/>
        </p:blipFill>
        <p:spPr>
          <a:xfrm>
            <a:off x="3341903" y="4251731"/>
            <a:ext cx="457" cy="457"/>
          </a:xfrm>
          <a:prstGeom prst="rect">
            <a:avLst/>
          </a:prstGeom>
          <a:noFill/>
          <a:ln>
            <a:noFill/>
          </a:ln>
        </p:spPr>
      </p:pic>
      <p:sp>
        <p:nvSpPr>
          <p:cNvPr id="175" name="Google Shape;175;p5"/>
          <p:cNvSpPr/>
          <p:nvPr/>
        </p:nvSpPr>
        <p:spPr>
          <a:xfrm>
            <a:off x="2441448" y="4023360"/>
            <a:ext cx="18013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N</a:t>
            </a:r>
            <a:endParaRPr b="0" i="0" sz="2000" u="none" cap="none" strike="noStrike">
              <a:solidFill>
                <a:schemeClr val="dk1"/>
              </a:solidFill>
              <a:latin typeface="Calibri"/>
              <a:ea typeface="Calibri"/>
              <a:cs typeface="Calibri"/>
              <a:sym typeface="Calibri"/>
            </a:endParaRPr>
          </a:p>
        </p:txBody>
      </p:sp>
      <p:sp>
        <p:nvSpPr>
          <p:cNvPr id="176" name="Google Shape;176;p5"/>
          <p:cNvSpPr/>
          <p:nvPr/>
        </p:nvSpPr>
        <p:spPr>
          <a:xfrm>
            <a:off x="2441448" y="4553712"/>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Negotiable</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2441448" y="4846320"/>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details can shift</a:t>
            </a:r>
            <a:endParaRPr b="0" i="0" sz="1000" u="none" cap="none" strike="noStrike">
              <a:solidFill>
                <a:schemeClr val="dk1"/>
              </a:solidFill>
              <a:latin typeface="Calibri"/>
              <a:ea typeface="Calibri"/>
              <a:cs typeface="Calibri"/>
              <a:sym typeface="Calibri"/>
            </a:endParaRPr>
          </a:p>
        </p:txBody>
      </p:sp>
      <p:sp>
        <p:nvSpPr>
          <p:cNvPr id="178" name="Google Shape;178;p5"/>
          <p:cNvSpPr/>
          <p:nvPr/>
        </p:nvSpPr>
        <p:spPr>
          <a:xfrm>
            <a:off x="5006340" y="402336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179" name="Google Shape;179;p5"/>
          <p:cNvPicPr preferRelativeResize="0"/>
          <p:nvPr/>
        </p:nvPicPr>
        <p:blipFill rotWithShape="1">
          <a:blip r:embed="rId3">
            <a:alphaModFix/>
          </a:blip>
          <a:srcRect b="0" l="0" r="0" t="0"/>
          <a:stretch/>
        </p:blipFill>
        <p:spPr>
          <a:xfrm>
            <a:off x="5234711" y="4251731"/>
            <a:ext cx="457" cy="457"/>
          </a:xfrm>
          <a:prstGeom prst="rect">
            <a:avLst/>
          </a:prstGeom>
          <a:noFill/>
          <a:ln>
            <a:noFill/>
          </a:ln>
        </p:spPr>
      </p:pic>
      <p:sp>
        <p:nvSpPr>
          <p:cNvPr id="180" name="Google Shape;180;p5"/>
          <p:cNvSpPr/>
          <p:nvPr/>
        </p:nvSpPr>
        <p:spPr>
          <a:xfrm>
            <a:off x="4334256" y="4023360"/>
            <a:ext cx="18013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V</a:t>
            </a:r>
            <a:endParaRPr b="0" i="0" sz="2000" u="none" cap="none" strike="noStrike">
              <a:solidFill>
                <a:schemeClr val="dk1"/>
              </a:solidFill>
              <a:latin typeface="Calibri"/>
              <a:ea typeface="Calibri"/>
              <a:cs typeface="Calibri"/>
              <a:sym typeface="Calibri"/>
            </a:endParaRPr>
          </a:p>
        </p:txBody>
      </p:sp>
      <p:sp>
        <p:nvSpPr>
          <p:cNvPr id="181" name="Google Shape;181;p5"/>
          <p:cNvSpPr/>
          <p:nvPr/>
        </p:nvSpPr>
        <p:spPr>
          <a:xfrm>
            <a:off x="4334256" y="4553712"/>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Valuable</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334256" y="4846320"/>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delivers real value</a:t>
            </a:r>
            <a:endParaRPr b="0" i="0" sz="1000" u="none" cap="none" strike="noStrike">
              <a:solidFill>
                <a:schemeClr val="dk1"/>
              </a:solidFill>
              <a:latin typeface="Calibri"/>
              <a:ea typeface="Calibri"/>
              <a:cs typeface="Calibri"/>
              <a:sym typeface="Calibri"/>
            </a:endParaRPr>
          </a:p>
        </p:txBody>
      </p:sp>
      <p:sp>
        <p:nvSpPr>
          <p:cNvPr id="183" name="Google Shape;183;p5"/>
          <p:cNvSpPr/>
          <p:nvPr/>
        </p:nvSpPr>
        <p:spPr>
          <a:xfrm>
            <a:off x="6899148" y="402336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184" name="Google Shape;184;p5"/>
          <p:cNvPicPr preferRelativeResize="0"/>
          <p:nvPr/>
        </p:nvPicPr>
        <p:blipFill rotWithShape="1">
          <a:blip r:embed="rId3">
            <a:alphaModFix/>
          </a:blip>
          <a:srcRect b="0" l="0" r="0" t="0"/>
          <a:stretch/>
        </p:blipFill>
        <p:spPr>
          <a:xfrm>
            <a:off x="7127519" y="4251731"/>
            <a:ext cx="457" cy="457"/>
          </a:xfrm>
          <a:prstGeom prst="rect">
            <a:avLst/>
          </a:prstGeom>
          <a:noFill/>
          <a:ln>
            <a:noFill/>
          </a:ln>
        </p:spPr>
      </p:pic>
      <p:sp>
        <p:nvSpPr>
          <p:cNvPr id="185" name="Google Shape;185;p5"/>
          <p:cNvSpPr/>
          <p:nvPr/>
        </p:nvSpPr>
        <p:spPr>
          <a:xfrm>
            <a:off x="6227064" y="4023360"/>
            <a:ext cx="18013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E</a:t>
            </a:r>
            <a:endParaRPr b="0" i="0" sz="2000" u="none" cap="none" strike="noStrike">
              <a:solidFill>
                <a:schemeClr val="dk1"/>
              </a:solidFill>
              <a:latin typeface="Calibri"/>
              <a:ea typeface="Calibri"/>
              <a:cs typeface="Calibri"/>
              <a:sym typeface="Calibri"/>
            </a:endParaRPr>
          </a:p>
        </p:txBody>
      </p:sp>
      <p:sp>
        <p:nvSpPr>
          <p:cNvPr id="186" name="Google Shape;186;p5"/>
          <p:cNvSpPr/>
          <p:nvPr/>
        </p:nvSpPr>
        <p:spPr>
          <a:xfrm>
            <a:off x="6227064" y="4553712"/>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Estimable</a:t>
            </a:r>
            <a:endParaRPr b="0" i="0" sz="1200" u="none" cap="none" strike="noStrike">
              <a:solidFill>
                <a:schemeClr val="dk1"/>
              </a:solidFill>
              <a:latin typeface="Calibri"/>
              <a:ea typeface="Calibri"/>
              <a:cs typeface="Calibri"/>
              <a:sym typeface="Calibri"/>
            </a:endParaRPr>
          </a:p>
        </p:txBody>
      </p:sp>
      <p:sp>
        <p:nvSpPr>
          <p:cNvPr id="187" name="Google Shape;187;p5"/>
          <p:cNvSpPr/>
          <p:nvPr/>
        </p:nvSpPr>
        <p:spPr>
          <a:xfrm>
            <a:off x="6227064" y="4846320"/>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team can size it</a:t>
            </a:r>
            <a:endParaRPr b="0" i="0" sz="1000" u="none" cap="none" strike="noStrike">
              <a:solidFill>
                <a:schemeClr val="dk1"/>
              </a:solidFill>
              <a:latin typeface="Calibri"/>
              <a:ea typeface="Calibri"/>
              <a:cs typeface="Calibri"/>
              <a:sym typeface="Calibri"/>
            </a:endParaRPr>
          </a:p>
        </p:txBody>
      </p:sp>
      <p:sp>
        <p:nvSpPr>
          <p:cNvPr id="188" name="Google Shape;188;p5"/>
          <p:cNvSpPr/>
          <p:nvPr/>
        </p:nvSpPr>
        <p:spPr>
          <a:xfrm>
            <a:off x="8791956" y="402336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189" name="Google Shape;189;p5"/>
          <p:cNvPicPr preferRelativeResize="0"/>
          <p:nvPr/>
        </p:nvPicPr>
        <p:blipFill rotWithShape="1">
          <a:blip r:embed="rId3">
            <a:alphaModFix/>
          </a:blip>
          <a:srcRect b="0" l="0" r="0" t="0"/>
          <a:stretch/>
        </p:blipFill>
        <p:spPr>
          <a:xfrm>
            <a:off x="9020327" y="4251731"/>
            <a:ext cx="457" cy="457"/>
          </a:xfrm>
          <a:prstGeom prst="rect">
            <a:avLst/>
          </a:prstGeom>
          <a:noFill/>
          <a:ln>
            <a:noFill/>
          </a:ln>
        </p:spPr>
      </p:pic>
      <p:sp>
        <p:nvSpPr>
          <p:cNvPr id="190" name="Google Shape;190;p5"/>
          <p:cNvSpPr/>
          <p:nvPr/>
        </p:nvSpPr>
        <p:spPr>
          <a:xfrm>
            <a:off x="8119872" y="4023360"/>
            <a:ext cx="18013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S</a:t>
            </a:r>
            <a:endParaRPr b="0" i="0" sz="2000" u="none" cap="none" strike="noStrike">
              <a:solidFill>
                <a:schemeClr val="dk1"/>
              </a:solidFill>
              <a:latin typeface="Calibri"/>
              <a:ea typeface="Calibri"/>
              <a:cs typeface="Calibri"/>
              <a:sym typeface="Calibri"/>
            </a:endParaRPr>
          </a:p>
        </p:txBody>
      </p:sp>
      <p:sp>
        <p:nvSpPr>
          <p:cNvPr id="191" name="Google Shape;191;p5"/>
          <p:cNvSpPr/>
          <p:nvPr/>
        </p:nvSpPr>
        <p:spPr>
          <a:xfrm>
            <a:off x="8119872" y="4553712"/>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Small</a:t>
            </a:r>
            <a:endParaRPr b="0" i="0" sz="1200" u="none" cap="none" strike="noStrike">
              <a:solidFill>
                <a:schemeClr val="dk1"/>
              </a:solidFill>
              <a:latin typeface="Calibri"/>
              <a:ea typeface="Calibri"/>
              <a:cs typeface="Calibri"/>
              <a:sym typeface="Calibri"/>
            </a:endParaRPr>
          </a:p>
        </p:txBody>
      </p:sp>
      <p:sp>
        <p:nvSpPr>
          <p:cNvPr id="192" name="Google Shape;192;p5"/>
          <p:cNvSpPr/>
          <p:nvPr/>
        </p:nvSpPr>
        <p:spPr>
          <a:xfrm>
            <a:off x="8119872" y="4846320"/>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fits one iteration</a:t>
            </a:r>
            <a:endParaRPr b="0" i="0" sz="1000" u="none" cap="none" strike="noStrike">
              <a:solidFill>
                <a:schemeClr val="dk1"/>
              </a:solidFill>
              <a:latin typeface="Calibri"/>
              <a:ea typeface="Calibri"/>
              <a:cs typeface="Calibri"/>
              <a:sym typeface="Calibri"/>
            </a:endParaRPr>
          </a:p>
        </p:txBody>
      </p:sp>
      <p:sp>
        <p:nvSpPr>
          <p:cNvPr id="193" name="Google Shape;193;p5"/>
          <p:cNvSpPr/>
          <p:nvPr/>
        </p:nvSpPr>
        <p:spPr>
          <a:xfrm>
            <a:off x="10684764" y="402336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194" name="Google Shape;194;p5"/>
          <p:cNvPicPr preferRelativeResize="0"/>
          <p:nvPr/>
        </p:nvPicPr>
        <p:blipFill rotWithShape="1">
          <a:blip r:embed="rId3">
            <a:alphaModFix/>
          </a:blip>
          <a:srcRect b="0" l="0" r="0" t="0"/>
          <a:stretch/>
        </p:blipFill>
        <p:spPr>
          <a:xfrm>
            <a:off x="10913135" y="4251731"/>
            <a:ext cx="457" cy="457"/>
          </a:xfrm>
          <a:prstGeom prst="rect">
            <a:avLst/>
          </a:prstGeom>
          <a:noFill/>
          <a:ln>
            <a:noFill/>
          </a:ln>
        </p:spPr>
      </p:pic>
      <p:sp>
        <p:nvSpPr>
          <p:cNvPr id="195" name="Google Shape;195;p5"/>
          <p:cNvSpPr/>
          <p:nvPr/>
        </p:nvSpPr>
        <p:spPr>
          <a:xfrm>
            <a:off x="10012680" y="4023360"/>
            <a:ext cx="18013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T</a:t>
            </a:r>
            <a:endParaRPr b="0" i="0" sz="2000" u="none" cap="none" strike="noStrike">
              <a:solidFill>
                <a:schemeClr val="dk1"/>
              </a:solidFill>
              <a:latin typeface="Calibri"/>
              <a:ea typeface="Calibri"/>
              <a:cs typeface="Calibri"/>
              <a:sym typeface="Calibri"/>
            </a:endParaRPr>
          </a:p>
        </p:txBody>
      </p:sp>
      <p:sp>
        <p:nvSpPr>
          <p:cNvPr id="196" name="Google Shape;196;p5"/>
          <p:cNvSpPr/>
          <p:nvPr/>
        </p:nvSpPr>
        <p:spPr>
          <a:xfrm>
            <a:off x="10012680" y="4553712"/>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Testable</a:t>
            </a:r>
            <a:endParaRPr b="0" i="0" sz="1200" u="none" cap="none" strike="noStrike">
              <a:solidFill>
                <a:schemeClr val="dk1"/>
              </a:solidFill>
              <a:latin typeface="Calibri"/>
              <a:ea typeface="Calibri"/>
              <a:cs typeface="Calibri"/>
              <a:sym typeface="Calibri"/>
            </a:endParaRPr>
          </a:p>
        </p:txBody>
      </p:sp>
      <p:sp>
        <p:nvSpPr>
          <p:cNvPr id="197" name="Google Shape;197;p5"/>
          <p:cNvSpPr/>
          <p:nvPr/>
        </p:nvSpPr>
        <p:spPr>
          <a:xfrm>
            <a:off x="10012680" y="4846320"/>
            <a:ext cx="180136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clear acceptance</a:t>
            </a:r>
            <a:endParaRPr b="0" i="0" sz="1000" u="none" cap="none" strike="noStrike">
              <a:solidFill>
                <a:schemeClr val="dk1"/>
              </a:solidFill>
              <a:latin typeface="Calibri"/>
              <a:ea typeface="Calibri"/>
              <a:cs typeface="Calibri"/>
              <a:sym typeface="Calibri"/>
            </a:endParaRPr>
          </a:p>
        </p:txBody>
      </p:sp>
      <p:sp>
        <p:nvSpPr>
          <p:cNvPr id="198" name="Google Shape;198;p5"/>
          <p:cNvSpPr/>
          <p:nvPr/>
        </p:nvSpPr>
        <p:spPr>
          <a:xfrm>
            <a:off x="548640" y="5440680"/>
            <a:ext cx="11091672" cy="1051560"/>
          </a:xfrm>
          <a:prstGeom prst="roundRect">
            <a:avLst>
              <a:gd fmla="val 6087"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822960" y="5486400"/>
            <a:ext cx="106070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EXAMPLE - BARI-23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761"/>
              </a:buClr>
              <a:buSzPts val="1300"/>
              <a:buFont typeface="Calibri"/>
              <a:buNone/>
            </a:pPr>
            <a:r>
              <a:rPr b="0" i="1" lang="en-US" sz="1300" u="none" cap="none" strike="noStrike">
                <a:solidFill>
                  <a:srgbClr val="1E2761"/>
                </a:solidFill>
                <a:latin typeface="Calibri"/>
                <a:ea typeface="Calibri"/>
                <a:cs typeface="Calibri"/>
                <a:sym typeface="Calibri"/>
              </a:rPr>
              <a:t>"As a patient, I want my portal status and notifications to update automatically every 30 seconds, so that I always see my current insurance and progress without refreshing."</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5B6B8C"/>
              </a:buClr>
              <a:buSzPts val="1050"/>
              <a:buFont typeface="Calibri"/>
              <a:buNone/>
            </a:pPr>
            <a:r>
              <a:rPr b="0" i="0" lang="en-US" sz="1050" u="none" cap="none" strike="noStrike">
                <a:solidFill>
                  <a:srgbClr val="5B6B8C"/>
                </a:solidFill>
                <a:latin typeface="Calibri"/>
                <a:ea typeface="Calibri"/>
                <a:cs typeface="Calibri"/>
                <a:sym typeface="Calibri"/>
              </a:rPr>
              <a:t>Given/When/Then acceptance tests  -  3 story points  -  Completed Iteration 2</a:t>
            </a:r>
            <a:endParaRPr b="0" i="0" sz="1100" u="none" cap="none" strike="noStrike">
              <a:solidFill>
                <a:schemeClr val="dk1"/>
              </a:solidFill>
              <a:latin typeface="Calibri"/>
              <a:ea typeface="Calibri"/>
              <a:cs typeface="Calibri"/>
              <a:sym typeface="Calibri"/>
            </a:endParaRPr>
          </a:p>
        </p:txBody>
      </p:sp>
      <p:pic>
        <p:nvPicPr>
          <p:cNvPr descr="/home/claude/slides/logo.png" id="200" name="Google Shape;200;p5"/>
          <p:cNvPicPr preferRelativeResize="0"/>
          <p:nvPr/>
        </p:nvPicPr>
        <p:blipFill rotWithShape="1">
          <a:blip r:embed="rId4">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6"/>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PROJECT MANAGEMENT</a:t>
            </a:r>
            <a:endParaRPr b="0" i="0" sz="1200" u="none" cap="none" strike="noStrike">
              <a:solidFill>
                <a:schemeClr val="dk1"/>
              </a:solidFill>
              <a:latin typeface="Calibri"/>
              <a:ea typeface="Calibri"/>
              <a:cs typeface="Calibri"/>
              <a:sym typeface="Calibri"/>
            </a:endParaRPr>
          </a:p>
        </p:txBody>
      </p:sp>
      <p:sp>
        <p:nvSpPr>
          <p:cNvPr id="207" name="Google Shape;207;p6"/>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Iteration Evolution - Sprint 3 Summary</a:t>
            </a:r>
            <a:endParaRPr b="0" i="0" sz="3200" u="none" cap="none" strike="noStrike">
              <a:solidFill>
                <a:schemeClr val="dk1"/>
              </a:solidFill>
              <a:latin typeface="Calibri"/>
              <a:ea typeface="Calibri"/>
              <a:cs typeface="Calibri"/>
              <a:sym typeface="Calibri"/>
            </a:endParaRPr>
          </a:p>
        </p:txBody>
      </p:sp>
      <p:sp>
        <p:nvSpPr>
          <p:cNvPr id="208" name="Google Shape;208;p6"/>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209" name="Google Shape;209;p6"/>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210" name="Google Shape;210;p6"/>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211" name="Google Shape;211;p6"/>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Sprint 3 (Jun 11 - Jun 16): "AI and Deployment" - </a:t>
            </a:r>
            <a:r>
              <a:rPr i="1" lang="en-US" sz="1300">
                <a:solidFill>
                  <a:srgbClr val="5B6B8C"/>
                </a:solidFill>
                <a:latin typeface="Calibri"/>
                <a:ea typeface="Calibri"/>
                <a:cs typeface="Calibri"/>
                <a:sym typeface="Calibri"/>
              </a:rPr>
              <a:t>6 user stories, 3 management tasks</a:t>
            </a:r>
            <a:r>
              <a:rPr b="0" i="1" lang="en-US" sz="1300" u="none" cap="none" strike="noStrike">
                <a:solidFill>
                  <a:srgbClr val="5B6B8C"/>
                </a:solidFill>
                <a:latin typeface="Calibri"/>
                <a:ea typeface="Calibri"/>
                <a:cs typeface="Calibri"/>
                <a:sym typeface="Calibri"/>
              </a:rPr>
              <a:t>, application fully tested, deployed, and completed.</a:t>
            </a:r>
            <a:endParaRPr b="0" i="0" sz="1300" u="none" cap="none" strike="noStrike">
              <a:solidFill>
                <a:schemeClr val="dk1"/>
              </a:solidFill>
              <a:latin typeface="Calibri"/>
              <a:ea typeface="Calibri"/>
              <a:cs typeface="Calibri"/>
              <a:sym typeface="Calibri"/>
            </a:endParaRPr>
          </a:p>
        </p:txBody>
      </p:sp>
      <p:sp>
        <p:nvSpPr>
          <p:cNvPr id="212" name="Google Shape;212;p6"/>
          <p:cNvSpPr/>
          <p:nvPr/>
        </p:nvSpPr>
        <p:spPr>
          <a:xfrm>
            <a:off x="9701975" y="2240225"/>
            <a:ext cx="1502100" cy="2056800"/>
          </a:xfrm>
          <a:prstGeom prst="roundRect">
            <a:avLst>
              <a:gd fmla="val 5517" name="adj"/>
            </a:avLst>
          </a:prstGeom>
          <a:solidFill>
            <a:srgbClr val="E1F5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9850917" y="2363912"/>
            <a:ext cx="1349100" cy="49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9F45"/>
              </a:buClr>
              <a:buSzPts val="1100"/>
              <a:buFont typeface="Calibri"/>
              <a:buNone/>
            </a:pPr>
            <a:r>
              <a:rPr b="1" lang="en-US" sz="1100">
                <a:solidFill>
                  <a:srgbClr val="2C9F45"/>
                </a:solidFill>
                <a:latin typeface="Calibri"/>
                <a:ea typeface="Calibri"/>
                <a:cs typeface="Calibri"/>
                <a:sym typeface="Calibri"/>
              </a:rPr>
              <a:t>Story Points Completed:</a:t>
            </a:r>
            <a:endParaRPr b="0" i="0" sz="1100" u="none" cap="none" strike="noStrike">
              <a:solidFill>
                <a:schemeClr val="dk1"/>
              </a:solidFill>
              <a:latin typeface="Calibri"/>
              <a:ea typeface="Calibri"/>
              <a:cs typeface="Calibri"/>
              <a:sym typeface="Calibri"/>
            </a:endParaRPr>
          </a:p>
        </p:txBody>
      </p:sp>
      <p:sp>
        <p:nvSpPr>
          <p:cNvPr id="214" name="Google Shape;214;p6"/>
          <p:cNvSpPr/>
          <p:nvPr/>
        </p:nvSpPr>
        <p:spPr>
          <a:xfrm>
            <a:off x="9814631" y="2807546"/>
            <a:ext cx="1349100" cy="134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9F45"/>
              </a:buClr>
              <a:buSzPts val="3800"/>
              <a:buFont typeface="Cambria"/>
              <a:buNone/>
            </a:pPr>
            <a:r>
              <a:rPr b="1" i="0" lang="en-US" sz="3800" u="none" cap="none" strike="noStrike">
                <a:solidFill>
                  <a:srgbClr val="2C9F45"/>
                </a:solidFill>
                <a:latin typeface="Cambria"/>
                <a:ea typeface="Cambria"/>
                <a:cs typeface="Cambria"/>
                <a:sym typeface="Cambria"/>
              </a:rPr>
              <a:t>21</a:t>
            </a:r>
            <a:endParaRPr b="0" i="0" sz="3800" u="none" cap="none" strike="noStrike">
              <a:solidFill>
                <a:schemeClr val="dk1"/>
              </a:solidFill>
              <a:latin typeface="Calibri"/>
              <a:ea typeface="Calibri"/>
              <a:cs typeface="Calibri"/>
              <a:sym typeface="Calibri"/>
            </a:endParaRPr>
          </a:p>
        </p:txBody>
      </p:sp>
      <p:sp>
        <p:nvSpPr>
          <p:cNvPr id="215" name="Google Shape;215;p6"/>
          <p:cNvSpPr/>
          <p:nvPr/>
        </p:nvSpPr>
        <p:spPr>
          <a:xfrm>
            <a:off x="956040" y="1843413"/>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lang="en-US" sz="1600">
                <a:solidFill>
                  <a:srgbClr val="1E2761"/>
                </a:solidFill>
                <a:latin typeface="Cambria"/>
                <a:ea typeface="Cambria"/>
                <a:cs typeface="Cambria"/>
                <a:sym typeface="Cambria"/>
              </a:rPr>
              <a:t>C</a:t>
            </a:r>
            <a:r>
              <a:rPr b="1" i="0" lang="en-US" sz="1600" u="none" cap="none" strike="noStrike">
                <a:solidFill>
                  <a:srgbClr val="1E2761"/>
                </a:solidFill>
                <a:latin typeface="Cambria"/>
                <a:ea typeface="Cambria"/>
                <a:cs typeface="Cambria"/>
                <a:sym typeface="Cambria"/>
              </a:rPr>
              <a:t>ompleted items - Sprint 3</a:t>
            </a:r>
            <a:endParaRPr b="0" i="0" sz="1600" u="none" cap="none" strike="noStrike">
              <a:solidFill>
                <a:schemeClr val="dk1"/>
              </a:solidFill>
              <a:latin typeface="Calibri"/>
              <a:ea typeface="Calibri"/>
              <a:cs typeface="Calibri"/>
              <a:sym typeface="Calibri"/>
            </a:endParaRPr>
          </a:p>
        </p:txBody>
      </p:sp>
      <p:graphicFrame>
        <p:nvGraphicFramePr>
          <p:cNvPr id="216" name="Google Shape;216;p6"/>
          <p:cNvGraphicFramePr/>
          <p:nvPr/>
        </p:nvGraphicFramePr>
        <p:xfrm>
          <a:off x="956040" y="2489690"/>
          <a:ext cx="3000000" cy="3000000"/>
        </p:xfrm>
        <a:graphic>
          <a:graphicData uri="http://schemas.openxmlformats.org/drawingml/2006/table">
            <a:tbl>
              <a:tblPr>
                <a:noFill/>
                <a:tableStyleId>{955ED656-998D-43FE-8ED1-5B3E3F8F77ED}</a:tableStyleId>
              </a:tblPr>
              <a:tblGrid>
                <a:gridCol w="1028950"/>
                <a:gridCol w="3429825"/>
                <a:gridCol w="3861975"/>
              </a:tblGrid>
              <a:tr h="48367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Ticket</a:t>
                      </a:r>
                      <a:endParaRPr sz="10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Story</a:t>
                      </a:r>
                      <a:endParaRPr sz="10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Area</a:t>
                      </a:r>
                      <a:endParaRPr sz="10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r>
              <a:tr h="483675">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BARI-25</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View All Patients</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Program Director Dashboard</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83675">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BARI-2</a:t>
                      </a:r>
                      <a:r>
                        <a:rPr lang="en-US" sz="1100">
                          <a:solidFill>
                            <a:srgbClr val="1E2761"/>
                          </a:solidFill>
                          <a:latin typeface="Calibri"/>
                          <a:ea typeface="Calibri"/>
                          <a:cs typeface="Calibri"/>
                          <a:sym typeface="Calibri"/>
                        </a:rPr>
                        <a:t>6</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Filter Patient by Specialist</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Program Director Dashboard</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83675">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BARI-2</a:t>
                      </a:r>
                      <a:r>
                        <a:rPr lang="en-US" sz="1100">
                          <a:solidFill>
                            <a:srgbClr val="1E2761"/>
                          </a:solidFill>
                          <a:latin typeface="Calibri"/>
                          <a:ea typeface="Calibri"/>
                          <a:cs typeface="Calibri"/>
                          <a:sym typeface="Calibri"/>
                        </a:rPr>
                        <a:t>7</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Sort Patients by Stage</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Program Director Dashboard</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83675">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BARI-2</a:t>
                      </a:r>
                      <a:r>
                        <a:rPr lang="en-US" sz="1100">
                          <a:solidFill>
                            <a:srgbClr val="1E2761"/>
                          </a:solidFill>
                          <a:latin typeface="Calibri"/>
                          <a:ea typeface="Calibri"/>
                          <a:cs typeface="Calibri"/>
                          <a:sym typeface="Calibri"/>
                        </a:rPr>
                        <a:t>8</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View Summary Metrics</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Program Director Dashboard</a:t>
                      </a:r>
                      <a:endParaRPr sz="1100">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83675">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a:t>
                      </a:r>
                      <a:r>
                        <a:rPr lang="en-US" sz="1100">
                          <a:solidFill>
                            <a:srgbClr val="1E2761"/>
                          </a:solidFill>
                          <a:latin typeface="Calibri"/>
                          <a:ea typeface="Calibri"/>
                          <a:cs typeface="Calibri"/>
                          <a:sym typeface="Calibri"/>
                        </a:rPr>
                        <a:t>31</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Project Deployment</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a:solidFill>
                            <a:srgbClr val="1E2761"/>
                          </a:solidFill>
                          <a:latin typeface="Calibri"/>
                          <a:ea typeface="Calibri"/>
                          <a:cs typeface="Calibri"/>
                          <a:sym typeface="Calibri"/>
                        </a:rPr>
                        <a:t>Deployment</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83675">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BARI-261</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Patient Forgot Password</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Patient Portal - Security (Firebase reset flow)</a:t>
                      </a:r>
                      <a:endParaRPr sz="1100" u="none" cap="none" strike="noStrike">
                        <a:solidFill>
                          <a:srgbClr val="1E2761"/>
                        </a:solidFill>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sp>
        <p:nvSpPr>
          <p:cNvPr id="217" name="Google Shape;217;p6"/>
          <p:cNvSpPr/>
          <p:nvPr/>
        </p:nvSpPr>
        <p:spPr>
          <a:xfrm>
            <a:off x="548640" y="6217920"/>
            <a:ext cx="11091672" cy="457200"/>
          </a:xfrm>
          <a:prstGeom prst="roundRect">
            <a:avLst>
              <a:gd fmla="val 12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548640" y="6217920"/>
            <a:ext cx="1109167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Across all 3 iterations: </a:t>
            </a:r>
            <a:r>
              <a:rPr b="1" lang="en-US" sz="1150">
                <a:solidFill>
                  <a:srgbClr val="FFFFFF"/>
                </a:solidFill>
                <a:latin typeface="Calibri"/>
                <a:ea typeface="Calibri"/>
                <a:cs typeface="Calibri"/>
                <a:sym typeface="Calibri"/>
              </a:rPr>
              <a:t>230 </a:t>
            </a:r>
            <a:r>
              <a:rPr b="1" i="0" lang="en-US" sz="1150" u="none" cap="none" strike="noStrike">
                <a:solidFill>
                  <a:srgbClr val="FFFFFF"/>
                </a:solidFill>
                <a:latin typeface="Calibri"/>
                <a:ea typeface="Calibri"/>
                <a:cs typeface="Calibri"/>
                <a:sym typeface="Calibri"/>
              </a:rPr>
              <a:t>total work items (including subtasks) - </a:t>
            </a:r>
            <a:r>
              <a:rPr b="1" lang="en-US" sz="1150">
                <a:solidFill>
                  <a:srgbClr val="FFFFFF"/>
                </a:solidFill>
                <a:latin typeface="Calibri"/>
                <a:ea typeface="Calibri"/>
                <a:cs typeface="Calibri"/>
                <a:sym typeface="Calibri"/>
              </a:rPr>
              <a:t>139 </a:t>
            </a:r>
            <a:r>
              <a:rPr b="1" i="0" lang="en-US" sz="1150" u="none" cap="none" strike="noStrike">
                <a:solidFill>
                  <a:srgbClr val="FFFFFF"/>
                </a:solidFill>
                <a:latin typeface="Calibri"/>
                <a:ea typeface="Calibri"/>
                <a:cs typeface="Calibri"/>
                <a:sym typeface="Calibri"/>
              </a:rPr>
              <a:t>Done - </a:t>
            </a:r>
            <a:r>
              <a:rPr b="1" lang="en-US" sz="1150">
                <a:solidFill>
                  <a:srgbClr val="FFFFFF"/>
                </a:solidFill>
                <a:latin typeface="Calibri"/>
                <a:ea typeface="Calibri"/>
                <a:cs typeface="Calibri"/>
                <a:sym typeface="Calibri"/>
              </a:rPr>
              <a:t>90 To Do (Backlog/</a:t>
            </a:r>
            <a:r>
              <a:rPr b="1" i="0" lang="en-US" sz="1150" u="none" cap="none" strike="noStrike">
                <a:solidFill>
                  <a:srgbClr val="FFFFFF"/>
                </a:solidFill>
                <a:latin typeface="Calibri"/>
                <a:ea typeface="Calibri"/>
                <a:cs typeface="Calibri"/>
                <a:sym typeface="Calibri"/>
              </a:rPr>
              <a:t>Icebox) - </a:t>
            </a:r>
            <a:r>
              <a:rPr b="1" lang="en-US" sz="1150">
                <a:solidFill>
                  <a:srgbClr val="FFFFFF"/>
                </a:solidFill>
                <a:latin typeface="Calibri"/>
                <a:ea typeface="Calibri"/>
                <a:cs typeface="Calibri"/>
                <a:sym typeface="Calibri"/>
              </a:rPr>
              <a:t>1</a:t>
            </a:r>
            <a:r>
              <a:rPr b="1" i="0" lang="en-US" sz="1150" u="none" cap="none" strike="noStrike">
                <a:solidFill>
                  <a:srgbClr val="FFFFFF"/>
                </a:solidFill>
                <a:latin typeface="Calibri"/>
                <a:ea typeface="Calibri"/>
                <a:cs typeface="Calibri"/>
                <a:sym typeface="Calibri"/>
              </a:rPr>
              <a:t> In Progress</a:t>
            </a:r>
            <a:endParaRPr b="0" i="0" sz="1150" u="none" cap="none" strike="noStrike">
              <a:solidFill>
                <a:schemeClr val="dk1"/>
              </a:solidFill>
              <a:latin typeface="Calibri"/>
              <a:ea typeface="Calibri"/>
              <a:cs typeface="Calibri"/>
              <a:sym typeface="Calibri"/>
            </a:endParaRPr>
          </a:p>
        </p:txBody>
      </p:sp>
      <p:pic>
        <p:nvPicPr>
          <p:cNvPr descr="/home/claude/slides/logo.png" id="219" name="Google Shape;219;p6"/>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7"/>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REQUIREMENT ANALYSIS - FUNCTIONAL OVERVIEW</a:t>
            </a:r>
            <a:endParaRPr b="0" i="0" sz="1200" u="none" cap="none" strike="noStrike">
              <a:solidFill>
                <a:schemeClr val="dk1"/>
              </a:solidFill>
              <a:latin typeface="Calibri"/>
              <a:ea typeface="Calibri"/>
              <a:cs typeface="Calibri"/>
              <a:sym typeface="Calibri"/>
            </a:endParaRPr>
          </a:p>
        </p:txBody>
      </p:sp>
      <p:sp>
        <p:nvSpPr>
          <p:cNvPr id="226" name="Google Shape;226;p7"/>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Use Case Diagram - BariatricPath</a:t>
            </a:r>
            <a:endParaRPr b="0" i="0" sz="3200" u="none" cap="none" strike="noStrike">
              <a:solidFill>
                <a:schemeClr val="dk1"/>
              </a:solidFill>
              <a:latin typeface="Calibri"/>
              <a:ea typeface="Calibri"/>
              <a:cs typeface="Calibri"/>
              <a:sym typeface="Calibri"/>
            </a:endParaRPr>
          </a:p>
        </p:txBody>
      </p:sp>
      <p:sp>
        <p:nvSpPr>
          <p:cNvPr id="227" name="Google Shape;227;p7"/>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228" name="Google Shape;228;p7"/>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229" name="Google Shape;229;p7"/>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30" name="Google Shape;230;p7"/>
          <p:cNvSpPr/>
          <p:nvPr/>
        </p:nvSpPr>
        <p:spPr>
          <a:xfrm>
            <a:off x="502920" y="1325880"/>
            <a:ext cx="11183112" cy="384048"/>
          </a:xfrm>
          <a:prstGeom prst="roundRect">
            <a:avLst>
              <a:gd fmla="val 14286"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502920" y="1325880"/>
            <a:ext cx="1118311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System: BariatricPath Web Application  (React + Express + AI Microservice)</a:t>
            </a:r>
            <a:endParaRPr b="0" i="0" sz="1200" u="none" cap="none" strike="noStrike">
              <a:solidFill>
                <a:schemeClr val="dk1"/>
              </a:solidFill>
              <a:latin typeface="Calibri"/>
              <a:ea typeface="Calibri"/>
              <a:cs typeface="Calibri"/>
              <a:sym typeface="Calibri"/>
            </a:endParaRPr>
          </a:p>
        </p:txBody>
      </p:sp>
      <p:sp>
        <p:nvSpPr>
          <p:cNvPr id="232" name="Google Shape;232;p7"/>
          <p:cNvSpPr/>
          <p:nvPr/>
        </p:nvSpPr>
        <p:spPr>
          <a:xfrm>
            <a:off x="2071116" y="1874520"/>
            <a:ext cx="640080" cy="64008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md_navy.png" id="233" name="Google Shape;233;p7"/>
          <p:cNvPicPr preferRelativeResize="0"/>
          <p:nvPr/>
        </p:nvPicPr>
        <p:blipFill rotWithShape="1">
          <a:blip r:embed="rId3">
            <a:alphaModFix/>
          </a:blip>
          <a:srcRect b="0" l="0" r="0" t="0"/>
          <a:stretch/>
        </p:blipFill>
        <p:spPr>
          <a:xfrm>
            <a:off x="2215134" y="2018538"/>
            <a:ext cx="352044" cy="352044"/>
          </a:xfrm>
          <a:prstGeom prst="rect">
            <a:avLst/>
          </a:prstGeom>
          <a:noFill/>
          <a:ln>
            <a:noFill/>
          </a:ln>
        </p:spPr>
      </p:pic>
      <p:sp>
        <p:nvSpPr>
          <p:cNvPr id="234" name="Google Shape;234;p7"/>
          <p:cNvSpPr/>
          <p:nvPr/>
        </p:nvSpPr>
        <p:spPr>
          <a:xfrm>
            <a:off x="640080" y="2560320"/>
            <a:ext cx="35021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Patient</a:t>
            </a:r>
            <a:endParaRPr b="0" i="0" sz="1500" u="none" cap="none" strike="noStrike">
              <a:solidFill>
                <a:schemeClr val="dk1"/>
              </a:solidFill>
              <a:latin typeface="Calibri"/>
              <a:ea typeface="Calibri"/>
              <a:cs typeface="Calibri"/>
              <a:sym typeface="Calibri"/>
            </a:endParaRPr>
          </a:p>
        </p:txBody>
      </p:sp>
      <p:sp>
        <p:nvSpPr>
          <p:cNvPr id="235" name="Google Shape;235;p7"/>
          <p:cNvSpPr/>
          <p:nvPr/>
        </p:nvSpPr>
        <p:spPr>
          <a:xfrm>
            <a:off x="640080" y="3017520"/>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731520" y="3017520"/>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Register / Login (Firebase)</a:t>
            </a:r>
            <a:endParaRPr b="0" i="0" sz="1000" u="none" cap="none" strike="noStrike">
              <a:solidFill>
                <a:schemeClr val="dk1"/>
              </a:solidFill>
              <a:latin typeface="Calibri"/>
              <a:ea typeface="Calibri"/>
              <a:cs typeface="Calibri"/>
              <a:sym typeface="Calibri"/>
            </a:endParaRPr>
          </a:p>
        </p:txBody>
      </p:sp>
      <p:sp>
        <p:nvSpPr>
          <p:cNvPr id="237" name="Google Shape;237;p7"/>
          <p:cNvSpPr/>
          <p:nvPr/>
        </p:nvSpPr>
        <p:spPr>
          <a:xfrm>
            <a:off x="640080" y="3433572"/>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731520" y="3433572"/>
            <a:ext cx="3319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Reset Password</a:t>
            </a:r>
            <a:endParaRPr b="0" i="0" sz="1000" u="none" cap="none" strike="noStrike">
              <a:solidFill>
                <a:schemeClr val="dk1"/>
              </a:solidFill>
              <a:latin typeface="Calibri"/>
              <a:ea typeface="Calibri"/>
              <a:cs typeface="Calibri"/>
              <a:sym typeface="Calibri"/>
            </a:endParaRPr>
          </a:p>
        </p:txBody>
      </p:sp>
      <p:sp>
        <p:nvSpPr>
          <p:cNvPr id="239" name="Google Shape;239;p7"/>
          <p:cNvSpPr/>
          <p:nvPr/>
        </p:nvSpPr>
        <p:spPr>
          <a:xfrm>
            <a:off x="640080" y="3849624"/>
            <a:ext cx="3502200" cy="36570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Accept Privacy Policy</a:t>
            </a:r>
            <a:endParaRPr sz="1000">
              <a:solidFill>
                <a:srgbClr val="1E2761"/>
              </a:solidFill>
              <a:latin typeface="Calibri"/>
              <a:ea typeface="Calibri"/>
              <a:cs typeface="Calibri"/>
              <a:sym typeface="Calibri"/>
            </a:endParaRPr>
          </a:p>
        </p:txBody>
      </p:sp>
      <p:sp>
        <p:nvSpPr>
          <p:cNvPr id="240" name="Google Shape;240;p7"/>
          <p:cNvSpPr/>
          <p:nvPr/>
        </p:nvSpPr>
        <p:spPr>
          <a:xfrm>
            <a:off x="822945" y="6382499"/>
            <a:ext cx="3319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41" name="Google Shape;241;p7"/>
          <p:cNvSpPr/>
          <p:nvPr/>
        </p:nvSpPr>
        <p:spPr>
          <a:xfrm>
            <a:off x="640080" y="4265676"/>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731520" y="4265676"/>
            <a:ext cx="3319272" cy="3657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Complete BMI Intake</a:t>
            </a:r>
            <a:endParaRPr sz="1000">
              <a:solidFill>
                <a:srgbClr val="1E2761"/>
              </a:solidFill>
              <a:latin typeface="Calibri"/>
              <a:ea typeface="Calibri"/>
              <a:cs typeface="Calibri"/>
              <a:sym typeface="Calibri"/>
            </a:endParaRPr>
          </a:p>
        </p:txBody>
      </p:sp>
      <p:sp>
        <p:nvSpPr>
          <p:cNvPr id="243" name="Google Shape;243;p7"/>
          <p:cNvSpPr/>
          <p:nvPr/>
        </p:nvSpPr>
        <p:spPr>
          <a:xfrm>
            <a:off x="640080" y="4681728"/>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731520" y="4681728"/>
            <a:ext cx="3319272" cy="36576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lang="en-US" sz="1000">
                <a:solidFill>
                  <a:srgbClr val="1E2761"/>
                </a:solidFill>
                <a:latin typeface="Calibri"/>
                <a:ea typeface="Calibri"/>
                <a:cs typeface="Calibri"/>
                <a:sym typeface="Calibri"/>
              </a:rPr>
              <a:t>View Appointment Checklist</a:t>
            </a:r>
            <a:endParaRPr sz="1000">
              <a:solidFill>
                <a:schemeClr val="dk1"/>
              </a:solidFill>
              <a:latin typeface="Calibri"/>
              <a:ea typeface="Calibri"/>
              <a:cs typeface="Calibri"/>
              <a:sym typeface="Calibri"/>
            </a:endParaRPr>
          </a:p>
        </p:txBody>
      </p:sp>
      <p:sp>
        <p:nvSpPr>
          <p:cNvPr id="245" name="Google Shape;245;p7"/>
          <p:cNvSpPr/>
          <p:nvPr/>
        </p:nvSpPr>
        <p:spPr>
          <a:xfrm>
            <a:off x="640080" y="5097780"/>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731520" y="5097780"/>
            <a:ext cx="3319272" cy="3657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View Insurance &amp; Specialist Status</a:t>
            </a:r>
            <a:endParaRPr sz="1000">
              <a:solidFill>
                <a:schemeClr val="dk1"/>
              </a:solidFill>
              <a:latin typeface="Calibri"/>
              <a:ea typeface="Calibri"/>
              <a:cs typeface="Calibri"/>
              <a:sym typeface="Calibri"/>
            </a:endParaRPr>
          </a:p>
        </p:txBody>
      </p:sp>
      <p:sp>
        <p:nvSpPr>
          <p:cNvPr id="247" name="Google Shape;247;p7"/>
          <p:cNvSpPr/>
          <p:nvPr/>
        </p:nvSpPr>
        <p:spPr>
          <a:xfrm>
            <a:off x="640080" y="5513832"/>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731520" y="5513832"/>
            <a:ext cx="3319272" cy="3657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Receive Notifications</a:t>
            </a:r>
            <a:endParaRPr sz="1000">
              <a:solidFill>
                <a:schemeClr val="dk1"/>
              </a:solidFill>
              <a:latin typeface="Calibri"/>
              <a:ea typeface="Calibri"/>
              <a:cs typeface="Calibri"/>
              <a:sym typeface="Calibri"/>
            </a:endParaRPr>
          </a:p>
        </p:txBody>
      </p:sp>
      <p:sp>
        <p:nvSpPr>
          <p:cNvPr id="249" name="Google Shape;249;p7"/>
          <p:cNvSpPr/>
          <p:nvPr/>
        </p:nvSpPr>
        <p:spPr>
          <a:xfrm>
            <a:off x="640080" y="5929884"/>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775295" y="5948209"/>
            <a:ext cx="33192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Ask AI Assistant</a:t>
            </a:r>
            <a:endParaRPr sz="1000">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000"/>
              <a:buFont typeface="Calibri"/>
              <a:buNone/>
            </a:pPr>
            <a:r>
              <a:t/>
            </a:r>
            <a:endParaRPr sz="1000">
              <a:solidFill>
                <a:schemeClr val="dk1"/>
              </a:solidFill>
              <a:latin typeface="Calibri"/>
              <a:ea typeface="Calibri"/>
              <a:cs typeface="Calibri"/>
              <a:sym typeface="Calibri"/>
            </a:endParaRPr>
          </a:p>
        </p:txBody>
      </p:sp>
      <p:cxnSp>
        <p:nvCxnSpPr>
          <p:cNvPr id="251" name="Google Shape;251;p7"/>
          <p:cNvCxnSpPr/>
          <p:nvPr/>
        </p:nvCxnSpPr>
        <p:spPr>
          <a:xfrm>
            <a:off x="2391156" y="2926080"/>
            <a:ext cx="0" cy="91440"/>
          </a:xfrm>
          <a:prstGeom prst="straightConnector1">
            <a:avLst/>
          </a:prstGeom>
          <a:noFill/>
          <a:ln cap="flat" cmpd="sng" w="19050">
            <a:solidFill>
              <a:srgbClr val="5B6B8C"/>
            </a:solidFill>
            <a:prstDash val="solid"/>
            <a:round/>
            <a:headEnd len="sm" w="sm" type="none"/>
            <a:tailEnd len="sm" w="sm" type="none"/>
          </a:ln>
        </p:spPr>
      </p:cxnSp>
      <p:sp>
        <p:nvSpPr>
          <p:cNvPr id="252" name="Google Shape;252;p7"/>
          <p:cNvSpPr/>
          <p:nvPr/>
        </p:nvSpPr>
        <p:spPr>
          <a:xfrm>
            <a:off x="5847588" y="1874520"/>
            <a:ext cx="640080" cy="64008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cog_navy.png" id="253" name="Google Shape;253;p7"/>
          <p:cNvPicPr preferRelativeResize="0"/>
          <p:nvPr/>
        </p:nvPicPr>
        <p:blipFill rotWithShape="1">
          <a:blip r:embed="rId4">
            <a:alphaModFix/>
          </a:blip>
          <a:srcRect b="0" l="0" r="0" t="0"/>
          <a:stretch/>
        </p:blipFill>
        <p:spPr>
          <a:xfrm>
            <a:off x="5991606" y="2018538"/>
            <a:ext cx="352044" cy="352044"/>
          </a:xfrm>
          <a:prstGeom prst="rect">
            <a:avLst/>
          </a:prstGeom>
          <a:noFill/>
          <a:ln>
            <a:noFill/>
          </a:ln>
        </p:spPr>
      </p:pic>
      <p:sp>
        <p:nvSpPr>
          <p:cNvPr id="254" name="Google Shape;254;p7"/>
          <p:cNvSpPr/>
          <p:nvPr/>
        </p:nvSpPr>
        <p:spPr>
          <a:xfrm>
            <a:off x="4416552" y="2560320"/>
            <a:ext cx="35021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Coordinator</a:t>
            </a:r>
            <a:endParaRPr b="0" i="0" sz="1500" u="none" cap="none" strike="noStrike">
              <a:solidFill>
                <a:schemeClr val="dk1"/>
              </a:solidFill>
              <a:latin typeface="Calibri"/>
              <a:ea typeface="Calibri"/>
              <a:cs typeface="Calibri"/>
              <a:sym typeface="Calibri"/>
            </a:endParaRPr>
          </a:p>
        </p:txBody>
      </p:sp>
      <p:sp>
        <p:nvSpPr>
          <p:cNvPr id="255" name="Google Shape;255;p7"/>
          <p:cNvSpPr/>
          <p:nvPr/>
        </p:nvSpPr>
        <p:spPr>
          <a:xfrm>
            <a:off x="4416552" y="3017520"/>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4507992" y="3017520"/>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Login (Firebase)</a:t>
            </a:r>
            <a:endParaRPr b="0" i="0" sz="1000" u="none" cap="none" strike="noStrike">
              <a:solidFill>
                <a:schemeClr val="dk1"/>
              </a:solidFill>
              <a:latin typeface="Calibri"/>
              <a:ea typeface="Calibri"/>
              <a:cs typeface="Calibri"/>
              <a:sym typeface="Calibri"/>
            </a:endParaRPr>
          </a:p>
        </p:txBody>
      </p:sp>
      <p:sp>
        <p:nvSpPr>
          <p:cNvPr id="257" name="Google Shape;257;p7"/>
          <p:cNvSpPr/>
          <p:nvPr/>
        </p:nvSpPr>
        <p:spPr>
          <a:xfrm>
            <a:off x="4416552" y="3433572"/>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4507992" y="3433572"/>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View Patient List / Queue</a:t>
            </a:r>
            <a:endParaRPr b="0" i="0" sz="1000" u="none" cap="none" strike="noStrike">
              <a:solidFill>
                <a:schemeClr val="dk1"/>
              </a:solidFill>
              <a:latin typeface="Calibri"/>
              <a:ea typeface="Calibri"/>
              <a:cs typeface="Calibri"/>
              <a:sym typeface="Calibri"/>
            </a:endParaRPr>
          </a:p>
        </p:txBody>
      </p:sp>
      <p:sp>
        <p:nvSpPr>
          <p:cNvPr id="259" name="Google Shape;259;p7"/>
          <p:cNvSpPr/>
          <p:nvPr/>
        </p:nvSpPr>
        <p:spPr>
          <a:xfrm>
            <a:off x="4416552" y="3849624"/>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4507992" y="3849624"/>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Search &amp; Filter Patients</a:t>
            </a:r>
            <a:endParaRPr b="0" i="0" sz="1000" u="none" cap="none" strike="noStrike">
              <a:solidFill>
                <a:schemeClr val="dk1"/>
              </a:solidFill>
              <a:latin typeface="Calibri"/>
              <a:ea typeface="Calibri"/>
              <a:cs typeface="Calibri"/>
              <a:sym typeface="Calibri"/>
            </a:endParaRPr>
          </a:p>
        </p:txBody>
      </p:sp>
      <p:sp>
        <p:nvSpPr>
          <p:cNvPr id="261" name="Google Shape;261;p7"/>
          <p:cNvSpPr/>
          <p:nvPr/>
        </p:nvSpPr>
        <p:spPr>
          <a:xfrm>
            <a:off x="4416552" y="4265676"/>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4507992" y="4265676"/>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Update Insurance Status</a:t>
            </a:r>
            <a:endParaRPr b="0" i="0" sz="1000" u="none" cap="none" strike="noStrike">
              <a:solidFill>
                <a:schemeClr val="dk1"/>
              </a:solidFill>
              <a:latin typeface="Calibri"/>
              <a:ea typeface="Calibri"/>
              <a:cs typeface="Calibri"/>
              <a:sym typeface="Calibri"/>
            </a:endParaRPr>
          </a:p>
        </p:txBody>
      </p:sp>
      <p:sp>
        <p:nvSpPr>
          <p:cNvPr id="263" name="Google Shape;263;p7"/>
          <p:cNvSpPr/>
          <p:nvPr/>
        </p:nvSpPr>
        <p:spPr>
          <a:xfrm>
            <a:off x="4416552" y="4681728"/>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4507992" y="4681728"/>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Update Clinical Checklist</a:t>
            </a:r>
            <a:endParaRPr b="0" i="0" sz="1000" u="none" cap="none" strike="noStrike">
              <a:solidFill>
                <a:schemeClr val="dk1"/>
              </a:solidFill>
              <a:latin typeface="Calibri"/>
              <a:ea typeface="Calibri"/>
              <a:cs typeface="Calibri"/>
              <a:sym typeface="Calibri"/>
            </a:endParaRPr>
          </a:p>
        </p:txBody>
      </p:sp>
      <p:sp>
        <p:nvSpPr>
          <p:cNvPr id="265" name="Google Shape;265;p7"/>
          <p:cNvSpPr/>
          <p:nvPr/>
        </p:nvSpPr>
        <p:spPr>
          <a:xfrm>
            <a:off x="4416552" y="5097780"/>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4507992" y="5097780"/>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Trigger Notifications</a:t>
            </a:r>
            <a:endParaRPr b="0" i="0" sz="1000" u="none" cap="none" strike="noStrike">
              <a:solidFill>
                <a:schemeClr val="dk1"/>
              </a:solidFill>
              <a:latin typeface="Calibri"/>
              <a:ea typeface="Calibri"/>
              <a:cs typeface="Calibri"/>
              <a:sym typeface="Calibri"/>
            </a:endParaRPr>
          </a:p>
        </p:txBody>
      </p:sp>
      <p:sp>
        <p:nvSpPr>
          <p:cNvPr id="267" name="Google Shape;267;p7"/>
          <p:cNvSpPr/>
          <p:nvPr/>
        </p:nvSpPr>
        <p:spPr>
          <a:xfrm>
            <a:off x="4416552" y="5513832"/>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507992" y="5513832"/>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View Patient Detail Page</a:t>
            </a:r>
            <a:endParaRPr b="0" i="0" sz="1000" u="none" cap="none" strike="noStrike">
              <a:solidFill>
                <a:schemeClr val="dk1"/>
              </a:solidFill>
              <a:latin typeface="Calibri"/>
              <a:ea typeface="Calibri"/>
              <a:cs typeface="Calibri"/>
              <a:sym typeface="Calibri"/>
            </a:endParaRPr>
          </a:p>
        </p:txBody>
      </p:sp>
      <p:sp>
        <p:nvSpPr>
          <p:cNvPr id="269" name="Google Shape;269;p7"/>
          <p:cNvSpPr/>
          <p:nvPr/>
        </p:nvSpPr>
        <p:spPr>
          <a:xfrm>
            <a:off x="4416552" y="5929884"/>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4507992" y="5929884"/>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Ask AI Assistant (workflow)</a:t>
            </a:r>
            <a:endParaRPr b="0" i="0" sz="1000" u="none" cap="none" strike="noStrike">
              <a:solidFill>
                <a:schemeClr val="dk1"/>
              </a:solidFill>
              <a:latin typeface="Calibri"/>
              <a:ea typeface="Calibri"/>
              <a:cs typeface="Calibri"/>
              <a:sym typeface="Calibri"/>
            </a:endParaRPr>
          </a:p>
        </p:txBody>
      </p:sp>
      <p:cxnSp>
        <p:nvCxnSpPr>
          <p:cNvPr id="271" name="Google Shape;271;p7"/>
          <p:cNvCxnSpPr/>
          <p:nvPr/>
        </p:nvCxnSpPr>
        <p:spPr>
          <a:xfrm>
            <a:off x="6167628" y="2926080"/>
            <a:ext cx="0" cy="91440"/>
          </a:xfrm>
          <a:prstGeom prst="straightConnector1">
            <a:avLst/>
          </a:prstGeom>
          <a:noFill/>
          <a:ln cap="flat" cmpd="sng" w="19050">
            <a:solidFill>
              <a:srgbClr val="5B6B8C"/>
            </a:solidFill>
            <a:prstDash val="solid"/>
            <a:round/>
            <a:headEnd len="sm" w="sm" type="none"/>
            <a:tailEnd len="sm" w="sm" type="none"/>
          </a:ln>
        </p:spPr>
      </p:cxnSp>
      <p:sp>
        <p:nvSpPr>
          <p:cNvPr id="272" name="Google Shape;272;p7"/>
          <p:cNvSpPr/>
          <p:nvPr/>
        </p:nvSpPr>
        <p:spPr>
          <a:xfrm>
            <a:off x="9624060" y="1874520"/>
            <a:ext cx="640080" cy="64008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tie_navy.png" id="273" name="Google Shape;273;p7"/>
          <p:cNvPicPr preferRelativeResize="0"/>
          <p:nvPr/>
        </p:nvPicPr>
        <p:blipFill rotWithShape="1">
          <a:blip r:embed="rId5">
            <a:alphaModFix/>
          </a:blip>
          <a:srcRect b="0" l="0" r="0" t="0"/>
          <a:stretch/>
        </p:blipFill>
        <p:spPr>
          <a:xfrm>
            <a:off x="9768078" y="2018538"/>
            <a:ext cx="352044" cy="352044"/>
          </a:xfrm>
          <a:prstGeom prst="rect">
            <a:avLst/>
          </a:prstGeom>
          <a:noFill/>
          <a:ln>
            <a:noFill/>
          </a:ln>
        </p:spPr>
      </p:pic>
      <p:sp>
        <p:nvSpPr>
          <p:cNvPr id="274" name="Google Shape;274;p7"/>
          <p:cNvSpPr/>
          <p:nvPr/>
        </p:nvSpPr>
        <p:spPr>
          <a:xfrm>
            <a:off x="8193024" y="2560320"/>
            <a:ext cx="35021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Program Director</a:t>
            </a:r>
            <a:endParaRPr b="0" i="0" sz="1500" u="none" cap="none" strike="noStrike">
              <a:solidFill>
                <a:schemeClr val="dk1"/>
              </a:solidFill>
              <a:latin typeface="Calibri"/>
              <a:ea typeface="Calibri"/>
              <a:cs typeface="Calibri"/>
              <a:sym typeface="Calibri"/>
            </a:endParaRPr>
          </a:p>
        </p:txBody>
      </p:sp>
      <p:sp>
        <p:nvSpPr>
          <p:cNvPr id="275" name="Google Shape;275;p7"/>
          <p:cNvSpPr/>
          <p:nvPr/>
        </p:nvSpPr>
        <p:spPr>
          <a:xfrm>
            <a:off x="8193024" y="3017520"/>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8284464" y="3017520"/>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Login (Firebase)</a:t>
            </a:r>
            <a:endParaRPr b="0" i="0" sz="1000" u="none" cap="none" strike="noStrike">
              <a:solidFill>
                <a:schemeClr val="dk1"/>
              </a:solidFill>
              <a:latin typeface="Calibri"/>
              <a:ea typeface="Calibri"/>
              <a:cs typeface="Calibri"/>
              <a:sym typeface="Calibri"/>
            </a:endParaRPr>
          </a:p>
        </p:txBody>
      </p:sp>
      <p:sp>
        <p:nvSpPr>
          <p:cNvPr id="277" name="Google Shape;277;p7"/>
          <p:cNvSpPr/>
          <p:nvPr/>
        </p:nvSpPr>
        <p:spPr>
          <a:xfrm>
            <a:off x="8193024" y="3433572"/>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8284464" y="3433572"/>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View All Patients (pipeline)</a:t>
            </a:r>
            <a:endParaRPr b="0" i="0" sz="1000" u="none" cap="none" strike="noStrike">
              <a:solidFill>
                <a:schemeClr val="dk1"/>
              </a:solidFill>
              <a:latin typeface="Calibri"/>
              <a:ea typeface="Calibri"/>
              <a:cs typeface="Calibri"/>
              <a:sym typeface="Calibri"/>
            </a:endParaRPr>
          </a:p>
        </p:txBody>
      </p:sp>
      <p:sp>
        <p:nvSpPr>
          <p:cNvPr id="279" name="Google Shape;279;p7"/>
          <p:cNvSpPr/>
          <p:nvPr/>
        </p:nvSpPr>
        <p:spPr>
          <a:xfrm>
            <a:off x="8193024" y="3849624"/>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8284464" y="3849624"/>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Filter by Specialist / Stage</a:t>
            </a:r>
            <a:endParaRPr b="0" i="0" sz="1000" u="none" cap="none" strike="noStrike">
              <a:solidFill>
                <a:schemeClr val="dk1"/>
              </a:solidFill>
              <a:latin typeface="Calibri"/>
              <a:ea typeface="Calibri"/>
              <a:cs typeface="Calibri"/>
              <a:sym typeface="Calibri"/>
            </a:endParaRPr>
          </a:p>
        </p:txBody>
      </p:sp>
      <p:sp>
        <p:nvSpPr>
          <p:cNvPr id="281" name="Google Shape;281;p7"/>
          <p:cNvSpPr/>
          <p:nvPr/>
        </p:nvSpPr>
        <p:spPr>
          <a:xfrm>
            <a:off x="8193024" y="4265676"/>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8284464" y="4265676"/>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Sort Patients by Stage</a:t>
            </a:r>
            <a:endParaRPr b="0" i="0" sz="1000" u="none" cap="none" strike="noStrike">
              <a:solidFill>
                <a:schemeClr val="dk1"/>
              </a:solidFill>
              <a:latin typeface="Calibri"/>
              <a:ea typeface="Calibri"/>
              <a:cs typeface="Calibri"/>
              <a:sym typeface="Calibri"/>
            </a:endParaRPr>
          </a:p>
        </p:txBody>
      </p:sp>
      <p:sp>
        <p:nvSpPr>
          <p:cNvPr id="283" name="Google Shape;283;p7"/>
          <p:cNvSpPr/>
          <p:nvPr/>
        </p:nvSpPr>
        <p:spPr>
          <a:xfrm>
            <a:off x="8193024" y="4681728"/>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8284464" y="4681728"/>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View Summary Metrics</a:t>
            </a:r>
            <a:endParaRPr b="0" i="0" sz="1000" u="none" cap="none" strike="noStrike">
              <a:solidFill>
                <a:schemeClr val="dk1"/>
              </a:solidFill>
              <a:latin typeface="Calibri"/>
              <a:ea typeface="Calibri"/>
              <a:cs typeface="Calibri"/>
              <a:sym typeface="Calibri"/>
            </a:endParaRPr>
          </a:p>
        </p:txBody>
      </p:sp>
      <p:sp>
        <p:nvSpPr>
          <p:cNvPr id="285" name="Google Shape;285;p7"/>
          <p:cNvSpPr/>
          <p:nvPr/>
        </p:nvSpPr>
        <p:spPr>
          <a:xfrm>
            <a:off x="8193024" y="5097780"/>
            <a:ext cx="3502152" cy="365760"/>
          </a:xfrm>
          <a:prstGeom prst="ellipse">
            <a:avLst/>
          </a:prstGeom>
          <a:solidFill>
            <a:srgbClr val="EEF2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8284464" y="5097780"/>
            <a:ext cx="33192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0" i="0" lang="en-US" sz="1000" u="none" cap="none" strike="noStrike">
                <a:solidFill>
                  <a:srgbClr val="1E2761"/>
                </a:solidFill>
                <a:latin typeface="Calibri"/>
                <a:ea typeface="Calibri"/>
                <a:cs typeface="Calibri"/>
                <a:sym typeface="Calibri"/>
              </a:rPr>
              <a:t>Ask AI Assistant (strategy)</a:t>
            </a:r>
            <a:endParaRPr b="0" i="0" sz="1000" u="none" cap="none" strike="noStrike">
              <a:solidFill>
                <a:schemeClr val="dk1"/>
              </a:solidFill>
              <a:latin typeface="Calibri"/>
              <a:ea typeface="Calibri"/>
              <a:cs typeface="Calibri"/>
              <a:sym typeface="Calibri"/>
            </a:endParaRPr>
          </a:p>
        </p:txBody>
      </p:sp>
      <p:cxnSp>
        <p:nvCxnSpPr>
          <p:cNvPr id="287" name="Google Shape;287;p7"/>
          <p:cNvCxnSpPr/>
          <p:nvPr/>
        </p:nvCxnSpPr>
        <p:spPr>
          <a:xfrm>
            <a:off x="9944100" y="2926080"/>
            <a:ext cx="0" cy="91440"/>
          </a:xfrm>
          <a:prstGeom prst="straightConnector1">
            <a:avLst/>
          </a:prstGeom>
          <a:noFill/>
          <a:ln cap="flat" cmpd="sng" w="19050">
            <a:solidFill>
              <a:srgbClr val="5B6B8C"/>
            </a:solidFill>
            <a:prstDash val="solid"/>
            <a:round/>
            <a:headEnd len="sm" w="sm" type="none"/>
            <a:tailEnd len="sm" w="sm" type="none"/>
          </a:ln>
        </p:spPr>
      </p:cxnSp>
      <p:pic>
        <p:nvPicPr>
          <p:cNvPr descr="/home/claude/slides/logo.png" id="288" name="Google Shape;288;p7"/>
          <p:cNvPicPr preferRelativeResize="0"/>
          <p:nvPr/>
        </p:nvPicPr>
        <p:blipFill rotWithShape="1">
          <a:blip r:embed="rId6">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93" name="Shape 293"/>
        <p:cNvGrpSpPr/>
        <p:nvPr/>
      </p:nvGrpSpPr>
      <p:grpSpPr>
        <a:xfrm>
          <a:off x="0" y="0"/>
          <a:ext cx="0" cy="0"/>
          <a:chOff x="0" y="0"/>
          <a:chExt cx="0" cy="0"/>
        </a:xfrm>
      </p:grpSpPr>
      <p:sp>
        <p:nvSpPr>
          <p:cNvPr id="294" name="Google Shape;294;p8"/>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295" name="Google Shape;295;p8"/>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296" name="Google Shape;296;p8"/>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297" name="Google Shape;297;p8"/>
          <p:cNvSpPr/>
          <p:nvPr/>
        </p:nvSpPr>
        <p:spPr>
          <a:xfrm>
            <a:off x="9052560" y="1188720"/>
            <a:ext cx="3931920" cy="393192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9692640" y="1828800"/>
            <a:ext cx="2651760" cy="265176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10607040" y="2697480"/>
            <a:ext cx="914400" cy="9144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itemap_white.png" id="300" name="Google Shape;300;p8"/>
          <p:cNvPicPr preferRelativeResize="0"/>
          <p:nvPr/>
        </p:nvPicPr>
        <p:blipFill rotWithShape="1">
          <a:blip r:embed="rId3">
            <a:alphaModFix/>
          </a:blip>
          <a:srcRect b="0" l="0" r="0" t="0"/>
          <a:stretch/>
        </p:blipFill>
        <p:spPr>
          <a:xfrm>
            <a:off x="10812780" y="2903220"/>
            <a:ext cx="502920" cy="502920"/>
          </a:xfrm>
          <a:prstGeom prst="rect">
            <a:avLst/>
          </a:prstGeom>
          <a:noFill/>
          <a:ln>
            <a:noFill/>
          </a:ln>
        </p:spPr>
      </p:pic>
      <p:sp>
        <p:nvSpPr>
          <p:cNvPr id="301" name="Google Shape;301;p8"/>
          <p:cNvSpPr/>
          <p:nvPr/>
        </p:nvSpPr>
        <p:spPr>
          <a:xfrm>
            <a:off x="548640" y="1280160"/>
            <a:ext cx="36576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58C"/>
              </a:buClr>
              <a:buSzPts val="11000"/>
              <a:buFont typeface="Cambria"/>
              <a:buNone/>
            </a:pPr>
            <a:r>
              <a:rPr b="1" i="0" lang="en-US" sz="11000" u="none" cap="none" strike="noStrike">
                <a:solidFill>
                  <a:srgbClr val="37458C"/>
                </a:solidFill>
                <a:latin typeface="Cambria"/>
                <a:ea typeface="Cambria"/>
                <a:cs typeface="Cambria"/>
                <a:sym typeface="Cambria"/>
              </a:rPr>
              <a:t>02</a:t>
            </a:r>
            <a:endParaRPr b="0" i="0" sz="11000" u="none" cap="none" strike="noStrike">
              <a:solidFill>
                <a:schemeClr val="dk1"/>
              </a:solidFill>
              <a:latin typeface="Calibri"/>
              <a:ea typeface="Calibri"/>
              <a:cs typeface="Calibri"/>
              <a:sym typeface="Calibri"/>
            </a:endParaRPr>
          </a:p>
        </p:txBody>
      </p:sp>
      <p:sp>
        <p:nvSpPr>
          <p:cNvPr id="302" name="Google Shape;302;p8"/>
          <p:cNvSpPr/>
          <p:nvPr/>
        </p:nvSpPr>
        <p:spPr>
          <a:xfrm>
            <a:off x="594360" y="30175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Architecture</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A800"/>
              </a:buClr>
              <a:buSzPts val="4800"/>
              <a:buFont typeface="Cambria"/>
              <a:buNone/>
            </a:pPr>
            <a:r>
              <a:rPr b="1" i="0" lang="en-US" sz="4800" u="none" cap="none" strike="noStrike">
                <a:solidFill>
                  <a:srgbClr val="F4A800"/>
                </a:solidFill>
                <a:latin typeface="Cambria"/>
                <a:ea typeface="Cambria"/>
                <a:cs typeface="Cambria"/>
                <a:sym typeface="Cambria"/>
              </a:rPr>
              <a:t>&amp; Design</a:t>
            </a:r>
            <a:endParaRPr b="0" i="0" sz="4800" u="none" cap="none" strike="noStrike">
              <a:solidFill>
                <a:schemeClr val="dk1"/>
              </a:solidFill>
              <a:latin typeface="Calibri"/>
              <a:ea typeface="Calibri"/>
              <a:cs typeface="Calibri"/>
              <a:sym typeface="Calibri"/>
            </a:endParaRPr>
          </a:p>
        </p:txBody>
      </p:sp>
      <p:sp>
        <p:nvSpPr>
          <p:cNvPr id="303" name="Google Shape;303;p8"/>
          <p:cNvSpPr/>
          <p:nvPr/>
        </p:nvSpPr>
        <p:spPr>
          <a:xfrm>
            <a:off x="612648" y="443484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Four-tier architecture, database design, and key decisions.</a:t>
            </a:r>
            <a:endParaRPr b="0" i="0" sz="1600" u="none" cap="none" strike="noStrike">
              <a:solidFill>
                <a:schemeClr val="dk1"/>
              </a:solidFill>
              <a:latin typeface="Calibri"/>
              <a:ea typeface="Calibri"/>
              <a:cs typeface="Calibri"/>
              <a:sym typeface="Calibri"/>
            </a:endParaRPr>
          </a:p>
        </p:txBody>
      </p:sp>
      <p:pic>
        <p:nvPicPr>
          <p:cNvPr descr="/home/claude/slides/logo_light.png" id="304" name="Google Shape;304;p8"/>
          <p:cNvPicPr preferRelativeResize="0"/>
          <p:nvPr/>
        </p:nvPicPr>
        <p:blipFill rotWithShape="1">
          <a:blip r:embed="rId4">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9"/>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ARCHITECTURE</a:t>
            </a:r>
            <a:endParaRPr b="0" i="0" sz="1200" u="none" cap="none" strike="noStrike">
              <a:solidFill>
                <a:schemeClr val="dk1"/>
              </a:solidFill>
              <a:latin typeface="Calibri"/>
              <a:ea typeface="Calibri"/>
              <a:cs typeface="Calibri"/>
              <a:sym typeface="Calibri"/>
            </a:endParaRPr>
          </a:p>
        </p:txBody>
      </p:sp>
      <p:sp>
        <p:nvSpPr>
          <p:cNvPr id="311" name="Google Shape;311;p9"/>
          <p:cNvSpPr/>
          <p:nvPr/>
        </p:nvSpPr>
        <p:spPr>
          <a:xfrm>
            <a:off x="548640" y="292603"/>
            <a:ext cx="96012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System Architecture - F</a:t>
            </a:r>
            <a:r>
              <a:rPr b="1" lang="en-US" sz="3200">
                <a:solidFill>
                  <a:srgbClr val="1E2761"/>
                </a:solidFill>
                <a:latin typeface="Cambria"/>
                <a:ea typeface="Cambria"/>
                <a:cs typeface="Cambria"/>
                <a:sym typeface="Cambria"/>
              </a:rPr>
              <a:t>ive</a:t>
            </a:r>
            <a:r>
              <a:rPr b="1" i="0" lang="en-US" sz="3200" u="none" cap="none" strike="noStrike">
                <a:solidFill>
                  <a:srgbClr val="1E2761"/>
                </a:solidFill>
                <a:latin typeface="Cambria"/>
                <a:ea typeface="Cambria"/>
                <a:cs typeface="Cambria"/>
                <a:sym typeface="Cambria"/>
              </a:rPr>
              <a:t> Services in Production</a:t>
            </a:r>
            <a:endParaRPr b="0" i="0" sz="3200" u="none" cap="none" strike="noStrike">
              <a:solidFill>
                <a:schemeClr val="dk1"/>
              </a:solidFill>
              <a:latin typeface="Calibri"/>
              <a:ea typeface="Calibri"/>
              <a:cs typeface="Calibri"/>
              <a:sym typeface="Calibri"/>
            </a:endParaRPr>
          </a:p>
        </p:txBody>
      </p:sp>
      <p:sp>
        <p:nvSpPr>
          <p:cNvPr id="312" name="Google Shape;312;p9"/>
          <p:cNvSpPr/>
          <p:nvPr/>
        </p:nvSpPr>
        <p:spPr>
          <a:xfrm>
            <a:off x="10186425" y="692957"/>
            <a:ext cx="2103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313" name="Google Shape;313;p9"/>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314" name="Google Shape;314;p9"/>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315" name="Google Shape;315;p9"/>
          <p:cNvSpPr/>
          <p:nvPr/>
        </p:nvSpPr>
        <p:spPr>
          <a:xfrm>
            <a:off x="609590" y="85523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What was a planned AI microservice in Iteration 2 is now fully built, tested, containerized, and deployed.</a:t>
            </a:r>
            <a:endParaRPr b="0" i="0" sz="1300" u="none" cap="none" strike="noStrike">
              <a:solidFill>
                <a:schemeClr val="dk1"/>
              </a:solidFill>
              <a:latin typeface="Calibri"/>
              <a:ea typeface="Calibri"/>
              <a:cs typeface="Calibri"/>
              <a:sym typeface="Calibri"/>
            </a:endParaRPr>
          </a:p>
        </p:txBody>
      </p:sp>
      <p:sp>
        <p:nvSpPr>
          <p:cNvPr id="316" name="Google Shape;316;p9"/>
          <p:cNvSpPr/>
          <p:nvPr/>
        </p:nvSpPr>
        <p:spPr>
          <a:xfrm>
            <a:off x="548640" y="1828800"/>
            <a:ext cx="2697480" cy="566928"/>
          </a:xfrm>
          <a:prstGeom prst="roundRect">
            <a:avLst>
              <a:gd fmla="val 9677"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548640" y="1828800"/>
            <a:ext cx="26974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CLIENT TIER</a:t>
            </a:r>
            <a:endParaRPr b="0" i="0" sz="1250" u="none" cap="none" strike="noStrike">
              <a:solidFill>
                <a:schemeClr val="dk1"/>
              </a:solidFill>
              <a:latin typeface="Calibri"/>
              <a:ea typeface="Calibri"/>
              <a:cs typeface="Calibri"/>
              <a:sym typeface="Calibri"/>
            </a:endParaRPr>
          </a:p>
        </p:txBody>
      </p:sp>
      <p:sp>
        <p:nvSpPr>
          <p:cNvPr id="318" name="Google Shape;318;p9"/>
          <p:cNvSpPr/>
          <p:nvPr/>
        </p:nvSpPr>
        <p:spPr>
          <a:xfrm>
            <a:off x="548640" y="2514600"/>
            <a:ext cx="2697480" cy="32461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1600200" y="2697480"/>
            <a:ext cx="594360" cy="59436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eact_navy.png" id="320" name="Google Shape;320;p9"/>
          <p:cNvPicPr preferRelativeResize="0"/>
          <p:nvPr/>
        </p:nvPicPr>
        <p:blipFill rotWithShape="1">
          <a:blip r:embed="rId3">
            <a:alphaModFix/>
          </a:blip>
          <a:srcRect b="0" l="0" r="0" t="0"/>
          <a:stretch/>
        </p:blipFill>
        <p:spPr>
          <a:xfrm>
            <a:off x="1733931" y="2831211"/>
            <a:ext cx="326898" cy="326898"/>
          </a:xfrm>
          <a:prstGeom prst="rect">
            <a:avLst/>
          </a:prstGeom>
          <a:noFill/>
          <a:ln>
            <a:noFill/>
          </a:ln>
        </p:spPr>
      </p:pic>
      <p:sp>
        <p:nvSpPr>
          <p:cNvPr id="321" name="Google Shape;321;p9"/>
          <p:cNvSpPr/>
          <p:nvPr/>
        </p:nvSpPr>
        <p:spPr>
          <a:xfrm>
            <a:off x="548640" y="3383280"/>
            <a:ext cx="2697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50"/>
              <a:buFont typeface="Calibri"/>
              <a:buNone/>
            </a:pPr>
            <a:r>
              <a:rPr b="1" i="1" lang="en-US" sz="1150" u="none" cap="none" strike="noStrike">
                <a:solidFill>
                  <a:srgbClr val="1E2761"/>
                </a:solidFill>
                <a:latin typeface="Calibri"/>
                <a:ea typeface="Calibri"/>
                <a:cs typeface="Calibri"/>
                <a:sym typeface="Calibri"/>
              </a:rPr>
              <a:t>React SPA + Vite</a:t>
            </a:r>
            <a:endParaRPr b="0" i="0" sz="1150" u="none" cap="none" strike="noStrike">
              <a:solidFill>
                <a:schemeClr val="dk1"/>
              </a:solidFill>
              <a:latin typeface="Calibri"/>
              <a:ea typeface="Calibri"/>
              <a:cs typeface="Calibri"/>
              <a:sym typeface="Calibri"/>
            </a:endParaRPr>
          </a:p>
        </p:txBody>
      </p:sp>
      <p:sp>
        <p:nvSpPr>
          <p:cNvPr id="322" name="Google Shape;322;p9"/>
          <p:cNvSpPr/>
          <p:nvPr/>
        </p:nvSpPr>
        <p:spPr>
          <a:xfrm>
            <a:off x="713232" y="3794760"/>
            <a:ext cx="2368296" cy="182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Login / Register / Forgot Password</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Patient Portal + AI Chat Widget</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Coordinator Dashboard</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Program Director Dashboard</a:t>
            </a:r>
            <a:endParaRPr b="0" i="0" sz="1100" u="none" cap="none" strike="noStrike">
              <a:solidFill>
                <a:schemeClr val="dk1"/>
              </a:solidFill>
              <a:latin typeface="Calibri"/>
              <a:ea typeface="Calibri"/>
              <a:cs typeface="Calibri"/>
              <a:sym typeface="Calibri"/>
            </a:endParaRPr>
          </a:p>
        </p:txBody>
      </p:sp>
      <p:sp>
        <p:nvSpPr>
          <p:cNvPr id="323" name="Google Shape;323;p9"/>
          <p:cNvSpPr/>
          <p:nvPr/>
        </p:nvSpPr>
        <p:spPr>
          <a:xfrm>
            <a:off x="3163824" y="3840480"/>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324" name="Google Shape;324;p9"/>
          <p:cNvPicPr preferRelativeResize="0"/>
          <p:nvPr/>
        </p:nvPicPr>
        <p:blipFill rotWithShape="1">
          <a:blip r:embed="rId4">
            <a:alphaModFix/>
          </a:blip>
          <a:srcRect b="0" l="0" r="0" t="0"/>
          <a:stretch/>
        </p:blipFill>
        <p:spPr>
          <a:xfrm>
            <a:off x="3213202" y="3889858"/>
            <a:ext cx="230429" cy="230429"/>
          </a:xfrm>
          <a:prstGeom prst="rect">
            <a:avLst/>
          </a:prstGeom>
          <a:noFill/>
          <a:ln>
            <a:noFill/>
          </a:ln>
        </p:spPr>
      </p:pic>
      <p:sp>
        <p:nvSpPr>
          <p:cNvPr id="325" name="Google Shape;325;p9"/>
          <p:cNvSpPr/>
          <p:nvPr/>
        </p:nvSpPr>
        <p:spPr>
          <a:xfrm>
            <a:off x="3410712" y="1828800"/>
            <a:ext cx="2697480" cy="566928"/>
          </a:xfrm>
          <a:prstGeom prst="roundRect">
            <a:avLst>
              <a:gd fmla="val 9677"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3410712" y="1828800"/>
            <a:ext cx="26974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API TIER</a:t>
            </a:r>
            <a:endParaRPr b="0" i="0" sz="1250" u="none" cap="none" strike="noStrike">
              <a:solidFill>
                <a:schemeClr val="dk1"/>
              </a:solidFill>
              <a:latin typeface="Calibri"/>
              <a:ea typeface="Calibri"/>
              <a:cs typeface="Calibri"/>
              <a:sym typeface="Calibri"/>
            </a:endParaRPr>
          </a:p>
        </p:txBody>
      </p:sp>
      <p:sp>
        <p:nvSpPr>
          <p:cNvPr id="327" name="Google Shape;327;p9"/>
          <p:cNvSpPr/>
          <p:nvPr/>
        </p:nvSpPr>
        <p:spPr>
          <a:xfrm>
            <a:off x="3410712" y="2514600"/>
            <a:ext cx="2697480" cy="32461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4462272" y="2697480"/>
            <a:ext cx="594360" cy="59436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erver_navy.png" id="329" name="Google Shape;329;p9"/>
          <p:cNvPicPr preferRelativeResize="0"/>
          <p:nvPr/>
        </p:nvPicPr>
        <p:blipFill rotWithShape="1">
          <a:blip r:embed="rId5">
            <a:alphaModFix/>
          </a:blip>
          <a:srcRect b="0" l="0" r="0" t="0"/>
          <a:stretch/>
        </p:blipFill>
        <p:spPr>
          <a:xfrm>
            <a:off x="4596003" y="2831211"/>
            <a:ext cx="326898" cy="326898"/>
          </a:xfrm>
          <a:prstGeom prst="rect">
            <a:avLst/>
          </a:prstGeom>
          <a:noFill/>
          <a:ln>
            <a:noFill/>
          </a:ln>
        </p:spPr>
      </p:pic>
      <p:sp>
        <p:nvSpPr>
          <p:cNvPr id="330" name="Google Shape;330;p9"/>
          <p:cNvSpPr/>
          <p:nvPr/>
        </p:nvSpPr>
        <p:spPr>
          <a:xfrm>
            <a:off x="3410712" y="3383280"/>
            <a:ext cx="2697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50"/>
              <a:buFont typeface="Calibri"/>
              <a:buNone/>
            </a:pPr>
            <a:r>
              <a:rPr b="1" i="1" lang="en-US" sz="1150" u="none" cap="none" strike="noStrike">
                <a:solidFill>
                  <a:srgbClr val="1E2761"/>
                </a:solidFill>
                <a:latin typeface="Calibri"/>
                <a:ea typeface="Calibri"/>
                <a:cs typeface="Calibri"/>
                <a:sym typeface="Calibri"/>
              </a:rPr>
              <a:t>Node.js + Express</a:t>
            </a:r>
            <a:endParaRPr b="0" i="0" sz="1150" u="none" cap="none" strike="noStrike">
              <a:solidFill>
                <a:schemeClr val="dk1"/>
              </a:solidFill>
              <a:latin typeface="Calibri"/>
              <a:ea typeface="Calibri"/>
              <a:cs typeface="Calibri"/>
              <a:sym typeface="Calibri"/>
            </a:endParaRPr>
          </a:p>
        </p:txBody>
      </p:sp>
      <p:sp>
        <p:nvSpPr>
          <p:cNvPr id="331" name="Google Shape;331;p9"/>
          <p:cNvSpPr/>
          <p:nvPr/>
        </p:nvSpPr>
        <p:spPr>
          <a:xfrm>
            <a:off x="3575304" y="3794760"/>
            <a:ext cx="2368296" cy="182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REST endpoints</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verifyAuth + RBAC</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Audit logging (append-only)</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Gateway / proxy to AI service</a:t>
            </a:r>
            <a:endParaRPr b="0" i="0" sz="1100" u="none" cap="none" strike="noStrike">
              <a:solidFill>
                <a:schemeClr val="dk1"/>
              </a:solidFill>
              <a:latin typeface="Calibri"/>
              <a:ea typeface="Calibri"/>
              <a:cs typeface="Calibri"/>
              <a:sym typeface="Calibri"/>
            </a:endParaRPr>
          </a:p>
        </p:txBody>
      </p:sp>
      <p:sp>
        <p:nvSpPr>
          <p:cNvPr id="332" name="Google Shape;332;p9"/>
          <p:cNvSpPr/>
          <p:nvPr/>
        </p:nvSpPr>
        <p:spPr>
          <a:xfrm>
            <a:off x="6025896" y="3840480"/>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333" name="Google Shape;333;p9"/>
          <p:cNvPicPr preferRelativeResize="0"/>
          <p:nvPr/>
        </p:nvPicPr>
        <p:blipFill rotWithShape="1">
          <a:blip r:embed="rId4">
            <a:alphaModFix/>
          </a:blip>
          <a:srcRect b="0" l="0" r="0" t="0"/>
          <a:stretch/>
        </p:blipFill>
        <p:spPr>
          <a:xfrm>
            <a:off x="6075274" y="3889858"/>
            <a:ext cx="230429" cy="230429"/>
          </a:xfrm>
          <a:prstGeom prst="rect">
            <a:avLst/>
          </a:prstGeom>
          <a:noFill/>
          <a:ln>
            <a:noFill/>
          </a:ln>
        </p:spPr>
      </p:pic>
      <p:sp>
        <p:nvSpPr>
          <p:cNvPr id="334" name="Google Shape;334;p9"/>
          <p:cNvSpPr/>
          <p:nvPr/>
        </p:nvSpPr>
        <p:spPr>
          <a:xfrm>
            <a:off x="6272784" y="1828800"/>
            <a:ext cx="2697480" cy="566928"/>
          </a:xfrm>
          <a:prstGeom prst="roundRect">
            <a:avLst>
              <a:gd fmla="val 9677"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6272784" y="1828800"/>
            <a:ext cx="26974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DATA TIER</a:t>
            </a:r>
            <a:endParaRPr b="0" i="0" sz="1250" u="none" cap="none" strike="noStrike">
              <a:solidFill>
                <a:schemeClr val="dk1"/>
              </a:solidFill>
              <a:latin typeface="Calibri"/>
              <a:ea typeface="Calibri"/>
              <a:cs typeface="Calibri"/>
              <a:sym typeface="Calibri"/>
            </a:endParaRPr>
          </a:p>
        </p:txBody>
      </p:sp>
      <p:sp>
        <p:nvSpPr>
          <p:cNvPr id="336" name="Google Shape;336;p9"/>
          <p:cNvSpPr/>
          <p:nvPr/>
        </p:nvSpPr>
        <p:spPr>
          <a:xfrm>
            <a:off x="6272784" y="2514600"/>
            <a:ext cx="2697480" cy="32461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7324344" y="2697480"/>
            <a:ext cx="594360" cy="59436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database_navy.png" id="338" name="Google Shape;338;p9"/>
          <p:cNvPicPr preferRelativeResize="0"/>
          <p:nvPr/>
        </p:nvPicPr>
        <p:blipFill rotWithShape="1">
          <a:blip r:embed="rId6">
            <a:alphaModFix/>
          </a:blip>
          <a:srcRect b="0" l="0" r="0" t="0"/>
          <a:stretch/>
        </p:blipFill>
        <p:spPr>
          <a:xfrm>
            <a:off x="7458075" y="2831211"/>
            <a:ext cx="326898" cy="326898"/>
          </a:xfrm>
          <a:prstGeom prst="rect">
            <a:avLst/>
          </a:prstGeom>
          <a:noFill/>
          <a:ln>
            <a:noFill/>
          </a:ln>
        </p:spPr>
      </p:pic>
      <p:sp>
        <p:nvSpPr>
          <p:cNvPr id="339" name="Google Shape;339;p9"/>
          <p:cNvSpPr/>
          <p:nvPr/>
        </p:nvSpPr>
        <p:spPr>
          <a:xfrm>
            <a:off x="6272784" y="3383280"/>
            <a:ext cx="2697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50"/>
              <a:buFont typeface="Calibri"/>
              <a:buNone/>
            </a:pPr>
            <a:r>
              <a:rPr b="1" i="1" lang="en-US" sz="1150" u="none" cap="none" strike="noStrike">
                <a:solidFill>
                  <a:srgbClr val="1E2761"/>
                </a:solidFill>
                <a:latin typeface="Calibri"/>
                <a:ea typeface="Calibri"/>
                <a:cs typeface="Calibri"/>
                <a:sym typeface="Calibri"/>
              </a:rPr>
              <a:t>PostgreSQL + Prisma</a:t>
            </a:r>
            <a:endParaRPr b="0" i="0" sz="1150" u="none" cap="none" strike="noStrike">
              <a:solidFill>
                <a:schemeClr val="dk1"/>
              </a:solidFill>
              <a:latin typeface="Calibri"/>
              <a:ea typeface="Calibri"/>
              <a:cs typeface="Calibri"/>
              <a:sym typeface="Calibri"/>
            </a:endParaRPr>
          </a:p>
        </p:txBody>
      </p:sp>
      <p:sp>
        <p:nvSpPr>
          <p:cNvPr id="340" name="Google Shape;340;p9"/>
          <p:cNvSpPr/>
          <p:nvPr/>
        </p:nvSpPr>
        <p:spPr>
          <a:xfrm>
            <a:off x="6437376" y="3794760"/>
            <a:ext cx="2368296" cy="182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User &amp; Patient tables</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AuditLog table</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Notifications table</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Prisma migrations</a:t>
            </a:r>
            <a:endParaRPr b="0" i="0" sz="1100" u="none" cap="none" strike="noStrike">
              <a:solidFill>
                <a:schemeClr val="dk1"/>
              </a:solidFill>
              <a:latin typeface="Calibri"/>
              <a:ea typeface="Calibri"/>
              <a:cs typeface="Calibri"/>
              <a:sym typeface="Calibri"/>
            </a:endParaRPr>
          </a:p>
        </p:txBody>
      </p:sp>
      <p:sp>
        <p:nvSpPr>
          <p:cNvPr id="341" name="Google Shape;341;p9"/>
          <p:cNvSpPr/>
          <p:nvPr/>
        </p:nvSpPr>
        <p:spPr>
          <a:xfrm>
            <a:off x="8887968" y="3840480"/>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342" name="Google Shape;342;p9"/>
          <p:cNvPicPr preferRelativeResize="0"/>
          <p:nvPr/>
        </p:nvPicPr>
        <p:blipFill rotWithShape="1">
          <a:blip r:embed="rId4">
            <a:alphaModFix/>
          </a:blip>
          <a:srcRect b="0" l="0" r="0" t="0"/>
          <a:stretch/>
        </p:blipFill>
        <p:spPr>
          <a:xfrm>
            <a:off x="8937346" y="3889858"/>
            <a:ext cx="230429" cy="230429"/>
          </a:xfrm>
          <a:prstGeom prst="rect">
            <a:avLst/>
          </a:prstGeom>
          <a:noFill/>
          <a:ln>
            <a:noFill/>
          </a:ln>
        </p:spPr>
      </p:pic>
      <p:sp>
        <p:nvSpPr>
          <p:cNvPr id="343" name="Google Shape;343;p9"/>
          <p:cNvSpPr/>
          <p:nvPr/>
        </p:nvSpPr>
        <p:spPr>
          <a:xfrm>
            <a:off x="9134856" y="1828800"/>
            <a:ext cx="2697480" cy="566928"/>
          </a:xfrm>
          <a:prstGeom prst="roundRect">
            <a:avLst>
              <a:gd fmla="val 9677" name="adj"/>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9134856" y="1819663"/>
            <a:ext cx="2697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250"/>
              <a:buFont typeface="Calibri"/>
              <a:buNone/>
            </a:pPr>
            <a:r>
              <a:rPr b="1" i="0" lang="en-US" sz="1250" u="none" cap="none" strike="noStrike">
                <a:solidFill>
                  <a:srgbClr val="151A47"/>
                </a:solidFill>
                <a:latin typeface="Calibri"/>
                <a:ea typeface="Calibri"/>
                <a:cs typeface="Calibri"/>
                <a:sym typeface="Calibri"/>
              </a:rPr>
              <a:t>AI SERVICE</a:t>
            </a:r>
            <a:endParaRPr b="0" i="0" sz="1250" u="none" cap="none" strike="noStrike">
              <a:solidFill>
                <a:schemeClr val="dk1"/>
              </a:solidFill>
              <a:latin typeface="Calibri"/>
              <a:ea typeface="Calibri"/>
              <a:cs typeface="Calibri"/>
              <a:sym typeface="Calibri"/>
            </a:endParaRPr>
          </a:p>
        </p:txBody>
      </p:sp>
      <p:sp>
        <p:nvSpPr>
          <p:cNvPr id="345" name="Google Shape;345;p9"/>
          <p:cNvSpPr/>
          <p:nvPr/>
        </p:nvSpPr>
        <p:spPr>
          <a:xfrm>
            <a:off x="9134856" y="2514600"/>
            <a:ext cx="2697480" cy="3246120"/>
          </a:xfrm>
          <a:prstGeom prst="roundRect">
            <a:avLst>
              <a:gd fmla="val 2712"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10186416" y="2697480"/>
            <a:ext cx="594360" cy="59436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navy.png" id="347" name="Google Shape;347;p9"/>
          <p:cNvPicPr preferRelativeResize="0"/>
          <p:nvPr/>
        </p:nvPicPr>
        <p:blipFill rotWithShape="1">
          <a:blip r:embed="rId7">
            <a:alphaModFix/>
          </a:blip>
          <a:srcRect b="0" l="0" r="0" t="0"/>
          <a:stretch/>
        </p:blipFill>
        <p:spPr>
          <a:xfrm>
            <a:off x="10320147" y="2831211"/>
            <a:ext cx="326898" cy="326898"/>
          </a:xfrm>
          <a:prstGeom prst="rect">
            <a:avLst/>
          </a:prstGeom>
          <a:noFill/>
          <a:ln>
            <a:noFill/>
          </a:ln>
        </p:spPr>
      </p:pic>
      <p:sp>
        <p:nvSpPr>
          <p:cNvPr id="348" name="Google Shape;348;p9"/>
          <p:cNvSpPr/>
          <p:nvPr/>
        </p:nvSpPr>
        <p:spPr>
          <a:xfrm>
            <a:off x="9134856" y="3383280"/>
            <a:ext cx="2697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50"/>
              <a:buFont typeface="Calibri"/>
              <a:buNone/>
            </a:pPr>
            <a:r>
              <a:rPr b="1" i="1" lang="en-US" sz="1150" u="none" cap="none" strike="noStrike">
                <a:solidFill>
                  <a:srgbClr val="1E2761"/>
                </a:solidFill>
                <a:latin typeface="Calibri"/>
                <a:ea typeface="Calibri"/>
                <a:cs typeface="Calibri"/>
                <a:sym typeface="Calibri"/>
              </a:rPr>
              <a:t>FastAPI + LangChain + ChromaDB</a:t>
            </a:r>
            <a:endParaRPr b="0" i="0" sz="1150" u="none" cap="none" strike="noStrike">
              <a:solidFill>
                <a:schemeClr val="dk1"/>
              </a:solidFill>
              <a:latin typeface="Calibri"/>
              <a:ea typeface="Calibri"/>
              <a:cs typeface="Calibri"/>
              <a:sym typeface="Calibri"/>
            </a:endParaRPr>
          </a:p>
        </p:txBody>
      </p:sp>
      <p:sp>
        <p:nvSpPr>
          <p:cNvPr id="349" name="Google Shape;349;p9"/>
          <p:cNvSpPr/>
          <p:nvPr/>
        </p:nvSpPr>
        <p:spPr>
          <a:xfrm>
            <a:off x="9299448" y="3794760"/>
            <a:ext cx="2368296" cy="18288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Role-based RAG chatbot</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Internal Docker network only</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Called via Express only</a:t>
            </a:r>
            <a:endParaRPr b="0" i="0" sz="110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1E2761"/>
              </a:buClr>
              <a:buSzPts val="1100"/>
              <a:buFont typeface="Calibri"/>
              <a:buChar char="•"/>
            </a:pPr>
            <a:r>
              <a:rPr b="0" i="0" lang="en-US" sz="1100" u="none" cap="none" strike="noStrike">
                <a:solidFill>
                  <a:srgbClr val="1E2761"/>
                </a:solidFill>
                <a:latin typeface="Calibri"/>
                <a:ea typeface="Calibri"/>
                <a:cs typeface="Calibri"/>
                <a:sym typeface="Calibri"/>
              </a:rPr>
              <a:t>Conversation memory (7 exchanges)</a:t>
            </a:r>
            <a:endParaRPr b="0" i="0" sz="1100" u="none" cap="none" strike="noStrike">
              <a:solidFill>
                <a:schemeClr val="dk1"/>
              </a:solidFill>
              <a:latin typeface="Calibri"/>
              <a:ea typeface="Calibri"/>
              <a:cs typeface="Calibri"/>
              <a:sym typeface="Calibri"/>
            </a:endParaRPr>
          </a:p>
        </p:txBody>
      </p:sp>
      <p:sp>
        <p:nvSpPr>
          <p:cNvPr id="350" name="Google Shape;350;p9"/>
          <p:cNvSpPr/>
          <p:nvPr/>
        </p:nvSpPr>
        <p:spPr>
          <a:xfrm>
            <a:off x="548640" y="5943600"/>
            <a:ext cx="11091672" cy="594360"/>
          </a:xfrm>
          <a:prstGeom prst="roundRect">
            <a:avLst>
              <a:gd fmla="val 923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713232" y="6035040"/>
            <a:ext cx="411480" cy="41148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gold.png" id="352" name="Google Shape;352;p9"/>
          <p:cNvPicPr preferRelativeResize="0"/>
          <p:nvPr/>
        </p:nvPicPr>
        <p:blipFill rotWithShape="1">
          <a:blip r:embed="rId8">
            <a:alphaModFix/>
          </a:blip>
          <a:srcRect b="0" l="0" r="0" t="0"/>
          <a:stretch/>
        </p:blipFill>
        <p:spPr>
          <a:xfrm>
            <a:off x="795528" y="6117336"/>
            <a:ext cx="246888" cy="246888"/>
          </a:xfrm>
          <a:prstGeom prst="rect">
            <a:avLst/>
          </a:prstGeom>
          <a:noFill/>
          <a:ln>
            <a:noFill/>
          </a:ln>
        </p:spPr>
      </p:pic>
      <p:sp>
        <p:nvSpPr>
          <p:cNvPr id="353" name="Google Shape;353;p9"/>
          <p:cNvSpPr/>
          <p:nvPr/>
        </p:nvSpPr>
        <p:spPr>
          <a:xfrm>
            <a:off x="1280160" y="5943600"/>
            <a:ext cx="102412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Security by design: the AI service runs on the internal Docker network only and is never exposed publicly. Every AI request is gated by Express, which first verifies the Firebase ID token (RBAC enforced before any data leaves the API tier).</a:t>
            </a:r>
            <a:endParaRPr b="0" i="0" sz="1150" u="none" cap="none" strike="noStrike">
              <a:solidFill>
                <a:schemeClr val="dk1"/>
              </a:solidFill>
              <a:latin typeface="Calibri"/>
              <a:ea typeface="Calibri"/>
              <a:cs typeface="Calibri"/>
              <a:sym typeface="Calibri"/>
            </a:endParaRPr>
          </a:p>
        </p:txBody>
      </p:sp>
      <p:pic>
        <p:nvPicPr>
          <p:cNvPr descr="/home/claude/slides/logo.png" id="354" name="Google Shape;354;p9"/>
          <p:cNvPicPr preferRelativeResize="0"/>
          <p:nvPr/>
        </p:nvPicPr>
        <p:blipFill rotWithShape="1">
          <a:blip r:embed="rId9">
            <a:alphaModFix/>
          </a:blip>
          <a:srcRect b="0" l="0" r="0" t="0"/>
          <a:stretch/>
        </p:blipFill>
        <p:spPr>
          <a:xfrm>
            <a:off x="10893500" y="155443"/>
            <a:ext cx="1005840" cy="457200"/>
          </a:xfrm>
          <a:prstGeom prst="rect">
            <a:avLst/>
          </a:prstGeom>
          <a:noFill/>
          <a:ln>
            <a:noFill/>
          </a:ln>
        </p:spPr>
      </p:pic>
      <p:sp>
        <p:nvSpPr>
          <p:cNvPr id="355" name="Google Shape;355;p9"/>
          <p:cNvSpPr/>
          <p:nvPr/>
        </p:nvSpPr>
        <p:spPr>
          <a:xfrm>
            <a:off x="525847" y="1152200"/>
            <a:ext cx="11239500" cy="594300"/>
          </a:xfrm>
          <a:prstGeom prst="roundRect">
            <a:avLst>
              <a:gd fmla="val 7692"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250"/>
              <a:buFont typeface="Calibri"/>
              <a:buNone/>
            </a:pPr>
            <a:r>
              <a:rPr b="1" lang="en-US" sz="1250">
                <a:solidFill>
                  <a:schemeClr val="lt1"/>
                </a:solidFill>
                <a:latin typeface="Calibri"/>
                <a:ea typeface="Calibri"/>
                <a:cs typeface="Calibri"/>
                <a:sym typeface="Calibri"/>
              </a:rPr>
              <a:t>Nginx Reverse Proxy - HTTPS (TLS termination, port 443)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g3ec69f6a7fb_0_37"/>
          <p:cNvPicPr preferRelativeResize="0"/>
          <p:nvPr/>
        </p:nvPicPr>
        <p:blipFill>
          <a:blip r:embed="rId3">
            <a:alphaModFix/>
          </a:blip>
          <a:stretch>
            <a:fillRect/>
          </a:stretch>
        </p:blipFill>
        <p:spPr>
          <a:xfrm>
            <a:off x="481400" y="1664587"/>
            <a:ext cx="7850476" cy="5130425"/>
          </a:xfrm>
          <a:prstGeom prst="rect">
            <a:avLst/>
          </a:prstGeom>
          <a:noFill/>
          <a:ln>
            <a:noFill/>
          </a:ln>
        </p:spPr>
      </p:pic>
      <p:sp>
        <p:nvSpPr>
          <p:cNvPr id="362" name="Google Shape;362;g3ec69f6a7fb_0_37"/>
          <p:cNvSpPr/>
          <p:nvPr/>
        </p:nvSpPr>
        <p:spPr>
          <a:xfrm>
            <a:off x="620540" y="365228"/>
            <a:ext cx="96012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Database Design</a:t>
            </a:r>
            <a:endParaRPr b="0" i="0" sz="3200" u="none" cap="none" strike="noStrike">
              <a:solidFill>
                <a:schemeClr val="dk1"/>
              </a:solidFill>
              <a:latin typeface="Calibri"/>
              <a:ea typeface="Calibri"/>
              <a:cs typeface="Calibri"/>
              <a:sym typeface="Calibri"/>
            </a:endParaRPr>
          </a:p>
        </p:txBody>
      </p:sp>
      <p:pic>
        <p:nvPicPr>
          <p:cNvPr descr="/home/claude/slides/logo.png" id="363" name="Google Shape;363;g3ec69f6a7fb_0_37"/>
          <p:cNvPicPr preferRelativeResize="0"/>
          <p:nvPr/>
        </p:nvPicPr>
        <p:blipFill rotWithShape="1">
          <a:blip r:embed="rId4">
            <a:alphaModFix/>
          </a:blip>
          <a:srcRect b="0" l="0" r="0" t="0"/>
          <a:stretch/>
        </p:blipFill>
        <p:spPr>
          <a:xfrm>
            <a:off x="10893500" y="155443"/>
            <a:ext cx="1005840" cy="457200"/>
          </a:xfrm>
          <a:prstGeom prst="rect">
            <a:avLst/>
          </a:prstGeom>
          <a:noFill/>
          <a:ln>
            <a:noFill/>
          </a:ln>
        </p:spPr>
      </p:pic>
      <p:sp>
        <p:nvSpPr>
          <p:cNvPr id="364" name="Google Shape;364;g3ec69f6a7fb_0_37"/>
          <p:cNvSpPr txBox="1"/>
          <p:nvPr/>
        </p:nvSpPr>
        <p:spPr>
          <a:xfrm>
            <a:off x="9081075" y="2966000"/>
            <a:ext cx="3000000" cy="187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700">
                <a:solidFill>
                  <a:srgbClr val="2A3570"/>
                </a:solidFill>
              </a:rPr>
              <a:t>Key Design Decisions</a:t>
            </a:r>
            <a:endParaRPr b="1" sz="1700">
              <a:solidFill>
                <a:srgbClr val="2A3570"/>
              </a:solidFill>
            </a:endParaRPr>
          </a:p>
          <a:p>
            <a:pPr indent="-298450" lvl="0" marL="457200" rtl="0" algn="l">
              <a:lnSpc>
                <a:spcPct val="115000"/>
              </a:lnSpc>
              <a:spcBef>
                <a:spcPts val="400"/>
              </a:spcBef>
              <a:spcAft>
                <a:spcPts val="0"/>
              </a:spcAft>
              <a:buClr>
                <a:schemeClr val="dk1"/>
              </a:buClr>
              <a:buSzPts val="1100"/>
              <a:buChar char="●"/>
            </a:pPr>
            <a:r>
              <a:rPr lang="en-US" sz="1100">
                <a:solidFill>
                  <a:schemeClr val="dk1"/>
                </a:solidFill>
                <a:latin typeface="Calibri"/>
                <a:ea typeface="Calibri"/>
                <a:cs typeface="Calibri"/>
                <a:sym typeface="Calibri"/>
              </a:rPr>
              <a:t>User and Patient are kept as separate tables </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All clinical checklist fields are plain strings on </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Firebase handles authentication outside of the application database</a:t>
            </a:r>
            <a:r>
              <a:rPr lang="en-US" sz="1100">
                <a:solidFill>
                  <a:schemeClr val="dk1"/>
                </a:solidFill>
              </a:rPr>
              <a:t>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sz="1100">
              <a:solidFill>
                <a:schemeClr val="dk1"/>
              </a:solidFill>
            </a:endParaRPr>
          </a:p>
        </p:txBody>
      </p:sp>
      <p:sp>
        <p:nvSpPr>
          <p:cNvPr id="365" name="Google Shape;365;g3ec69f6a7fb_0_37"/>
          <p:cNvSpPr txBox="1"/>
          <p:nvPr/>
        </p:nvSpPr>
        <p:spPr>
          <a:xfrm>
            <a:off x="9143075" y="5000400"/>
            <a:ext cx="2699100" cy="12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37458C"/>
                </a:solidFill>
              </a:rPr>
              <a:t>Limitations:</a:t>
            </a:r>
            <a:endParaRPr b="1">
              <a:solidFill>
                <a:srgbClr val="37458C"/>
              </a:solidFill>
            </a:endParaRPr>
          </a:p>
          <a:p>
            <a:pPr indent="-101600" lvl="0" marL="101600" rtl="0" algn="l">
              <a:spcBef>
                <a:spcPts val="600"/>
              </a:spcBef>
              <a:spcAft>
                <a:spcPts val="0"/>
              </a:spcAft>
              <a:buClr>
                <a:schemeClr val="dk1"/>
              </a:buClr>
              <a:buSzPts val="1150"/>
              <a:buFont typeface="Calibri"/>
              <a:buChar char="•"/>
            </a:pPr>
            <a:r>
              <a:rPr lang="en-US" sz="1150">
                <a:solidFill>
                  <a:schemeClr val="dk1"/>
                </a:solidFill>
                <a:latin typeface="Calibri"/>
                <a:ea typeface="Calibri"/>
                <a:cs typeface="Calibri"/>
                <a:sym typeface="Calibri"/>
              </a:rPr>
              <a:t>AI conversation memory is NOT persisted to this database - documented limitation (in-memory only, scoped per session)</a:t>
            </a:r>
            <a:endParaRPr/>
          </a:p>
        </p:txBody>
      </p:sp>
      <p:sp>
        <p:nvSpPr>
          <p:cNvPr id="366" name="Google Shape;366;g3ec69f6a7fb_0_37"/>
          <p:cNvSpPr txBox="1"/>
          <p:nvPr/>
        </p:nvSpPr>
        <p:spPr>
          <a:xfrm>
            <a:off x="613800" y="995100"/>
            <a:ext cx="9614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The application uses four tables in PostgreSQL, managed through the Prisma ORM: User, Patient, AuditLog, and Notification. </a:t>
            </a:r>
            <a:endParaRPr/>
          </a:p>
        </p:txBody>
      </p:sp>
      <p:sp>
        <p:nvSpPr>
          <p:cNvPr id="367" name="Google Shape;367;g3ec69f6a7fb_0_37"/>
          <p:cNvSpPr/>
          <p:nvPr/>
        </p:nvSpPr>
        <p:spPr>
          <a:xfrm>
            <a:off x="548640" y="292608"/>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ARCHITECTURE - DATA TIER</a:t>
            </a:r>
            <a:endParaRPr b="0" i="0" sz="1200" u="none" cap="none" strike="noStrike">
              <a:solidFill>
                <a:schemeClr val="dk1"/>
              </a:solidFill>
              <a:latin typeface="Calibri"/>
              <a:ea typeface="Calibri"/>
              <a:cs typeface="Calibri"/>
              <a:sym typeface="Calibri"/>
            </a:endParaRPr>
          </a:p>
        </p:txBody>
      </p:sp>
      <p:sp>
        <p:nvSpPr>
          <p:cNvPr id="368" name="Google Shape;368;g3ec69f6a7fb_0_37"/>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g3ec69f6a7fb_0_140"/>
          <p:cNvSpPr/>
          <p:nvPr/>
        </p:nvSpPr>
        <p:spPr>
          <a:xfrm>
            <a:off x="548640" y="566928"/>
            <a:ext cx="96012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lang="en-US" sz="3200">
                <a:solidFill>
                  <a:srgbClr val="1E2761"/>
                </a:solidFill>
                <a:latin typeface="Cambria"/>
                <a:ea typeface="Cambria"/>
                <a:cs typeface="Cambria"/>
                <a:sym typeface="Cambria"/>
              </a:rPr>
              <a:t>Overall System State Summary</a:t>
            </a:r>
            <a:endParaRPr b="0" i="0" sz="3200" u="none" cap="none" strike="noStrike">
              <a:solidFill>
                <a:schemeClr val="dk1"/>
              </a:solidFill>
              <a:latin typeface="Calibri"/>
              <a:ea typeface="Calibri"/>
              <a:cs typeface="Calibri"/>
              <a:sym typeface="Calibri"/>
            </a:endParaRPr>
          </a:p>
        </p:txBody>
      </p:sp>
      <p:sp>
        <p:nvSpPr>
          <p:cNvPr id="375" name="Google Shape;375;g3ec69f6a7fb_0_140"/>
          <p:cNvSpPr/>
          <p:nvPr/>
        </p:nvSpPr>
        <p:spPr>
          <a:xfrm>
            <a:off x="10186425" y="692957"/>
            <a:ext cx="2103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376" name="Google Shape;376;g3ec69f6a7fb_0_140"/>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377" name="Google Shape;377;g3ec69f6a7fb_0_140"/>
          <p:cNvSpPr/>
          <p:nvPr/>
        </p:nvSpPr>
        <p:spPr>
          <a:xfrm>
            <a:off x="11368735" y="6510528"/>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378" name="Google Shape;378;g3ec69f6a7fb_0_140"/>
          <p:cNvSpPr/>
          <p:nvPr/>
        </p:nvSpPr>
        <p:spPr>
          <a:xfrm>
            <a:off x="548640" y="132588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i="1" lang="en-US" sz="1300">
                <a:solidFill>
                  <a:srgbClr val="5B6B8C"/>
                </a:solidFill>
                <a:latin typeface="Calibri"/>
                <a:ea typeface="Calibri"/>
                <a:cs typeface="Calibri"/>
                <a:sym typeface="Calibri"/>
              </a:rPr>
              <a:t>How users move through the system</a:t>
            </a:r>
            <a:endParaRPr b="0" i="0" sz="1300" u="none" cap="none" strike="noStrike">
              <a:solidFill>
                <a:schemeClr val="dk1"/>
              </a:solidFill>
              <a:latin typeface="Calibri"/>
              <a:ea typeface="Calibri"/>
              <a:cs typeface="Calibri"/>
              <a:sym typeface="Calibri"/>
            </a:endParaRPr>
          </a:p>
        </p:txBody>
      </p:sp>
      <p:sp>
        <p:nvSpPr>
          <p:cNvPr id="379" name="Google Shape;379;g3ec69f6a7fb_0_140"/>
          <p:cNvSpPr/>
          <p:nvPr/>
        </p:nvSpPr>
        <p:spPr>
          <a:xfrm>
            <a:off x="3163824" y="3840480"/>
            <a:ext cx="329100" cy="3291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ec69f6a7fb_0_140"/>
          <p:cNvSpPr/>
          <p:nvPr/>
        </p:nvSpPr>
        <p:spPr>
          <a:xfrm>
            <a:off x="4462272" y="2697480"/>
            <a:ext cx="594300" cy="5943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ec69f6a7fb_0_140"/>
          <p:cNvSpPr/>
          <p:nvPr/>
        </p:nvSpPr>
        <p:spPr>
          <a:xfrm>
            <a:off x="7324344" y="2697480"/>
            <a:ext cx="594300" cy="5943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ec69f6a7fb_0_140"/>
          <p:cNvSpPr/>
          <p:nvPr/>
        </p:nvSpPr>
        <p:spPr>
          <a:xfrm>
            <a:off x="8887968" y="3840480"/>
            <a:ext cx="329100" cy="3291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3ec69f6a7fb_0_140"/>
          <p:cNvSpPr/>
          <p:nvPr/>
        </p:nvSpPr>
        <p:spPr>
          <a:xfrm>
            <a:off x="10186416" y="2697480"/>
            <a:ext cx="594300" cy="5943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lides/logo.png" id="384" name="Google Shape;384;g3ec69f6a7fb_0_140"/>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pic>
        <p:nvPicPr>
          <p:cNvPr id="385" name="Google Shape;385;g3ec69f6a7fb_0_140"/>
          <p:cNvPicPr preferRelativeResize="0"/>
          <p:nvPr/>
        </p:nvPicPr>
        <p:blipFill>
          <a:blip r:embed="rId4">
            <a:alphaModFix/>
          </a:blip>
          <a:stretch>
            <a:fillRect/>
          </a:stretch>
        </p:blipFill>
        <p:spPr>
          <a:xfrm>
            <a:off x="1952275" y="1598026"/>
            <a:ext cx="8810547" cy="4912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ec69f6a7fb_0_92"/>
          <p:cNvSpPr/>
          <p:nvPr/>
        </p:nvSpPr>
        <p:spPr>
          <a:xfrm>
            <a:off x="620540" y="365228"/>
            <a:ext cx="9601200" cy="777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t/>
            </a:r>
            <a:endParaRPr b="1" sz="23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Sequence Diagrams</a:t>
            </a:r>
            <a:endParaRPr b="1" sz="2300">
              <a:solidFill>
                <a:schemeClr val="dk1"/>
              </a:solidFill>
            </a:endParaRPr>
          </a:p>
          <a:p>
            <a:pPr indent="0" lvl="0" marL="0" marR="0" rtl="0" algn="l">
              <a:spcBef>
                <a:spcPts val="600"/>
              </a:spcBef>
              <a:spcAft>
                <a:spcPts val="0"/>
              </a:spcAft>
              <a:buClr>
                <a:srgbClr val="1E2761"/>
              </a:buClr>
              <a:buSzPts val="3200"/>
              <a:buFont typeface="Cambria"/>
              <a:buNone/>
            </a:pPr>
            <a:r>
              <a:t/>
            </a:r>
            <a:endParaRPr b="1" sz="3200">
              <a:solidFill>
                <a:srgbClr val="1E2761"/>
              </a:solidFill>
              <a:latin typeface="Cambria"/>
              <a:ea typeface="Cambria"/>
              <a:cs typeface="Cambria"/>
              <a:sym typeface="Cambria"/>
            </a:endParaRPr>
          </a:p>
        </p:txBody>
      </p:sp>
      <p:pic>
        <p:nvPicPr>
          <p:cNvPr descr="/home/claude/slides/logo.png" id="392" name="Google Shape;392;g3ec69f6a7fb_0_92"/>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
        <p:nvSpPr>
          <p:cNvPr id="393" name="Google Shape;393;g3ec69f6a7fb_0_92"/>
          <p:cNvSpPr txBox="1"/>
          <p:nvPr/>
        </p:nvSpPr>
        <p:spPr>
          <a:xfrm>
            <a:off x="613800" y="995100"/>
            <a:ext cx="9614700" cy="34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Patient Registration</a:t>
            </a:r>
            <a:endParaRPr b="1" sz="1700">
              <a:solidFill>
                <a:schemeClr val="dk1"/>
              </a:solidFill>
            </a:endParaRPr>
          </a:p>
          <a:p>
            <a:pPr indent="0" lvl="0" marL="0" rtl="0" algn="l">
              <a:spcBef>
                <a:spcPts val="400"/>
              </a:spcBef>
              <a:spcAft>
                <a:spcPts val="0"/>
              </a:spcAft>
              <a:buNone/>
            </a:pPr>
            <a:r>
              <a:t/>
            </a:r>
            <a:endParaRPr/>
          </a:p>
        </p:txBody>
      </p:sp>
      <p:sp>
        <p:nvSpPr>
          <p:cNvPr id="394" name="Google Shape;394;g3ec69f6a7fb_0_92"/>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pic>
        <p:nvPicPr>
          <p:cNvPr id="395" name="Google Shape;395;g3ec69f6a7fb_0_92"/>
          <p:cNvPicPr preferRelativeResize="0"/>
          <p:nvPr/>
        </p:nvPicPr>
        <p:blipFill>
          <a:blip r:embed="rId4">
            <a:alphaModFix/>
          </a:blip>
          <a:stretch>
            <a:fillRect/>
          </a:stretch>
        </p:blipFill>
        <p:spPr>
          <a:xfrm>
            <a:off x="152400" y="1490400"/>
            <a:ext cx="7201781" cy="486772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ec69f6a7fb_0_107"/>
          <p:cNvSpPr/>
          <p:nvPr/>
        </p:nvSpPr>
        <p:spPr>
          <a:xfrm>
            <a:off x="620540" y="365228"/>
            <a:ext cx="9601200" cy="777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t/>
            </a:r>
            <a:endParaRPr b="1" sz="23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Sequence Diagrams</a:t>
            </a:r>
            <a:endParaRPr b="1" sz="2300">
              <a:solidFill>
                <a:schemeClr val="dk1"/>
              </a:solidFill>
            </a:endParaRPr>
          </a:p>
          <a:p>
            <a:pPr indent="0" lvl="0" marL="0" marR="0" rtl="0" algn="l">
              <a:spcBef>
                <a:spcPts val="600"/>
              </a:spcBef>
              <a:spcAft>
                <a:spcPts val="0"/>
              </a:spcAft>
              <a:buClr>
                <a:srgbClr val="1E2761"/>
              </a:buClr>
              <a:buSzPts val="3200"/>
              <a:buFont typeface="Cambria"/>
              <a:buNone/>
            </a:pPr>
            <a:r>
              <a:t/>
            </a:r>
            <a:endParaRPr b="1" sz="3200">
              <a:solidFill>
                <a:srgbClr val="1E2761"/>
              </a:solidFill>
              <a:latin typeface="Cambria"/>
              <a:ea typeface="Cambria"/>
              <a:cs typeface="Cambria"/>
              <a:sym typeface="Cambria"/>
            </a:endParaRPr>
          </a:p>
        </p:txBody>
      </p:sp>
      <p:pic>
        <p:nvPicPr>
          <p:cNvPr descr="/home/claude/slides/logo.png" id="402" name="Google Shape;402;g3ec69f6a7fb_0_107"/>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
        <p:nvSpPr>
          <p:cNvPr id="403" name="Google Shape;403;g3ec69f6a7fb_0_107"/>
          <p:cNvSpPr txBox="1"/>
          <p:nvPr/>
        </p:nvSpPr>
        <p:spPr>
          <a:xfrm>
            <a:off x="613800" y="995100"/>
            <a:ext cx="9614700" cy="34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Login and Role-Based Routing</a:t>
            </a:r>
            <a:endParaRPr b="1" sz="1700">
              <a:solidFill>
                <a:schemeClr val="dk1"/>
              </a:solidFill>
            </a:endParaRPr>
          </a:p>
          <a:p>
            <a:pPr indent="0" lvl="0" marL="0" rtl="0" algn="l">
              <a:lnSpc>
                <a:spcPct val="115000"/>
              </a:lnSpc>
              <a:spcBef>
                <a:spcPts val="1800"/>
              </a:spcBef>
              <a:spcAft>
                <a:spcPts val="0"/>
              </a:spcAft>
              <a:buNone/>
            </a:pPr>
            <a:r>
              <a:t/>
            </a:r>
            <a:endParaRPr b="1" sz="1700">
              <a:solidFill>
                <a:schemeClr val="dk1"/>
              </a:solidFill>
            </a:endParaRPr>
          </a:p>
          <a:p>
            <a:pPr indent="0" lvl="0" marL="0" rtl="0" algn="l">
              <a:spcBef>
                <a:spcPts val="400"/>
              </a:spcBef>
              <a:spcAft>
                <a:spcPts val="0"/>
              </a:spcAft>
              <a:buNone/>
            </a:pPr>
            <a:r>
              <a:t/>
            </a:r>
            <a:endParaRPr/>
          </a:p>
        </p:txBody>
      </p:sp>
      <p:sp>
        <p:nvSpPr>
          <p:cNvPr id="404" name="Google Shape;404;g3ec69f6a7fb_0_107"/>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pic>
        <p:nvPicPr>
          <p:cNvPr id="405" name="Google Shape;405;g3ec69f6a7fb_0_107"/>
          <p:cNvPicPr preferRelativeResize="0"/>
          <p:nvPr/>
        </p:nvPicPr>
        <p:blipFill>
          <a:blip r:embed="rId4">
            <a:alphaModFix/>
          </a:blip>
          <a:stretch>
            <a:fillRect/>
          </a:stretch>
        </p:blipFill>
        <p:spPr>
          <a:xfrm>
            <a:off x="152400" y="1490400"/>
            <a:ext cx="8271610" cy="48677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ec69f6a7fb_0_118"/>
          <p:cNvSpPr/>
          <p:nvPr/>
        </p:nvSpPr>
        <p:spPr>
          <a:xfrm>
            <a:off x="620540" y="365228"/>
            <a:ext cx="9601200" cy="777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t/>
            </a:r>
            <a:endParaRPr b="1" sz="23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Sequence Diagrams</a:t>
            </a:r>
            <a:endParaRPr b="1" sz="2300">
              <a:solidFill>
                <a:schemeClr val="dk1"/>
              </a:solidFill>
            </a:endParaRPr>
          </a:p>
          <a:p>
            <a:pPr indent="0" lvl="0" marL="0" marR="0" rtl="0" algn="l">
              <a:spcBef>
                <a:spcPts val="600"/>
              </a:spcBef>
              <a:spcAft>
                <a:spcPts val="0"/>
              </a:spcAft>
              <a:buClr>
                <a:srgbClr val="1E2761"/>
              </a:buClr>
              <a:buSzPts val="3200"/>
              <a:buFont typeface="Cambria"/>
              <a:buNone/>
            </a:pPr>
            <a:r>
              <a:t/>
            </a:r>
            <a:endParaRPr b="1" sz="3200">
              <a:solidFill>
                <a:srgbClr val="1E2761"/>
              </a:solidFill>
              <a:latin typeface="Cambria"/>
              <a:ea typeface="Cambria"/>
              <a:cs typeface="Cambria"/>
              <a:sym typeface="Cambria"/>
            </a:endParaRPr>
          </a:p>
        </p:txBody>
      </p:sp>
      <p:pic>
        <p:nvPicPr>
          <p:cNvPr descr="/home/claude/slides/logo.png" id="412" name="Google Shape;412;g3ec69f6a7fb_0_118"/>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
        <p:nvSpPr>
          <p:cNvPr id="413" name="Google Shape;413;g3ec69f6a7fb_0_118"/>
          <p:cNvSpPr txBox="1"/>
          <p:nvPr/>
        </p:nvSpPr>
        <p:spPr>
          <a:xfrm>
            <a:off x="613800" y="995100"/>
            <a:ext cx="9614700" cy="34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US" sz="1700">
                <a:solidFill>
                  <a:schemeClr val="dk1"/>
                </a:solidFill>
              </a:rPr>
              <a:t>Coordinator Updates Clinical Status</a:t>
            </a:r>
            <a:endParaRPr b="1" sz="1700">
              <a:solidFill>
                <a:schemeClr val="dk1"/>
              </a:solidFill>
            </a:endParaRPr>
          </a:p>
        </p:txBody>
      </p:sp>
      <p:sp>
        <p:nvSpPr>
          <p:cNvPr id="414" name="Google Shape;414;g3ec69f6a7fb_0_118"/>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pic>
        <p:nvPicPr>
          <p:cNvPr id="415" name="Google Shape;415;g3ec69f6a7fb_0_118"/>
          <p:cNvPicPr preferRelativeResize="0"/>
          <p:nvPr/>
        </p:nvPicPr>
        <p:blipFill>
          <a:blip r:embed="rId4">
            <a:alphaModFix/>
          </a:blip>
          <a:stretch>
            <a:fillRect/>
          </a:stretch>
        </p:blipFill>
        <p:spPr>
          <a:xfrm>
            <a:off x="152400" y="1490400"/>
            <a:ext cx="8730266" cy="4867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ec69f6a7fb_0_129"/>
          <p:cNvSpPr/>
          <p:nvPr/>
        </p:nvSpPr>
        <p:spPr>
          <a:xfrm>
            <a:off x="620540" y="365228"/>
            <a:ext cx="9601200" cy="777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t/>
            </a:r>
            <a:endParaRPr b="1" sz="2300">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Sequence Diagrams</a:t>
            </a:r>
            <a:endParaRPr b="1" sz="2300">
              <a:solidFill>
                <a:schemeClr val="dk1"/>
              </a:solidFill>
            </a:endParaRPr>
          </a:p>
          <a:p>
            <a:pPr indent="0" lvl="0" marL="0" marR="0" rtl="0" algn="l">
              <a:spcBef>
                <a:spcPts val="600"/>
              </a:spcBef>
              <a:spcAft>
                <a:spcPts val="0"/>
              </a:spcAft>
              <a:buClr>
                <a:srgbClr val="1E2761"/>
              </a:buClr>
              <a:buSzPts val="3200"/>
              <a:buFont typeface="Cambria"/>
              <a:buNone/>
            </a:pPr>
            <a:r>
              <a:t/>
            </a:r>
            <a:endParaRPr b="1" sz="3200">
              <a:solidFill>
                <a:srgbClr val="1E2761"/>
              </a:solidFill>
              <a:latin typeface="Cambria"/>
              <a:ea typeface="Cambria"/>
              <a:cs typeface="Cambria"/>
              <a:sym typeface="Cambria"/>
            </a:endParaRPr>
          </a:p>
        </p:txBody>
      </p:sp>
      <p:pic>
        <p:nvPicPr>
          <p:cNvPr descr="/home/claude/slides/logo.png" id="422" name="Google Shape;422;g3ec69f6a7fb_0_129"/>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
        <p:nvSpPr>
          <p:cNvPr id="423" name="Google Shape;423;g3ec69f6a7fb_0_129"/>
          <p:cNvSpPr txBox="1"/>
          <p:nvPr/>
        </p:nvSpPr>
        <p:spPr>
          <a:xfrm>
            <a:off x="565775" y="995100"/>
            <a:ext cx="9614700" cy="34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AI Chat (Retrieval-Augmented Generation)</a:t>
            </a:r>
            <a:endParaRPr b="1" sz="1700">
              <a:solidFill>
                <a:schemeClr val="dk1"/>
              </a:solidFill>
            </a:endParaRPr>
          </a:p>
          <a:p>
            <a:pPr indent="0" lvl="0" marL="0" rtl="0" algn="l">
              <a:lnSpc>
                <a:spcPct val="115000"/>
              </a:lnSpc>
              <a:spcBef>
                <a:spcPts val="1800"/>
              </a:spcBef>
              <a:spcAft>
                <a:spcPts val="400"/>
              </a:spcAft>
              <a:buNone/>
            </a:pPr>
            <a:r>
              <a:t/>
            </a:r>
            <a:endParaRPr b="1" sz="1700">
              <a:solidFill>
                <a:schemeClr val="dk1"/>
              </a:solidFill>
            </a:endParaRPr>
          </a:p>
        </p:txBody>
      </p:sp>
      <p:sp>
        <p:nvSpPr>
          <p:cNvPr id="424" name="Google Shape;424;g3ec69f6a7fb_0_129"/>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pic>
        <p:nvPicPr>
          <p:cNvPr id="425" name="Google Shape;425;g3ec69f6a7fb_0_129"/>
          <p:cNvPicPr preferRelativeResize="0"/>
          <p:nvPr/>
        </p:nvPicPr>
        <p:blipFill>
          <a:blip r:embed="rId4">
            <a:alphaModFix/>
          </a:blip>
          <a:stretch>
            <a:fillRect/>
          </a:stretch>
        </p:blipFill>
        <p:spPr>
          <a:xfrm>
            <a:off x="152400" y="1490400"/>
            <a:ext cx="8486858" cy="486772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p11"/>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ARCHITECTURE</a:t>
            </a:r>
            <a:endParaRPr b="0" i="0" sz="1200" u="none" cap="none" strike="noStrike">
              <a:solidFill>
                <a:schemeClr val="dk1"/>
              </a:solidFill>
              <a:latin typeface="Calibri"/>
              <a:ea typeface="Calibri"/>
              <a:cs typeface="Calibri"/>
              <a:sym typeface="Calibri"/>
            </a:endParaRPr>
          </a:p>
        </p:txBody>
      </p:sp>
      <p:sp>
        <p:nvSpPr>
          <p:cNvPr id="432" name="Google Shape;432;p11"/>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Technology Stack &amp; Key Decisions</a:t>
            </a:r>
            <a:endParaRPr b="0" i="0" sz="3200" u="none" cap="none" strike="noStrike">
              <a:solidFill>
                <a:schemeClr val="dk1"/>
              </a:solidFill>
              <a:latin typeface="Calibri"/>
              <a:ea typeface="Calibri"/>
              <a:cs typeface="Calibri"/>
              <a:sym typeface="Calibri"/>
            </a:endParaRPr>
          </a:p>
        </p:txBody>
      </p:sp>
      <p:sp>
        <p:nvSpPr>
          <p:cNvPr id="433" name="Google Shape;433;p11"/>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434" name="Google Shape;434;p11"/>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435" name="Google Shape;435;p11"/>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436" name="Google Shape;436;p11"/>
          <p:cNvSpPr/>
          <p:nvPr/>
        </p:nvSpPr>
        <p:spPr>
          <a:xfrm>
            <a:off x="548640" y="141732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Technology Stack</a:t>
            </a:r>
            <a:endParaRPr b="0" i="0" sz="1600" u="none" cap="none" strike="noStrike">
              <a:solidFill>
                <a:schemeClr val="dk1"/>
              </a:solidFill>
              <a:latin typeface="Calibri"/>
              <a:ea typeface="Calibri"/>
              <a:cs typeface="Calibri"/>
              <a:sym typeface="Calibri"/>
            </a:endParaRPr>
          </a:p>
        </p:txBody>
      </p:sp>
      <p:graphicFrame>
        <p:nvGraphicFramePr>
          <p:cNvPr id="437" name="Google Shape;437;p11"/>
          <p:cNvGraphicFramePr/>
          <p:nvPr/>
        </p:nvGraphicFramePr>
        <p:xfrm>
          <a:off x="548640" y="1828800"/>
          <a:ext cx="3000000" cy="3000000"/>
        </p:xfrm>
        <a:graphic>
          <a:graphicData uri="http://schemas.openxmlformats.org/drawingml/2006/table">
            <a:tbl>
              <a:tblPr>
                <a:noFill/>
                <a:tableStyleId>{955ED656-998D-43FE-8ED1-5B3E3F8F77ED}</a:tableStyleId>
              </a:tblPr>
              <a:tblGrid>
                <a:gridCol w="1554475"/>
                <a:gridCol w="4114800"/>
              </a:tblGrid>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Frontend</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React + Vite + Bootstrap</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Backend</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Node.js + Express</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Database</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PostgreSQL + Prisma ORM</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Auth</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Firebase Authentication</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AI Service</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Python FastAPI + LangChain + ChromaDB + GPT-4.1-mini</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Containers</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Docker + Docker Compose (4 services)</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CI/CD</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GitHub Actions (CI, CodeQL, Trivy, ZAP)</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Deployment</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DigitalOcean Droplet + Nginx (HTTPS)</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Project Mgmt</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1E2761"/>
                        </a:buClr>
                        <a:buSzPts val="1150"/>
                        <a:buFont typeface="Calibri"/>
                        <a:buNone/>
                      </a:pPr>
                      <a:r>
                        <a:rPr lang="en-US" sz="1150" u="none" cap="none" strike="noStrike">
                          <a:solidFill>
                            <a:srgbClr val="1E2761"/>
                          </a:solidFill>
                          <a:latin typeface="Calibri"/>
                          <a:ea typeface="Calibri"/>
                          <a:cs typeface="Calibri"/>
                          <a:sym typeface="Calibri"/>
                        </a:rPr>
                        <a:t>Jira (Scrum)</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sp>
        <p:nvSpPr>
          <p:cNvPr id="438" name="Google Shape;438;p11"/>
          <p:cNvSpPr/>
          <p:nvPr/>
        </p:nvSpPr>
        <p:spPr>
          <a:xfrm>
            <a:off x="6446520" y="141732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Key Architectural Decisions</a:t>
            </a:r>
            <a:endParaRPr b="0" i="0" sz="1600" u="none" cap="none" strike="noStrike">
              <a:solidFill>
                <a:schemeClr val="dk1"/>
              </a:solidFill>
              <a:latin typeface="Calibri"/>
              <a:ea typeface="Calibri"/>
              <a:cs typeface="Calibri"/>
              <a:sym typeface="Calibri"/>
            </a:endParaRPr>
          </a:p>
        </p:txBody>
      </p:sp>
      <p:sp>
        <p:nvSpPr>
          <p:cNvPr id="439" name="Google Shape;439;p11"/>
          <p:cNvSpPr/>
          <p:nvPr/>
        </p:nvSpPr>
        <p:spPr>
          <a:xfrm>
            <a:off x="6446520" y="1874520"/>
            <a:ext cx="5193792" cy="960120"/>
          </a:xfrm>
          <a:prstGeom prst="roundRect">
            <a:avLst>
              <a:gd fmla="val 7619"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6629400" y="2075688"/>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navy.png" id="441" name="Google Shape;441;p11"/>
          <p:cNvPicPr preferRelativeResize="0"/>
          <p:nvPr/>
        </p:nvPicPr>
        <p:blipFill rotWithShape="1">
          <a:blip r:embed="rId3">
            <a:alphaModFix/>
          </a:blip>
          <a:srcRect b="0" l="0" r="0" t="0"/>
          <a:stretch/>
        </p:blipFill>
        <p:spPr>
          <a:xfrm>
            <a:off x="6752844" y="2199132"/>
            <a:ext cx="301752" cy="301752"/>
          </a:xfrm>
          <a:prstGeom prst="rect">
            <a:avLst/>
          </a:prstGeom>
          <a:noFill/>
          <a:ln>
            <a:noFill/>
          </a:ln>
        </p:spPr>
      </p:pic>
      <p:sp>
        <p:nvSpPr>
          <p:cNvPr id="442" name="Google Shape;442;p11"/>
          <p:cNvSpPr/>
          <p:nvPr/>
        </p:nvSpPr>
        <p:spPr>
          <a:xfrm>
            <a:off x="7315200" y="196596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Firebase over custom JWT/bcrypt</a:t>
            </a:r>
            <a:endParaRPr b="0" i="0" sz="1250" u="none" cap="none" strike="noStrike">
              <a:solidFill>
                <a:schemeClr val="dk1"/>
              </a:solidFill>
              <a:latin typeface="Calibri"/>
              <a:ea typeface="Calibri"/>
              <a:cs typeface="Calibri"/>
              <a:sym typeface="Calibri"/>
            </a:endParaRPr>
          </a:p>
        </p:txBody>
      </p:sp>
      <p:sp>
        <p:nvSpPr>
          <p:cNvPr id="443" name="Google Shape;443;p11"/>
          <p:cNvSpPr/>
          <p:nvPr/>
        </p:nvSpPr>
        <p:spPr>
          <a:xfrm>
            <a:off x="7315200" y="2286000"/>
            <a:ext cx="4206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Firebase issues ID tokens and hashes passwords - eliminates redundant security-sensitive code (less attack surface to maintain).</a:t>
            </a:r>
            <a:endParaRPr b="0" i="0" sz="1000" u="none" cap="none" strike="noStrike">
              <a:solidFill>
                <a:schemeClr val="dk1"/>
              </a:solidFill>
              <a:latin typeface="Calibri"/>
              <a:ea typeface="Calibri"/>
              <a:cs typeface="Calibri"/>
              <a:sym typeface="Calibri"/>
            </a:endParaRPr>
          </a:p>
        </p:txBody>
      </p:sp>
      <p:sp>
        <p:nvSpPr>
          <p:cNvPr id="444" name="Google Shape;444;p11"/>
          <p:cNvSpPr/>
          <p:nvPr/>
        </p:nvSpPr>
        <p:spPr>
          <a:xfrm>
            <a:off x="6446520" y="2953512"/>
            <a:ext cx="5193792" cy="960120"/>
          </a:xfrm>
          <a:prstGeom prst="roundRect">
            <a:avLst>
              <a:gd fmla="val 7619"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6629400" y="315468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navy.png" id="446" name="Google Shape;446;p11"/>
          <p:cNvPicPr preferRelativeResize="0"/>
          <p:nvPr/>
        </p:nvPicPr>
        <p:blipFill rotWithShape="1">
          <a:blip r:embed="rId4">
            <a:alphaModFix/>
          </a:blip>
          <a:srcRect b="0" l="0" r="0" t="0"/>
          <a:stretch/>
        </p:blipFill>
        <p:spPr>
          <a:xfrm>
            <a:off x="6752844" y="3278124"/>
            <a:ext cx="301752" cy="301752"/>
          </a:xfrm>
          <a:prstGeom prst="rect">
            <a:avLst/>
          </a:prstGeom>
          <a:noFill/>
          <a:ln>
            <a:noFill/>
          </a:ln>
        </p:spPr>
      </p:pic>
      <p:sp>
        <p:nvSpPr>
          <p:cNvPr id="447" name="Google Shape;447;p11"/>
          <p:cNvSpPr/>
          <p:nvPr/>
        </p:nvSpPr>
        <p:spPr>
          <a:xfrm>
            <a:off x="7315200" y="3044952"/>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Python microservice for AI</a:t>
            </a:r>
            <a:endParaRPr b="0" i="0" sz="1250" u="none" cap="none" strike="noStrike">
              <a:solidFill>
                <a:schemeClr val="dk1"/>
              </a:solidFill>
              <a:latin typeface="Calibri"/>
              <a:ea typeface="Calibri"/>
              <a:cs typeface="Calibri"/>
              <a:sym typeface="Calibri"/>
            </a:endParaRPr>
          </a:p>
        </p:txBody>
      </p:sp>
      <p:sp>
        <p:nvSpPr>
          <p:cNvPr id="448" name="Google Shape;448;p11"/>
          <p:cNvSpPr/>
          <p:nvPr/>
        </p:nvSpPr>
        <p:spPr>
          <a:xfrm>
            <a:off x="7315200" y="3364992"/>
            <a:ext cx="4206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FastAPI + LangChain + ChromaDB is the right ecosystem for RAG; Node stays focused on the web API.</a:t>
            </a:r>
            <a:endParaRPr b="0" i="0" sz="1000" u="none" cap="none" strike="noStrike">
              <a:solidFill>
                <a:schemeClr val="dk1"/>
              </a:solidFill>
              <a:latin typeface="Calibri"/>
              <a:ea typeface="Calibri"/>
              <a:cs typeface="Calibri"/>
              <a:sym typeface="Calibri"/>
            </a:endParaRPr>
          </a:p>
        </p:txBody>
      </p:sp>
      <p:sp>
        <p:nvSpPr>
          <p:cNvPr id="449" name="Google Shape;449;p11"/>
          <p:cNvSpPr/>
          <p:nvPr/>
        </p:nvSpPr>
        <p:spPr>
          <a:xfrm>
            <a:off x="6446520" y="4032504"/>
            <a:ext cx="5193792" cy="960120"/>
          </a:xfrm>
          <a:prstGeom prst="roundRect">
            <a:avLst>
              <a:gd fmla="val 7619"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6629400" y="4233672"/>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lock_navy.png" id="451" name="Google Shape;451;p11"/>
          <p:cNvPicPr preferRelativeResize="0"/>
          <p:nvPr/>
        </p:nvPicPr>
        <p:blipFill rotWithShape="1">
          <a:blip r:embed="rId5">
            <a:alphaModFix/>
          </a:blip>
          <a:srcRect b="0" l="0" r="0" t="0"/>
          <a:stretch/>
        </p:blipFill>
        <p:spPr>
          <a:xfrm>
            <a:off x="6752844" y="4357116"/>
            <a:ext cx="301752" cy="301752"/>
          </a:xfrm>
          <a:prstGeom prst="rect">
            <a:avLst/>
          </a:prstGeom>
          <a:noFill/>
          <a:ln>
            <a:noFill/>
          </a:ln>
        </p:spPr>
      </p:pic>
      <p:sp>
        <p:nvSpPr>
          <p:cNvPr id="452" name="Google Shape;452;p11"/>
          <p:cNvSpPr/>
          <p:nvPr/>
        </p:nvSpPr>
        <p:spPr>
          <a:xfrm>
            <a:off x="7315200" y="4123944"/>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Security woven in from Iteration 1</a:t>
            </a:r>
            <a:endParaRPr b="0" i="0" sz="1250" u="none" cap="none" strike="noStrike">
              <a:solidFill>
                <a:schemeClr val="dk1"/>
              </a:solidFill>
              <a:latin typeface="Calibri"/>
              <a:ea typeface="Calibri"/>
              <a:cs typeface="Calibri"/>
              <a:sym typeface="Calibri"/>
            </a:endParaRPr>
          </a:p>
        </p:txBody>
      </p:sp>
      <p:sp>
        <p:nvSpPr>
          <p:cNvPr id="453" name="Google Shape;453;p11"/>
          <p:cNvSpPr/>
          <p:nvPr/>
        </p:nvSpPr>
        <p:spPr>
          <a:xfrm>
            <a:off x="7315200" y="4443984"/>
            <a:ext cx="4206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Audit logging, RBAC, input validation, and secrets management were not bolted on - they were part of the original design.</a:t>
            </a:r>
            <a:endParaRPr b="0" i="0" sz="1000" u="none" cap="none" strike="noStrike">
              <a:solidFill>
                <a:schemeClr val="dk1"/>
              </a:solidFill>
              <a:latin typeface="Calibri"/>
              <a:ea typeface="Calibri"/>
              <a:cs typeface="Calibri"/>
              <a:sym typeface="Calibri"/>
            </a:endParaRPr>
          </a:p>
        </p:txBody>
      </p:sp>
      <p:sp>
        <p:nvSpPr>
          <p:cNvPr id="454" name="Google Shape;454;p11"/>
          <p:cNvSpPr/>
          <p:nvPr/>
        </p:nvSpPr>
        <p:spPr>
          <a:xfrm>
            <a:off x="6446520" y="5111496"/>
            <a:ext cx="5193792" cy="960120"/>
          </a:xfrm>
          <a:prstGeom prst="roundRect">
            <a:avLst>
              <a:gd fmla="val 7619"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6629400" y="5312664"/>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ync_navy.png" id="456" name="Google Shape;456;p11"/>
          <p:cNvPicPr preferRelativeResize="0"/>
          <p:nvPr/>
        </p:nvPicPr>
        <p:blipFill rotWithShape="1">
          <a:blip r:embed="rId6">
            <a:alphaModFix/>
          </a:blip>
          <a:srcRect b="0" l="0" r="0" t="0"/>
          <a:stretch/>
        </p:blipFill>
        <p:spPr>
          <a:xfrm>
            <a:off x="6752844" y="5436108"/>
            <a:ext cx="301752" cy="301752"/>
          </a:xfrm>
          <a:prstGeom prst="rect">
            <a:avLst/>
          </a:prstGeom>
          <a:noFill/>
          <a:ln>
            <a:noFill/>
          </a:ln>
        </p:spPr>
      </p:pic>
      <p:sp>
        <p:nvSpPr>
          <p:cNvPr id="457" name="Google Shape;457;p11"/>
          <p:cNvSpPr/>
          <p:nvPr/>
        </p:nvSpPr>
        <p:spPr>
          <a:xfrm>
            <a:off x="7315200" y="5202936"/>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Named constants over magic numbers</a:t>
            </a:r>
            <a:endParaRPr b="0" i="0" sz="1250" u="none" cap="none" strike="noStrike">
              <a:solidFill>
                <a:schemeClr val="dk1"/>
              </a:solidFill>
              <a:latin typeface="Calibri"/>
              <a:ea typeface="Calibri"/>
              <a:cs typeface="Calibri"/>
              <a:sym typeface="Calibri"/>
            </a:endParaRPr>
          </a:p>
        </p:txBody>
      </p:sp>
      <p:sp>
        <p:nvSpPr>
          <p:cNvPr id="458" name="Google Shape;458;p11"/>
          <p:cNvSpPr/>
          <p:nvPr/>
        </p:nvSpPr>
        <p:spPr>
          <a:xfrm>
            <a:off x="7315200" y="5522976"/>
            <a:ext cx="4206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MEMORY_WINDOW_SIZE and RETRIEVAL_TOP_K replace hardcoded 7/10/3 in the AI service for readability and maintainability (Iteration 3 fix).</a:t>
            </a:r>
            <a:endParaRPr b="0" i="0" sz="1000" u="none" cap="none" strike="noStrike">
              <a:solidFill>
                <a:schemeClr val="dk1"/>
              </a:solidFill>
              <a:latin typeface="Calibri"/>
              <a:ea typeface="Calibri"/>
              <a:cs typeface="Calibri"/>
              <a:sym typeface="Calibri"/>
            </a:endParaRPr>
          </a:p>
        </p:txBody>
      </p:sp>
      <p:pic>
        <p:nvPicPr>
          <p:cNvPr descr="/home/claude/slides/logo.png" id="459" name="Google Shape;459;p11"/>
          <p:cNvPicPr preferRelativeResize="0"/>
          <p:nvPr/>
        </p:nvPicPr>
        <p:blipFill rotWithShape="1">
          <a:blip r:embed="rId7">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64" name="Shape 464"/>
        <p:cNvGrpSpPr/>
        <p:nvPr/>
      </p:nvGrpSpPr>
      <p:grpSpPr>
        <a:xfrm>
          <a:off x="0" y="0"/>
          <a:ext cx="0" cy="0"/>
          <a:chOff x="0" y="0"/>
          <a:chExt cx="0" cy="0"/>
        </a:xfrm>
      </p:grpSpPr>
      <p:sp>
        <p:nvSpPr>
          <p:cNvPr id="465" name="Google Shape;465;p12"/>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466" name="Google Shape;466;p12"/>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467" name="Google Shape;467;p12"/>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
        <p:nvSpPr>
          <p:cNvPr id="468" name="Google Shape;468;p12"/>
          <p:cNvSpPr/>
          <p:nvPr/>
        </p:nvSpPr>
        <p:spPr>
          <a:xfrm>
            <a:off x="9052560" y="1188720"/>
            <a:ext cx="3931920" cy="393192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2"/>
          <p:cNvSpPr/>
          <p:nvPr/>
        </p:nvSpPr>
        <p:spPr>
          <a:xfrm>
            <a:off x="9692640" y="1828800"/>
            <a:ext cx="2651760" cy="265176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2"/>
          <p:cNvSpPr/>
          <p:nvPr/>
        </p:nvSpPr>
        <p:spPr>
          <a:xfrm>
            <a:off x="10607040" y="2697480"/>
            <a:ext cx="914400" cy="9144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ode_white.png" id="471" name="Google Shape;471;p12"/>
          <p:cNvPicPr preferRelativeResize="0"/>
          <p:nvPr/>
        </p:nvPicPr>
        <p:blipFill rotWithShape="1">
          <a:blip r:embed="rId3">
            <a:alphaModFix/>
          </a:blip>
          <a:srcRect b="0" l="0" r="0" t="0"/>
          <a:stretch/>
        </p:blipFill>
        <p:spPr>
          <a:xfrm>
            <a:off x="10812780" y="2903220"/>
            <a:ext cx="502920" cy="502920"/>
          </a:xfrm>
          <a:prstGeom prst="rect">
            <a:avLst/>
          </a:prstGeom>
          <a:noFill/>
          <a:ln>
            <a:noFill/>
          </a:ln>
        </p:spPr>
      </p:pic>
      <p:sp>
        <p:nvSpPr>
          <p:cNvPr id="472" name="Google Shape;472;p12"/>
          <p:cNvSpPr/>
          <p:nvPr/>
        </p:nvSpPr>
        <p:spPr>
          <a:xfrm>
            <a:off x="548640" y="1280160"/>
            <a:ext cx="36576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58C"/>
              </a:buClr>
              <a:buSzPts val="11000"/>
              <a:buFont typeface="Cambria"/>
              <a:buNone/>
            </a:pPr>
            <a:r>
              <a:rPr b="1" i="0" lang="en-US" sz="11000" u="none" cap="none" strike="noStrike">
                <a:solidFill>
                  <a:srgbClr val="37458C"/>
                </a:solidFill>
                <a:latin typeface="Cambria"/>
                <a:ea typeface="Cambria"/>
                <a:cs typeface="Cambria"/>
                <a:sym typeface="Cambria"/>
              </a:rPr>
              <a:t>03</a:t>
            </a:r>
            <a:endParaRPr b="0" i="0" sz="11000" u="none" cap="none" strike="noStrike">
              <a:solidFill>
                <a:schemeClr val="dk1"/>
              </a:solidFill>
              <a:latin typeface="Calibri"/>
              <a:ea typeface="Calibri"/>
              <a:cs typeface="Calibri"/>
              <a:sym typeface="Calibri"/>
            </a:endParaRPr>
          </a:p>
        </p:txBody>
      </p:sp>
      <p:sp>
        <p:nvSpPr>
          <p:cNvPr id="473" name="Google Shape;473;p12"/>
          <p:cNvSpPr/>
          <p:nvPr/>
        </p:nvSpPr>
        <p:spPr>
          <a:xfrm>
            <a:off x="594360" y="30175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Implementation</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A800"/>
              </a:buClr>
              <a:buSzPts val="4800"/>
              <a:buFont typeface="Cambria"/>
              <a:buNone/>
            </a:pPr>
            <a:r>
              <a:rPr b="1" i="0" lang="en-US" sz="4800" u="none" cap="none" strike="noStrike">
                <a:solidFill>
                  <a:srgbClr val="F4A800"/>
                </a:solidFill>
                <a:latin typeface="Cambria"/>
                <a:ea typeface="Cambria"/>
                <a:cs typeface="Cambria"/>
                <a:sym typeface="Cambria"/>
              </a:rPr>
              <a:t>&amp; AI Chatbot</a:t>
            </a:r>
            <a:endParaRPr b="0" i="0" sz="4800" u="none" cap="none" strike="noStrike">
              <a:solidFill>
                <a:schemeClr val="dk1"/>
              </a:solidFill>
              <a:latin typeface="Calibri"/>
              <a:ea typeface="Calibri"/>
              <a:cs typeface="Calibri"/>
              <a:sym typeface="Calibri"/>
            </a:endParaRPr>
          </a:p>
        </p:txBody>
      </p:sp>
      <p:sp>
        <p:nvSpPr>
          <p:cNvPr id="474" name="Google Shape;474;p12"/>
          <p:cNvSpPr/>
          <p:nvPr/>
        </p:nvSpPr>
        <p:spPr>
          <a:xfrm>
            <a:off x="612648" y="443484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Project structure, code metrics, and the BariatricPath AI assistant.</a:t>
            </a:r>
            <a:endParaRPr b="0" i="0" sz="1600" u="none" cap="none" strike="noStrike">
              <a:solidFill>
                <a:schemeClr val="dk1"/>
              </a:solidFill>
              <a:latin typeface="Calibri"/>
              <a:ea typeface="Calibri"/>
              <a:cs typeface="Calibri"/>
              <a:sym typeface="Calibri"/>
            </a:endParaRPr>
          </a:p>
        </p:txBody>
      </p:sp>
      <p:pic>
        <p:nvPicPr>
          <p:cNvPr descr="/home/claude/slides/logo_light.png" id="475" name="Google Shape;475;p12"/>
          <p:cNvPicPr preferRelativeResize="0"/>
          <p:nvPr/>
        </p:nvPicPr>
        <p:blipFill rotWithShape="1">
          <a:blip r:embed="rId4">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13"/>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IMPLEMENTATION</a:t>
            </a:r>
            <a:endParaRPr b="0" i="0" sz="1200" u="none" cap="none" strike="noStrike">
              <a:solidFill>
                <a:schemeClr val="dk1"/>
              </a:solidFill>
              <a:latin typeface="Calibri"/>
              <a:ea typeface="Calibri"/>
              <a:cs typeface="Calibri"/>
              <a:sym typeface="Calibri"/>
            </a:endParaRPr>
          </a:p>
        </p:txBody>
      </p:sp>
      <p:sp>
        <p:nvSpPr>
          <p:cNvPr id="482" name="Google Shape;482;p13"/>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Project Structure &amp; Code Metrics</a:t>
            </a:r>
            <a:endParaRPr b="0" i="0" sz="3200" u="none" cap="none" strike="noStrike">
              <a:solidFill>
                <a:schemeClr val="dk1"/>
              </a:solidFill>
              <a:latin typeface="Calibri"/>
              <a:ea typeface="Calibri"/>
              <a:cs typeface="Calibri"/>
              <a:sym typeface="Calibri"/>
            </a:endParaRPr>
          </a:p>
        </p:txBody>
      </p:sp>
      <p:sp>
        <p:nvSpPr>
          <p:cNvPr id="483" name="Google Shape;483;p13"/>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484" name="Google Shape;484;p13"/>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485" name="Google Shape;485;p13"/>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486" name="Google Shape;486;p13"/>
          <p:cNvSpPr/>
          <p:nvPr/>
        </p:nvSpPr>
        <p:spPr>
          <a:xfrm>
            <a:off x="548640" y="1417320"/>
            <a:ext cx="5120640" cy="5074920"/>
          </a:xfrm>
          <a:prstGeom prst="roundRect">
            <a:avLst>
              <a:gd fmla="val 1441"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3"/>
          <p:cNvSpPr/>
          <p:nvPr/>
        </p:nvSpPr>
        <p:spPr>
          <a:xfrm>
            <a:off x="777240" y="155448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Repository Structure</a:t>
            </a:r>
            <a:endParaRPr b="0" i="0" sz="1400" u="none" cap="none" strike="noStrike">
              <a:solidFill>
                <a:schemeClr val="dk1"/>
              </a:solidFill>
              <a:latin typeface="Calibri"/>
              <a:ea typeface="Calibri"/>
              <a:cs typeface="Calibri"/>
              <a:sym typeface="Calibri"/>
            </a:endParaRPr>
          </a:p>
        </p:txBody>
      </p:sp>
      <p:sp>
        <p:nvSpPr>
          <p:cNvPr id="488" name="Google Shape;488;p13"/>
          <p:cNvSpPr/>
          <p:nvPr/>
        </p:nvSpPr>
        <p:spPr>
          <a:xfrm>
            <a:off x="777240" y="2011680"/>
            <a:ext cx="4754880" cy="434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cs673olsum26project-team1/</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client/                 React frontend (Vite)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src/</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components/     Reusable UI + AIChatWidget</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pages/           Portal, Dashboards, Auth</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context/         AuthContext</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__tests__/        Vitest (34 tests)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server/                  Express backend</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routes/              auth, patients, ai, notifications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prisma/              schema + migrations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middleware/           verifyAuth, RBAC</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searchDB/, utils/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__tests__/           Jest+Supertest (258 tests)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ai-service/              FastAPI RAG microservice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main.py, rag.py</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data/                CSV knowledge bases x3</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 tests/               pytest (9 tests)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.github/workflows/       CI, CodeQL, Trivy, ZAP</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E2761"/>
              </a:buClr>
              <a:buSzPts val="1000"/>
              <a:buFont typeface="Courier New"/>
              <a:buNone/>
            </a:pPr>
            <a:r>
              <a:rPr b="0" i="0" lang="en-US" sz="1000" u="none" cap="none" strike="noStrike">
                <a:solidFill>
                  <a:srgbClr val="1E2761"/>
                </a:solidFill>
                <a:latin typeface="Courier New"/>
                <a:ea typeface="Courier New"/>
                <a:cs typeface="Courier New"/>
                <a:sym typeface="Courier New"/>
              </a:rPr>
              <a:t>└── docker-compose.yml       4-service orchestration</a:t>
            </a:r>
            <a:endParaRPr b="0" i="0" sz="1000" u="none" cap="none" strike="noStrike">
              <a:solidFill>
                <a:schemeClr val="dk1"/>
              </a:solidFill>
              <a:latin typeface="Calibri"/>
              <a:ea typeface="Calibri"/>
              <a:cs typeface="Calibri"/>
              <a:sym typeface="Calibri"/>
            </a:endParaRPr>
          </a:p>
        </p:txBody>
      </p:sp>
      <p:sp>
        <p:nvSpPr>
          <p:cNvPr id="489" name="Google Shape;489;p13"/>
          <p:cNvSpPr/>
          <p:nvPr/>
        </p:nvSpPr>
        <p:spPr>
          <a:xfrm>
            <a:off x="5897880" y="141732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Code Size &amp; Test Metrics</a:t>
            </a:r>
            <a:endParaRPr b="0" i="0" sz="1600" u="none" cap="none" strike="noStrike">
              <a:solidFill>
                <a:schemeClr val="dk1"/>
              </a:solidFill>
              <a:latin typeface="Calibri"/>
              <a:ea typeface="Calibri"/>
              <a:cs typeface="Calibri"/>
              <a:sym typeface="Calibri"/>
            </a:endParaRPr>
          </a:p>
        </p:txBody>
      </p:sp>
      <p:sp>
        <p:nvSpPr>
          <p:cNvPr id="490" name="Google Shape;490;p13"/>
          <p:cNvSpPr/>
          <p:nvPr/>
        </p:nvSpPr>
        <p:spPr>
          <a:xfrm>
            <a:off x="5897880" y="1874520"/>
            <a:ext cx="2560320" cy="1078992"/>
          </a:xfrm>
          <a:prstGeom prst="roundRect">
            <a:avLst>
              <a:gd fmla="val 678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
          <p:cNvSpPr/>
          <p:nvPr/>
        </p:nvSpPr>
        <p:spPr>
          <a:xfrm>
            <a:off x="6080760" y="2020824"/>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artline_navy.png" id="492" name="Google Shape;492;p13"/>
          <p:cNvPicPr preferRelativeResize="0"/>
          <p:nvPr/>
        </p:nvPicPr>
        <p:blipFill rotWithShape="1">
          <a:blip r:embed="rId3">
            <a:alphaModFix/>
          </a:blip>
          <a:srcRect b="0" l="0" r="0" t="0"/>
          <a:stretch/>
        </p:blipFill>
        <p:spPr>
          <a:xfrm>
            <a:off x="6183630" y="2123694"/>
            <a:ext cx="251460" cy="251460"/>
          </a:xfrm>
          <a:prstGeom prst="rect">
            <a:avLst/>
          </a:prstGeom>
          <a:noFill/>
          <a:ln>
            <a:noFill/>
          </a:ln>
        </p:spPr>
      </p:pic>
      <p:sp>
        <p:nvSpPr>
          <p:cNvPr id="493" name="Google Shape;493;p13"/>
          <p:cNvSpPr/>
          <p:nvPr/>
        </p:nvSpPr>
        <p:spPr>
          <a:xfrm>
            <a:off x="6675120" y="1947672"/>
            <a:ext cx="1645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a:t>
            </a:r>
            <a:r>
              <a:rPr b="1" lang="en-US" sz="2200">
                <a:solidFill>
                  <a:srgbClr val="1E2761"/>
                </a:solidFill>
                <a:latin typeface="Cambria"/>
                <a:ea typeface="Cambria"/>
                <a:cs typeface="Cambria"/>
                <a:sym typeface="Cambria"/>
              </a:rPr>
              <a:t>23</a:t>
            </a:r>
            <a:r>
              <a:rPr b="1" i="0" lang="en-US" sz="2200" u="none" cap="none" strike="noStrike">
                <a:solidFill>
                  <a:srgbClr val="1E2761"/>
                </a:solidFill>
                <a:latin typeface="Cambria"/>
                <a:ea typeface="Cambria"/>
                <a:cs typeface="Cambria"/>
                <a:sym typeface="Cambria"/>
              </a:rPr>
              <a:t>,000+</a:t>
            </a:r>
            <a:endParaRPr b="0" i="0" sz="2200" u="none" cap="none" strike="noStrike">
              <a:solidFill>
                <a:schemeClr val="dk1"/>
              </a:solidFill>
              <a:latin typeface="Calibri"/>
              <a:ea typeface="Calibri"/>
              <a:cs typeface="Calibri"/>
              <a:sym typeface="Calibri"/>
            </a:endParaRPr>
          </a:p>
        </p:txBody>
      </p:sp>
      <p:sp>
        <p:nvSpPr>
          <p:cNvPr id="494" name="Google Shape;494;p13"/>
          <p:cNvSpPr/>
          <p:nvPr/>
        </p:nvSpPr>
        <p:spPr>
          <a:xfrm>
            <a:off x="6675120" y="2441448"/>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Lines of code (KLOC ~</a:t>
            </a:r>
            <a:r>
              <a:rPr lang="en-US" sz="1000">
                <a:solidFill>
                  <a:srgbClr val="5B6B8C"/>
                </a:solidFill>
                <a:latin typeface="Calibri"/>
                <a:ea typeface="Calibri"/>
                <a:cs typeface="Calibri"/>
                <a:sym typeface="Calibri"/>
              </a:rPr>
              <a:t>23</a:t>
            </a:r>
            <a:r>
              <a:rPr b="0" i="0" lang="en-US" sz="1000" u="none" cap="none" strike="noStrike">
                <a:solidFill>
                  <a:srgbClr val="5B6B8C"/>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95" name="Google Shape;495;p13"/>
          <p:cNvSpPr/>
          <p:nvPr/>
        </p:nvSpPr>
        <p:spPr>
          <a:xfrm>
            <a:off x="8622792" y="1874520"/>
            <a:ext cx="2560320" cy="1078992"/>
          </a:xfrm>
          <a:prstGeom prst="roundRect">
            <a:avLst>
              <a:gd fmla="val 678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p:nvPr/>
        </p:nvSpPr>
        <p:spPr>
          <a:xfrm>
            <a:off x="8805672" y="2020824"/>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navy.png" id="497" name="Google Shape;497;p13"/>
          <p:cNvPicPr preferRelativeResize="0"/>
          <p:nvPr/>
        </p:nvPicPr>
        <p:blipFill rotWithShape="1">
          <a:blip r:embed="rId4">
            <a:alphaModFix/>
          </a:blip>
          <a:srcRect b="0" l="0" r="0" t="0"/>
          <a:stretch/>
        </p:blipFill>
        <p:spPr>
          <a:xfrm>
            <a:off x="8908542" y="2123694"/>
            <a:ext cx="251460" cy="251460"/>
          </a:xfrm>
          <a:prstGeom prst="rect">
            <a:avLst/>
          </a:prstGeom>
          <a:noFill/>
          <a:ln>
            <a:noFill/>
          </a:ln>
        </p:spPr>
      </p:pic>
      <p:sp>
        <p:nvSpPr>
          <p:cNvPr id="498" name="Google Shape;498;p13"/>
          <p:cNvSpPr/>
          <p:nvPr/>
        </p:nvSpPr>
        <p:spPr>
          <a:xfrm>
            <a:off x="9400032" y="1947672"/>
            <a:ext cx="1645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258</a:t>
            </a:r>
            <a:endParaRPr b="0" i="0" sz="2200" u="none" cap="none" strike="noStrike">
              <a:solidFill>
                <a:schemeClr val="dk1"/>
              </a:solidFill>
              <a:latin typeface="Calibri"/>
              <a:ea typeface="Calibri"/>
              <a:cs typeface="Calibri"/>
              <a:sym typeface="Calibri"/>
            </a:endParaRPr>
          </a:p>
        </p:txBody>
      </p:sp>
      <p:sp>
        <p:nvSpPr>
          <p:cNvPr id="499" name="Google Shape;499;p13"/>
          <p:cNvSpPr/>
          <p:nvPr/>
        </p:nvSpPr>
        <p:spPr>
          <a:xfrm>
            <a:off x="9400032" y="2441448"/>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Server tests (Jest/Supertest)</a:t>
            </a:r>
            <a:endParaRPr b="0" i="0" sz="1000" u="none" cap="none" strike="noStrike">
              <a:solidFill>
                <a:schemeClr val="dk1"/>
              </a:solidFill>
              <a:latin typeface="Calibri"/>
              <a:ea typeface="Calibri"/>
              <a:cs typeface="Calibri"/>
              <a:sym typeface="Calibri"/>
            </a:endParaRPr>
          </a:p>
        </p:txBody>
      </p:sp>
      <p:sp>
        <p:nvSpPr>
          <p:cNvPr id="500" name="Google Shape;500;p13"/>
          <p:cNvSpPr/>
          <p:nvPr/>
        </p:nvSpPr>
        <p:spPr>
          <a:xfrm>
            <a:off x="5897880" y="3099816"/>
            <a:ext cx="2560320" cy="1078992"/>
          </a:xfrm>
          <a:prstGeom prst="roundRect">
            <a:avLst>
              <a:gd fmla="val 678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3"/>
          <p:cNvSpPr/>
          <p:nvPr/>
        </p:nvSpPr>
        <p:spPr>
          <a:xfrm>
            <a:off x="6080760" y="324612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navy.png" id="502" name="Google Shape;502;p13"/>
          <p:cNvPicPr preferRelativeResize="0"/>
          <p:nvPr/>
        </p:nvPicPr>
        <p:blipFill rotWithShape="1">
          <a:blip r:embed="rId4">
            <a:alphaModFix/>
          </a:blip>
          <a:srcRect b="0" l="0" r="0" t="0"/>
          <a:stretch/>
        </p:blipFill>
        <p:spPr>
          <a:xfrm>
            <a:off x="6183630" y="3348990"/>
            <a:ext cx="251460" cy="251460"/>
          </a:xfrm>
          <a:prstGeom prst="rect">
            <a:avLst/>
          </a:prstGeom>
          <a:noFill/>
          <a:ln>
            <a:noFill/>
          </a:ln>
        </p:spPr>
      </p:pic>
      <p:sp>
        <p:nvSpPr>
          <p:cNvPr id="503" name="Google Shape;503;p13"/>
          <p:cNvSpPr/>
          <p:nvPr/>
        </p:nvSpPr>
        <p:spPr>
          <a:xfrm>
            <a:off x="6675120" y="3172968"/>
            <a:ext cx="1645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lang="en-US" sz="2200">
                <a:solidFill>
                  <a:srgbClr val="1E2761"/>
                </a:solidFill>
                <a:latin typeface="Cambria"/>
                <a:ea typeface="Cambria"/>
                <a:cs typeface="Cambria"/>
                <a:sym typeface="Cambria"/>
              </a:rPr>
              <a:t>84</a:t>
            </a:r>
            <a:endParaRPr b="0" i="0" sz="2200" u="none" cap="none" strike="noStrike">
              <a:solidFill>
                <a:schemeClr val="dk1"/>
              </a:solidFill>
              <a:latin typeface="Calibri"/>
              <a:ea typeface="Calibri"/>
              <a:cs typeface="Calibri"/>
              <a:sym typeface="Calibri"/>
            </a:endParaRPr>
          </a:p>
        </p:txBody>
      </p:sp>
      <p:sp>
        <p:nvSpPr>
          <p:cNvPr id="504" name="Google Shape;504;p13"/>
          <p:cNvSpPr/>
          <p:nvPr/>
        </p:nvSpPr>
        <p:spPr>
          <a:xfrm>
            <a:off x="6675120" y="3666744"/>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Client tests (Vitest)</a:t>
            </a:r>
            <a:endParaRPr b="0" i="0" sz="1000" u="none" cap="none" strike="noStrike">
              <a:solidFill>
                <a:schemeClr val="dk1"/>
              </a:solidFill>
              <a:latin typeface="Calibri"/>
              <a:ea typeface="Calibri"/>
              <a:cs typeface="Calibri"/>
              <a:sym typeface="Calibri"/>
            </a:endParaRPr>
          </a:p>
        </p:txBody>
      </p:sp>
      <p:sp>
        <p:nvSpPr>
          <p:cNvPr id="505" name="Google Shape;505;p13"/>
          <p:cNvSpPr/>
          <p:nvPr/>
        </p:nvSpPr>
        <p:spPr>
          <a:xfrm>
            <a:off x="8622792" y="3099816"/>
            <a:ext cx="2560320" cy="1078992"/>
          </a:xfrm>
          <a:prstGeom prst="roundRect">
            <a:avLst>
              <a:gd fmla="val 678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3"/>
          <p:cNvSpPr/>
          <p:nvPr/>
        </p:nvSpPr>
        <p:spPr>
          <a:xfrm>
            <a:off x="8805672" y="324612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navy.png" id="507" name="Google Shape;507;p13"/>
          <p:cNvPicPr preferRelativeResize="0"/>
          <p:nvPr/>
        </p:nvPicPr>
        <p:blipFill rotWithShape="1">
          <a:blip r:embed="rId4">
            <a:alphaModFix/>
          </a:blip>
          <a:srcRect b="0" l="0" r="0" t="0"/>
          <a:stretch/>
        </p:blipFill>
        <p:spPr>
          <a:xfrm>
            <a:off x="8908542" y="3348990"/>
            <a:ext cx="251460" cy="251460"/>
          </a:xfrm>
          <a:prstGeom prst="rect">
            <a:avLst/>
          </a:prstGeom>
          <a:noFill/>
          <a:ln>
            <a:noFill/>
          </a:ln>
        </p:spPr>
      </p:pic>
      <p:sp>
        <p:nvSpPr>
          <p:cNvPr id="508" name="Google Shape;508;p13"/>
          <p:cNvSpPr/>
          <p:nvPr/>
        </p:nvSpPr>
        <p:spPr>
          <a:xfrm>
            <a:off x="9400032" y="3172968"/>
            <a:ext cx="1645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9</a:t>
            </a:r>
            <a:endParaRPr b="0" i="0" sz="2200" u="none" cap="none" strike="noStrike">
              <a:solidFill>
                <a:schemeClr val="dk1"/>
              </a:solidFill>
              <a:latin typeface="Calibri"/>
              <a:ea typeface="Calibri"/>
              <a:cs typeface="Calibri"/>
              <a:sym typeface="Calibri"/>
            </a:endParaRPr>
          </a:p>
        </p:txBody>
      </p:sp>
      <p:sp>
        <p:nvSpPr>
          <p:cNvPr id="509" name="Google Shape;509;p13"/>
          <p:cNvSpPr/>
          <p:nvPr/>
        </p:nvSpPr>
        <p:spPr>
          <a:xfrm>
            <a:off x="9400032" y="3666744"/>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AI service tests (pytest)</a:t>
            </a:r>
            <a:endParaRPr b="0" i="0" sz="1000" u="none" cap="none" strike="noStrike">
              <a:solidFill>
                <a:schemeClr val="dk1"/>
              </a:solidFill>
              <a:latin typeface="Calibri"/>
              <a:ea typeface="Calibri"/>
              <a:cs typeface="Calibri"/>
              <a:sym typeface="Calibri"/>
            </a:endParaRPr>
          </a:p>
        </p:txBody>
      </p:sp>
      <p:sp>
        <p:nvSpPr>
          <p:cNvPr id="510" name="Google Shape;510;p13"/>
          <p:cNvSpPr/>
          <p:nvPr/>
        </p:nvSpPr>
        <p:spPr>
          <a:xfrm>
            <a:off x="5897880" y="4325112"/>
            <a:ext cx="2560320" cy="1078992"/>
          </a:xfrm>
          <a:prstGeom prst="roundRect">
            <a:avLst>
              <a:gd fmla="val 678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3"/>
          <p:cNvSpPr/>
          <p:nvPr/>
        </p:nvSpPr>
        <p:spPr>
          <a:xfrm>
            <a:off x="6080760" y="4471416"/>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navy.png" id="512" name="Google Shape;512;p13"/>
          <p:cNvPicPr preferRelativeResize="0"/>
          <p:nvPr/>
        </p:nvPicPr>
        <p:blipFill rotWithShape="1">
          <a:blip r:embed="rId5">
            <a:alphaModFix/>
          </a:blip>
          <a:srcRect b="0" l="0" r="0" t="0"/>
          <a:stretch/>
        </p:blipFill>
        <p:spPr>
          <a:xfrm>
            <a:off x="6183630" y="4574286"/>
            <a:ext cx="251460" cy="251460"/>
          </a:xfrm>
          <a:prstGeom prst="rect">
            <a:avLst/>
          </a:prstGeom>
          <a:noFill/>
          <a:ln>
            <a:noFill/>
          </a:ln>
        </p:spPr>
      </p:pic>
      <p:sp>
        <p:nvSpPr>
          <p:cNvPr id="513" name="Google Shape;513;p13"/>
          <p:cNvSpPr/>
          <p:nvPr/>
        </p:nvSpPr>
        <p:spPr>
          <a:xfrm>
            <a:off x="6675120" y="4398264"/>
            <a:ext cx="1645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lang="en-US" sz="2200">
                <a:solidFill>
                  <a:srgbClr val="1E2761"/>
                </a:solidFill>
                <a:latin typeface="Cambria"/>
                <a:ea typeface="Cambria"/>
                <a:cs typeface="Cambria"/>
                <a:sym typeface="Cambria"/>
              </a:rPr>
              <a:t>351</a:t>
            </a:r>
            <a:endParaRPr b="0" i="0" sz="2200" u="none" cap="none" strike="noStrike">
              <a:solidFill>
                <a:schemeClr val="dk1"/>
              </a:solidFill>
              <a:latin typeface="Calibri"/>
              <a:ea typeface="Calibri"/>
              <a:cs typeface="Calibri"/>
              <a:sym typeface="Calibri"/>
            </a:endParaRPr>
          </a:p>
        </p:txBody>
      </p:sp>
      <p:sp>
        <p:nvSpPr>
          <p:cNvPr id="514" name="Google Shape;514;p13"/>
          <p:cNvSpPr/>
          <p:nvPr/>
        </p:nvSpPr>
        <p:spPr>
          <a:xfrm>
            <a:off x="6675120" y="4892040"/>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Total automated tests</a:t>
            </a:r>
            <a:endParaRPr b="0" i="0" sz="1000" u="none" cap="none" strike="noStrike">
              <a:solidFill>
                <a:schemeClr val="dk1"/>
              </a:solidFill>
              <a:latin typeface="Calibri"/>
              <a:ea typeface="Calibri"/>
              <a:cs typeface="Calibri"/>
              <a:sym typeface="Calibri"/>
            </a:endParaRPr>
          </a:p>
        </p:txBody>
      </p:sp>
      <p:sp>
        <p:nvSpPr>
          <p:cNvPr id="515" name="Google Shape;515;p13"/>
          <p:cNvSpPr/>
          <p:nvPr/>
        </p:nvSpPr>
        <p:spPr>
          <a:xfrm>
            <a:off x="8622792" y="4325112"/>
            <a:ext cx="2560320" cy="1078992"/>
          </a:xfrm>
          <a:prstGeom prst="roundRect">
            <a:avLst>
              <a:gd fmla="val 6780"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8805672" y="4471416"/>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lask_navy.png" id="517" name="Google Shape;517;p13"/>
          <p:cNvPicPr preferRelativeResize="0"/>
          <p:nvPr/>
        </p:nvPicPr>
        <p:blipFill rotWithShape="1">
          <a:blip r:embed="rId6">
            <a:alphaModFix/>
          </a:blip>
          <a:srcRect b="0" l="0" r="0" t="0"/>
          <a:stretch/>
        </p:blipFill>
        <p:spPr>
          <a:xfrm>
            <a:off x="8908542" y="4574286"/>
            <a:ext cx="251460" cy="251460"/>
          </a:xfrm>
          <a:prstGeom prst="rect">
            <a:avLst/>
          </a:prstGeom>
          <a:noFill/>
          <a:ln>
            <a:noFill/>
          </a:ln>
        </p:spPr>
      </p:pic>
      <p:sp>
        <p:nvSpPr>
          <p:cNvPr id="518" name="Google Shape;518;p13"/>
          <p:cNvSpPr/>
          <p:nvPr/>
        </p:nvSpPr>
        <p:spPr>
          <a:xfrm>
            <a:off x="9400032" y="4398264"/>
            <a:ext cx="1645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lang="en-US" sz="2200">
                <a:solidFill>
                  <a:srgbClr val="1E2761"/>
                </a:solidFill>
                <a:latin typeface="Cambria"/>
                <a:ea typeface="Cambria"/>
                <a:cs typeface="Cambria"/>
                <a:sym typeface="Cambria"/>
              </a:rPr>
              <a:t>21</a:t>
            </a:r>
            <a:r>
              <a:rPr b="1" i="0" lang="en-US" sz="2200" u="none" cap="none" strike="noStrike">
                <a:solidFill>
                  <a:srgbClr val="1E2761"/>
                </a:solidFill>
                <a:latin typeface="Cambria"/>
                <a:ea typeface="Cambria"/>
                <a:cs typeface="Cambria"/>
                <a:sym typeface="Cambria"/>
              </a:rPr>
              <a:t>/</a:t>
            </a:r>
            <a:r>
              <a:rPr b="1" lang="en-US" sz="2200">
                <a:solidFill>
                  <a:srgbClr val="1E2761"/>
                </a:solidFill>
                <a:latin typeface="Cambria"/>
                <a:ea typeface="Cambria"/>
                <a:cs typeface="Cambria"/>
                <a:sym typeface="Cambria"/>
              </a:rPr>
              <a:t>21</a:t>
            </a:r>
            <a:endParaRPr b="0" i="0" sz="2200" u="none" cap="none" strike="noStrike">
              <a:solidFill>
                <a:schemeClr val="dk1"/>
              </a:solidFill>
              <a:latin typeface="Calibri"/>
              <a:ea typeface="Calibri"/>
              <a:cs typeface="Calibri"/>
              <a:sym typeface="Calibri"/>
            </a:endParaRPr>
          </a:p>
        </p:txBody>
      </p:sp>
      <p:sp>
        <p:nvSpPr>
          <p:cNvPr id="519" name="Google Shape;519;p13"/>
          <p:cNvSpPr/>
          <p:nvPr/>
        </p:nvSpPr>
        <p:spPr>
          <a:xfrm>
            <a:off x="9400032" y="4892040"/>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Server suites - 100% passing</a:t>
            </a:r>
            <a:endParaRPr b="0" i="0" sz="1000" u="none" cap="none" strike="noStrike">
              <a:solidFill>
                <a:schemeClr val="dk1"/>
              </a:solidFill>
              <a:latin typeface="Calibri"/>
              <a:ea typeface="Calibri"/>
              <a:cs typeface="Calibri"/>
              <a:sym typeface="Calibri"/>
            </a:endParaRPr>
          </a:p>
        </p:txBody>
      </p:sp>
      <p:sp>
        <p:nvSpPr>
          <p:cNvPr id="520" name="Google Shape;520;p13"/>
          <p:cNvSpPr/>
          <p:nvPr/>
        </p:nvSpPr>
        <p:spPr>
          <a:xfrm>
            <a:off x="5897880" y="5650992"/>
            <a:ext cx="5193792" cy="841248"/>
          </a:xfrm>
          <a:prstGeom prst="roundRect">
            <a:avLst>
              <a:gd fmla="val 6522"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3"/>
          <p:cNvSpPr/>
          <p:nvPr/>
        </p:nvSpPr>
        <p:spPr>
          <a:xfrm>
            <a:off x="6062472" y="5760720"/>
            <a:ext cx="457200" cy="45720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gold.png" id="522" name="Google Shape;522;p13"/>
          <p:cNvPicPr preferRelativeResize="0"/>
          <p:nvPr/>
        </p:nvPicPr>
        <p:blipFill rotWithShape="1">
          <a:blip r:embed="rId7">
            <a:alphaModFix/>
          </a:blip>
          <a:srcRect b="0" l="0" r="0" t="0"/>
          <a:stretch/>
        </p:blipFill>
        <p:spPr>
          <a:xfrm>
            <a:off x="6165342" y="5863590"/>
            <a:ext cx="251460" cy="251460"/>
          </a:xfrm>
          <a:prstGeom prst="rect">
            <a:avLst/>
          </a:prstGeom>
          <a:noFill/>
          <a:ln>
            <a:noFill/>
          </a:ln>
        </p:spPr>
      </p:pic>
      <p:sp>
        <p:nvSpPr>
          <p:cNvPr id="523" name="Google Shape;523;p13"/>
          <p:cNvSpPr/>
          <p:nvPr/>
        </p:nvSpPr>
        <p:spPr>
          <a:xfrm>
            <a:off x="6629400" y="5650992"/>
            <a:ext cx="434340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Every source file carries an AI-USAGE SUMMARY header documenting tool, % contribution, and human modifications - a project-wide convention for AI transparency.</a:t>
            </a:r>
            <a:endParaRPr b="0" i="0" sz="1000" u="none" cap="none" strike="noStrike">
              <a:solidFill>
                <a:schemeClr val="dk1"/>
              </a:solidFill>
              <a:latin typeface="Calibri"/>
              <a:ea typeface="Calibri"/>
              <a:cs typeface="Calibri"/>
              <a:sym typeface="Calibri"/>
            </a:endParaRPr>
          </a:p>
        </p:txBody>
      </p:sp>
      <p:pic>
        <p:nvPicPr>
          <p:cNvPr descr="/home/claude/slides/logo.png" id="524" name="Google Shape;524;p13"/>
          <p:cNvPicPr preferRelativeResize="0"/>
          <p:nvPr/>
        </p:nvPicPr>
        <p:blipFill rotWithShape="1">
          <a:blip r:embed="rId8">
            <a:alphaModFix/>
          </a:blip>
          <a:srcRect b="0" l="0" r="0" t="0"/>
          <a:stretch/>
        </p:blipFill>
        <p:spPr>
          <a:xfrm>
            <a:off x="10972800" y="155443"/>
            <a:ext cx="1005840" cy="457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14"/>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IMPLEMENTATION - AI MICROSERVICE</a:t>
            </a:r>
            <a:endParaRPr b="0" i="0" sz="1200" u="none" cap="none" strike="noStrike">
              <a:solidFill>
                <a:schemeClr val="dk1"/>
              </a:solidFill>
              <a:latin typeface="Calibri"/>
              <a:ea typeface="Calibri"/>
              <a:cs typeface="Calibri"/>
              <a:sym typeface="Calibri"/>
            </a:endParaRPr>
          </a:p>
        </p:txBody>
      </p:sp>
      <p:sp>
        <p:nvSpPr>
          <p:cNvPr id="531" name="Google Shape;531;p14"/>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The AI Assistant: Role-Based RAG</a:t>
            </a:r>
            <a:endParaRPr b="0" i="0" sz="3200" u="none" cap="none" strike="noStrike">
              <a:solidFill>
                <a:schemeClr val="dk1"/>
              </a:solidFill>
              <a:latin typeface="Calibri"/>
              <a:ea typeface="Calibri"/>
              <a:cs typeface="Calibri"/>
              <a:sym typeface="Calibri"/>
            </a:endParaRPr>
          </a:p>
        </p:txBody>
      </p:sp>
      <p:sp>
        <p:nvSpPr>
          <p:cNvPr id="532" name="Google Shape;532;p14"/>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533" name="Google Shape;533;p14"/>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534" name="Google Shape;534;p14"/>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535" name="Google Shape;535;p14"/>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Retrieval-Augmented Generation: the AI answers from BariatricPath's own knowledge base, not just general training data.</a:t>
            </a:r>
            <a:endParaRPr b="0" i="0" sz="1300" u="none" cap="none" strike="noStrike">
              <a:solidFill>
                <a:schemeClr val="dk1"/>
              </a:solidFill>
              <a:latin typeface="Calibri"/>
              <a:ea typeface="Calibri"/>
              <a:cs typeface="Calibri"/>
              <a:sym typeface="Calibri"/>
            </a:endParaRPr>
          </a:p>
        </p:txBody>
      </p:sp>
      <p:sp>
        <p:nvSpPr>
          <p:cNvPr id="536" name="Google Shape;536;p14"/>
          <p:cNvSpPr/>
          <p:nvPr/>
        </p:nvSpPr>
        <p:spPr>
          <a:xfrm>
            <a:off x="548640" y="1874520"/>
            <a:ext cx="2057400" cy="1828800"/>
          </a:xfrm>
          <a:prstGeom prst="roundRect">
            <a:avLst>
              <a:gd fmla="val 400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4"/>
          <p:cNvSpPr/>
          <p:nvPr/>
        </p:nvSpPr>
        <p:spPr>
          <a:xfrm>
            <a:off x="1303020" y="205740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omment_navy.png" id="538" name="Google Shape;538;p14"/>
          <p:cNvPicPr preferRelativeResize="0"/>
          <p:nvPr/>
        </p:nvPicPr>
        <p:blipFill rotWithShape="1">
          <a:blip r:embed="rId3">
            <a:alphaModFix/>
          </a:blip>
          <a:srcRect b="0" l="0" r="0" t="0"/>
          <a:stretch/>
        </p:blipFill>
        <p:spPr>
          <a:xfrm>
            <a:off x="1426464" y="2180844"/>
            <a:ext cx="301752" cy="301752"/>
          </a:xfrm>
          <a:prstGeom prst="rect">
            <a:avLst/>
          </a:prstGeom>
          <a:noFill/>
          <a:ln>
            <a:noFill/>
          </a:ln>
        </p:spPr>
      </p:pic>
      <p:sp>
        <p:nvSpPr>
          <p:cNvPr id="539" name="Google Shape;539;p14"/>
          <p:cNvSpPr/>
          <p:nvPr/>
        </p:nvSpPr>
        <p:spPr>
          <a:xfrm>
            <a:off x="548640" y="2743200"/>
            <a:ext cx="2057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1. Question</a:t>
            </a:r>
            <a:endParaRPr b="0" i="0" sz="1250" u="none" cap="none" strike="noStrike">
              <a:solidFill>
                <a:schemeClr val="dk1"/>
              </a:solidFill>
              <a:latin typeface="Calibri"/>
              <a:ea typeface="Calibri"/>
              <a:cs typeface="Calibri"/>
              <a:sym typeface="Calibri"/>
            </a:endParaRPr>
          </a:p>
        </p:txBody>
      </p:sp>
      <p:sp>
        <p:nvSpPr>
          <p:cNvPr id="540" name="Google Shape;540;p14"/>
          <p:cNvSpPr/>
          <p:nvPr/>
        </p:nvSpPr>
        <p:spPr>
          <a:xfrm>
            <a:off x="658368" y="3063240"/>
            <a:ext cx="183794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User asks a question via the chat widget</a:t>
            </a:r>
            <a:endParaRPr b="0" i="0" sz="950" u="none" cap="none" strike="noStrike">
              <a:solidFill>
                <a:schemeClr val="dk1"/>
              </a:solidFill>
              <a:latin typeface="Calibri"/>
              <a:ea typeface="Calibri"/>
              <a:cs typeface="Calibri"/>
              <a:sym typeface="Calibri"/>
            </a:endParaRPr>
          </a:p>
        </p:txBody>
      </p:sp>
      <p:sp>
        <p:nvSpPr>
          <p:cNvPr id="541" name="Google Shape;541;p14"/>
          <p:cNvSpPr/>
          <p:nvPr/>
        </p:nvSpPr>
        <p:spPr>
          <a:xfrm>
            <a:off x="2560320" y="2606040"/>
            <a:ext cx="292608" cy="29260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542" name="Google Shape;542;p14"/>
          <p:cNvPicPr preferRelativeResize="0"/>
          <p:nvPr/>
        </p:nvPicPr>
        <p:blipFill rotWithShape="1">
          <a:blip r:embed="rId4">
            <a:alphaModFix/>
          </a:blip>
          <a:srcRect b="0" l="0" r="0" t="0"/>
          <a:stretch/>
        </p:blipFill>
        <p:spPr>
          <a:xfrm>
            <a:off x="2604211" y="2649931"/>
            <a:ext cx="204826" cy="204826"/>
          </a:xfrm>
          <a:prstGeom prst="rect">
            <a:avLst/>
          </a:prstGeom>
          <a:noFill/>
          <a:ln>
            <a:noFill/>
          </a:ln>
        </p:spPr>
      </p:pic>
      <p:sp>
        <p:nvSpPr>
          <p:cNvPr id="543" name="Google Shape;543;p14"/>
          <p:cNvSpPr/>
          <p:nvPr/>
        </p:nvSpPr>
        <p:spPr>
          <a:xfrm>
            <a:off x="2807208" y="1874520"/>
            <a:ext cx="2057400" cy="1828800"/>
          </a:xfrm>
          <a:prstGeom prst="roundRect">
            <a:avLst>
              <a:gd fmla="val 400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3561588" y="205740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earch_navy.png" id="545" name="Google Shape;545;p14"/>
          <p:cNvPicPr preferRelativeResize="0"/>
          <p:nvPr/>
        </p:nvPicPr>
        <p:blipFill rotWithShape="1">
          <a:blip r:embed="rId5">
            <a:alphaModFix/>
          </a:blip>
          <a:srcRect b="0" l="0" r="0" t="0"/>
          <a:stretch/>
        </p:blipFill>
        <p:spPr>
          <a:xfrm>
            <a:off x="3685032" y="2180844"/>
            <a:ext cx="301752" cy="301752"/>
          </a:xfrm>
          <a:prstGeom prst="rect">
            <a:avLst/>
          </a:prstGeom>
          <a:noFill/>
          <a:ln>
            <a:noFill/>
          </a:ln>
        </p:spPr>
      </p:pic>
      <p:sp>
        <p:nvSpPr>
          <p:cNvPr id="546" name="Google Shape;546;p14"/>
          <p:cNvSpPr/>
          <p:nvPr/>
        </p:nvSpPr>
        <p:spPr>
          <a:xfrm>
            <a:off x="2807208" y="2743200"/>
            <a:ext cx="2057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2. Embed</a:t>
            </a:r>
            <a:endParaRPr b="0" i="0" sz="1250" u="none" cap="none" strike="noStrike">
              <a:solidFill>
                <a:schemeClr val="dk1"/>
              </a:solidFill>
              <a:latin typeface="Calibri"/>
              <a:ea typeface="Calibri"/>
              <a:cs typeface="Calibri"/>
              <a:sym typeface="Calibri"/>
            </a:endParaRPr>
          </a:p>
        </p:txBody>
      </p:sp>
      <p:sp>
        <p:nvSpPr>
          <p:cNvPr id="547" name="Google Shape;547;p14"/>
          <p:cNvSpPr/>
          <p:nvPr/>
        </p:nvSpPr>
        <p:spPr>
          <a:xfrm>
            <a:off x="2916936" y="3063240"/>
            <a:ext cx="183794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Question converted to a vector via OpenAI embeddings</a:t>
            </a:r>
            <a:endParaRPr b="0" i="0" sz="950" u="none" cap="none" strike="noStrike">
              <a:solidFill>
                <a:schemeClr val="dk1"/>
              </a:solidFill>
              <a:latin typeface="Calibri"/>
              <a:ea typeface="Calibri"/>
              <a:cs typeface="Calibri"/>
              <a:sym typeface="Calibri"/>
            </a:endParaRPr>
          </a:p>
        </p:txBody>
      </p:sp>
      <p:sp>
        <p:nvSpPr>
          <p:cNvPr id="548" name="Google Shape;548;p14"/>
          <p:cNvSpPr/>
          <p:nvPr/>
        </p:nvSpPr>
        <p:spPr>
          <a:xfrm>
            <a:off x="4818888" y="2606040"/>
            <a:ext cx="292608" cy="29260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549" name="Google Shape;549;p14"/>
          <p:cNvPicPr preferRelativeResize="0"/>
          <p:nvPr/>
        </p:nvPicPr>
        <p:blipFill rotWithShape="1">
          <a:blip r:embed="rId4">
            <a:alphaModFix/>
          </a:blip>
          <a:srcRect b="0" l="0" r="0" t="0"/>
          <a:stretch/>
        </p:blipFill>
        <p:spPr>
          <a:xfrm>
            <a:off x="4862779" y="2649931"/>
            <a:ext cx="204826" cy="204826"/>
          </a:xfrm>
          <a:prstGeom prst="rect">
            <a:avLst/>
          </a:prstGeom>
          <a:noFill/>
          <a:ln>
            <a:noFill/>
          </a:ln>
        </p:spPr>
      </p:pic>
      <p:sp>
        <p:nvSpPr>
          <p:cNvPr id="550" name="Google Shape;550;p14"/>
          <p:cNvSpPr/>
          <p:nvPr/>
        </p:nvSpPr>
        <p:spPr>
          <a:xfrm>
            <a:off x="5065776" y="1874520"/>
            <a:ext cx="2057400" cy="1828800"/>
          </a:xfrm>
          <a:prstGeom prst="roundRect">
            <a:avLst>
              <a:gd fmla="val 400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4"/>
          <p:cNvSpPr/>
          <p:nvPr/>
        </p:nvSpPr>
        <p:spPr>
          <a:xfrm>
            <a:off x="5820156" y="205740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database_navy.png" id="552" name="Google Shape;552;p14"/>
          <p:cNvPicPr preferRelativeResize="0"/>
          <p:nvPr/>
        </p:nvPicPr>
        <p:blipFill rotWithShape="1">
          <a:blip r:embed="rId6">
            <a:alphaModFix/>
          </a:blip>
          <a:srcRect b="0" l="0" r="0" t="0"/>
          <a:stretch/>
        </p:blipFill>
        <p:spPr>
          <a:xfrm>
            <a:off x="5943600" y="2180844"/>
            <a:ext cx="301752" cy="301752"/>
          </a:xfrm>
          <a:prstGeom prst="rect">
            <a:avLst/>
          </a:prstGeom>
          <a:noFill/>
          <a:ln>
            <a:noFill/>
          </a:ln>
        </p:spPr>
      </p:pic>
      <p:sp>
        <p:nvSpPr>
          <p:cNvPr id="553" name="Google Shape;553;p14"/>
          <p:cNvSpPr/>
          <p:nvPr/>
        </p:nvSpPr>
        <p:spPr>
          <a:xfrm>
            <a:off x="5065776" y="2743200"/>
            <a:ext cx="2057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3. Retrieve</a:t>
            </a:r>
            <a:endParaRPr b="0" i="0" sz="1250" u="none" cap="none" strike="noStrike">
              <a:solidFill>
                <a:schemeClr val="dk1"/>
              </a:solidFill>
              <a:latin typeface="Calibri"/>
              <a:ea typeface="Calibri"/>
              <a:cs typeface="Calibri"/>
              <a:sym typeface="Calibri"/>
            </a:endParaRPr>
          </a:p>
        </p:txBody>
      </p:sp>
      <p:sp>
        <p:nvSpPr>
          <p:cNvPr id="554" name="Google Shape;554;p14"/>
          <p:cNvSpPr/>
          <p:nvPr/>
        </p:nvSpPr>
        <p:spPr>
          <a:xfrm>
            <a:off x="5175504" y="3063240"/>
            <a:ext cx="183794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ChromaDB returns top-3 matches, filtered by role metadata</a:t>
            </a:r>
            <a:endParaRPr b="0" i="0" sz="950" u="none" cap="none" strike="noStrike">
              <a:solidFill>
                <a:schemeClr val="dk1"/>
              </a:solidFill>
              <a:latin typeface="Calibri"/>
              <a:ea typeface="Calibri"/>
              <a:cs typeface="Calibri"/>
              <a:sym typeface="Calibri"/>
            </a:endParaRPr>
          </a:p>
        </p:txBody>
      </p:sp>
      <p:sp>
        <p:nvSpPr>
          <p:cNvPr id="555" name="Google Shape;555;p14"/>
          <p:cNvSpPr/>
          <p:nvPr/>
        </p:nvSpPr>
        <p:spPr>
          <a:xfrm>
            <a:off x="7077456" y="2606040"/>
            <a:ext cx="292608" cy="29260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556" name="Google Shape;556;p14"/>
          <p:cNvPicPr preferRelativeResize="0"/>
          <p:nvPr/>
        </p:nvPicPr>
        <p:blipFill rotWithShape="1">
          <a:blip r:embed="rId4">
            <a:alphaModFix/>
          </a:blip>
          <a:srcRect b="0" l="0" r="0" t="0"/>
          <a:stretch/>
        </p:blipFill>
        <p:spPr>
          <a:xfrm>
            <a:off x="7121347" y="2649931"/>
            <a:ext cx="204826" cy="204826"/>
          </a:xfrm>
          <a:prstGeom prst="rect">
            <a:avLst/>
          </a:prstGeom>
          <a:noFill/>
          <a:ln>
            <a:noFill/>
          </a:ln>
        </p:spPr>
      </p:pic>
      <p:sp>
        <p:nvSpPr>
          <p:cNvPr id="557" name="Google Shape;557;p14"/>
          <p:cNvSpPr/>
          <p:nvPr/>
        </p:nvSpPr>
        <p:spPr>
          <a:xfrm>
            <a:off x="7324344" y="1874520"/>
            <a:ext cx="2057400" cy="1828800"/>
          </a:xfrm>
          <a:prstGeom prst="roundRect">
            <a:avLst>
              <a:gd fmla="val 400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8078724" y="205740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layers_navy.png" id="559" name="Google Shape;559;p14"/>
          <p:cNvPicPr preferRelativeResize="0"/>
          <p:nvPr/>
        </p:nvPicPr>
        <p:blipFill rotWithShape="1">
          <a:blip r:embed="rId7">
            <a:alphaModFix/>
          </a:blip>
          <a:srcRect b="0" l="0" r="0" t="0"/>
          <a:stretch/>
        </p:blipFill>
        <p:spPr>
          <a:xfrm>
            <a:off x="8202168" y="2180844"/>
            <a:ext cx="301752" cy="301752"/>
          </a:xfrm>
          <a:prstGeom prst="rect">
            <a:avLst/>
          </a:prstGeom>
          <a:noFill/>
          <a:ln>
            <a:noFill/>
          </a:ln>
        </p:spPr>
      </p:pic>
      <p:sp>
        <p:nvSpPr>
          <p:cNvPr id="560" name="Google Shape;560;p14"/>
          <p:cNvSpPr/>
          <p:nvPr/>
        </p:nvSpPr>
        <p:spPr>
          <a:xfrm>
            <a:off x="7324344" y="2743200"/>
            <a:ext cx="2057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4. Augment</a:t>
            </a:r>
            <a:endParaRPr b="0" i="0" sz="1250" u="none" cap="none" strike="noStrike">
              <a:solidFill>
                <a:schemeClr val="dk1"/>
              </a:solidFill>
              <a:latin typeface="Calibri"/>
              <a:ea typeface="Calibri"/>
              <a:cs typeface="Calibri"/>
              <a:sym typeface="Calibri"/>
            </a:endParaRPr>
          </a:p>
        </p:txBody>
      </p:sp>
      <p:sp>
        <p:nvSpPr>
          <p:cNvPr id="561" name="Google Shape;561;p14"/>
          <p:cNvSpPr/>
          <p:nvPr/>
        </p:nvSpPr>
        <p:spPr>
          <a:xfrm>
            <a:off x="7434072" y="3063240"/>
            <a:ext cx="183794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Retrieved context + patient data + last 7 exchanges merged into prompt</a:t>
            </a:r>
            <a:endParaRPr b="0" i="0" sz="950" u="none" cap="none" strike="noStrike">
              <a:solidFill>
                <a:schemeClr val="dk1"/>
              </a:solidFill>
              <a:latin typeface="Calibri"/>
              <a:ea typeface="Calibri"/>
              <a:cs typeface="Calibri"/>
              <a:sym typeface="Calibri"/>
            </a:endParaRPr>
          </a:p>
        </p:txBody>
      </p:sp>
      <p:sp>
        <p:nvSpPr>
          <p:cNvPr id="562" name="Google Shape;562;p14"/>
          <p:cNvSpPr/>
          <p:nvPr/>
        </p:nvSpPr>
        <p:spPr>
          <a:xfrm>
            <a:off x="9336024" y="2606040"/>
            <a:ext cx="292608" cy="29260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563" name="Google Shape;563;p14"/>
          <p:cNvPicPr preferRelativeResize="0"/>
          <p:nvPr/>
        </p:nvPicPr>
        <p:blipFill rotWithShape="1">
          <a:blip r:embed="rId4">
            <a:alphaModFix/>
          </a:blip>
          <a:srcRect b="0" l="0" r="0" t="0"/>
          <a:stretch/>
        </p:blipFill>
        <p:spPr>
          <a:xfrm>
            <a:off x="9379915" y="2649931"/>
            <a:ext cx="204826" cy="204826"/>
          </a:xfrm>
          <a:prstGeom prst="rect">
            <a:avLst/>
          </a:prstGeom>
          <a:noFill/>
          <a:ln>
            <a:noFill/>
          </a:ln>
        </p:spPr>
      </p:pic>
      <p:sp>
        <p:nvSpPr>
          <p:cNvPr id="564" name="Google Shape;564;p14"/>
          <p:cNvSpPr/>
          <p:nvPr/>
        </p:nvSpPr>
        <p:spPr>
          <a:xfrm>
            <a:off x="9582912" y="1874520"/>
            <a:ext cx="2057400" cy="1828800"/>
          </a:xfrm>
          <a:prstGeom prst="roundRect">
            <a:avLst>
              <a:gd fmla="val 4000"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4"/>
          <p:cNvSpPr/>
          <p:nvPr/>
        </p:nvSpPr>
        <p:spPr>
          <a:xfrm>
            <a:off x="10337292" y="205740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brain_gold.png" id="566" name="Google Shape;566;p14"/>
          <p:cNvPicPr preferRelativeResize="0"/>
          <p:nvPr/>
        </p:nvPicPr>
        <p:blipFill rotWithShape="1">
          <a:blip r:embed="rId8">
            <a:alphaModFix/>
          </a:blip>
          <a:srcRect b="0" l="0" r="0" t="0"/>
          <a:stretch/>
        </p:blipFill>
        <p:spPr>
          <a:xfrm>
            <a:off x="10460736" y="2180844"/>
            <a:ext cx="301752" cy="301752"/>
          </a:xfrm>
          <a:prstGeom prst="rect">
            <a:avLst/>
          </a:prstGeom>
          <a:noFill/>
          <a:ln>
            <a:noFill/>
          </a:ln>
        </p:spPr>
      </p:pic>
      <p:sp>
        <p:nvSpPr>
          <p:cNvPr id="567" name="Google Shape;567;p14"/>
          <p:cNvSpPr/>
          <p:nvPr/>
        </p:nvSpPr>
        <p:spPr>
          <a:xfrm>
            <a:off x="9582912" y="2743200"/>
            <a:ext cx="20574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5. Generate</a:t>
            </a:r>
            <a:endParaRPr b="0" i="0" sz="1250" u="none" cap="none" strike="noStrike">
              <a:solidFill>
                <a:schemeClr val="dk1"/>
              </a:solidFill>
              <a:latin typeface="Calibri"/>
              <a:ea typeface="Calibri"/>
              <a:cs typeface="Calibri"/>
              <a:sym typeface="Calibri"/>
            </a:endParaRPr>
          </a:p>
        </p:txBody>
      </p:sp>
      <p:sp>
        <p:nvSpPr>
          <p:cNvPr id="568" name="Google Shape;568;p14"/>
          <p:cNvSpPr/>
          <p:nvPr/>
        </p:nvSpPr>
        <p:spPr>
          <a:xfrm>
            <a:off x="9692640" y="3063240"/>
            <a:ext cx="1837944"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GPT-4.1-mini produces a role-appropriate answer</a:t>
            </a:r>
            <a:endParaRPr b="0" i="0" sz="950" u="none" cap="none" strike="noStrike">
              <a:solidFill>
                <a:schemeClr val="dk1"/>
              </a:solidFill>
              <a:latin typeface="Calibri"/>
              <a:ea typeface="Calibri"/>
              <a:cs typeface="Calibri"/>
              <a:sym typeface="Calibri"/>
            </a:endParaRPr>
          </a:p>
        </p:txBody>
      </p:sp>
      <p:sp>
        <p:nvSpPr>
          <p:cNvPr id="569" name="Google Shape;569;p14"/>
          <p:cNvSpPr/>
          <p:nvPr/>
        </p:nvSpPr>
        <p:spPr>
          <a:xfrm>
            <a:off x="548640" y="397764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Role-Based Prompt Behavior</a:t>
            </a:r>
            <a:endParaRPr b="0" i="0" sz="1600" u="none" cap="none" strike="noStrike">
              <a:solidFill>
                <a:schemeClr val="dk1"/>
              </a:solidFill>
              <a:latin typeface="Calibri"/>
              <a:ea typeface="Calibri"/>
              <a:cs typeface="Calibri"/>
              <a:sym typeface="Calibri"/>
            </a:endParaRPr>
          </a:p>
        </p:txBody>
      </p:sp>
      <p:graphicFrame>
        <p:nvGraphicFramePr>
          <p:cNvPr id="570" name="Google Shape;570;p14"/>
          <p:cNvGraphicFramePr/>
          <p:nvPr/>
        </p:nvGraphicFramePr>
        <p:xfrm>
          <a:off x="548640" y="4389120"/>
          <a:ext cx="3000000" cy="3000000"/>
        </p:xfrm>
        <a:graphic>
          <a:graphicData uri="http://schemas.openxmlformats.org/drawingml/2006/table">
            <a:tbl>
              <a:tblPr>
                <a:noFill/>
                <a:tableStyleId>{955ED656-998D-43FE-8ED1-5B3E3F8F77ED}</a:tableStyleId>
              </a:tblPr>
              <a:tblGrid>
                <a:gridCol w="1554475"/>
                <a:gridCol w="1554475"/>
                <a:gridCol w="1737350"/>
                <a:gridCol w="2514600"/>
              </a:tblGrid>
              <a:tr h="3840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Role</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Prompt Style</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Response Length</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Knowledge Source</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r>
              <a:tr h="384050">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PATIENT</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Warm, encouraging</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2-3 sentences</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bariatric_program_faq.csv</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COORDINATOR</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Professional, direct</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3 sentences or steps</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coordinator_guide.csv</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PROGRAM_DIRECTOR</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Strategic, data-focused</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Max 5 bullet points (plain dashes)</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100"/>
                        <a:buFont typeface="Calibri"/>
                        <a:buNone/>
                      </a:pPr>
                      <a:r>
                        <a:rPr lang="en-US" sz="1100" u="none" cap="none" strike="noStrike">
                          <a:solidFill>
                            <a:srgbClr val="1E2761"/>
                          </a:solidFill>
                          <a:latin typeface="Calibri"/>
                          <a:ea typeface="Calibri"/>
                          <a:cs typeface="Calibri"/>
                          <a:sym typeface="Calibri"/>
                        </a:rPr>
                        <a:t>director_guide.csv</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sp>
        <p:nvSpPr>
          <p:cNvPr id="571" name="Google Shape;571;p14"/>
          <p:cNvSpPr/>
          <p:nvPr/>
        </p:nvSpPr>
        <p:spPr>
          <a:xfrm>
            <a:off x="8092440" y="4389120"/>
            <a:ext cx="3547872" cy="1783080"/>
          </a:xfrm>
          <a:prstGeom prst="roundRect">
            <a:avLst>
              <a:gd fmla="val 4103"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a:off x="8275320" y="4526280"/>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ync_gold.png" id="573" name="Google Shape;573;p14"/>
          <p:cNvPicPr preferRelativeResize="0"/>
          <p:nvPr/>
        </p:nvPicPr>
        <p:blipFill rotWithShape="1">
          <a:blip r:embed="rId9">
            <a:alphaModFix/>
          </a:blip>
          <a:srcRect b="0" l="0" r="0" t="0"/>
          <a:stretch/>
        </p:blipFill>
        <p:spPr>
          <a:xfrm>
            <a:off x="8388477" y="4639437"/>
            <a:ext cx="276606" cy="276606"/>
          </a:xfrm>
          <a:prstGeom prst="rect">
            <a:avLst/>
          </a:prstGeom>
          <a:noFill/>
          <a:ln>
            <a:noFill/>
          </a:ln>
        </p:spPr>
      </p:pic>
      <p:sp>
        <p:nvSpPr>
          <p:cNvPr id="574" name="Google Shape;574;p14"/>
          <p:cNvSpPr/>
          <p:nvPr/>
        </p:nvSpPr>
        <p:spPr>
          <a:xfrm>
            <a:off x="8869680" y="4526280"/>
            <a:ext cx="2697480" cy="16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Conversation Memory</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050"/>
              <a:buFont typeface="Calibri"/>
              <a:buNone/>
            </a:pPr>
            <a:r>
              <a:rPr b="1" i="0" lang="en-US" sz="1050" u="none" cap="none" strike="noStrike">
                <a:solidFill>
                  <a:srgbClr val="000000"/>
                </a:solidFill>
                <a:latin typeface="Calibri"/>
                <a:ea typeface="Calibri"/>
                <a:cs typeface="Calibri"/>
                <a:sym typeface="Calibri"/>
              </a:rPr>
              <a:t>MEMORY_WINDOW_SIZE = 7 (named constant)</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Last 7 exchanges stored AND used per session_key (role + patient_id).</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5B6B8C"/>
              </a:buClr>
              <a:buSzPts val="950"/>
              <a:buFont typeface="Calibri"/>
              <a:buNone/>
            </a:pPr>
            <a:r>
              <a:rPr b="0" i="1" lang="en-US" sz="950" u="none" cap="none" strike="noStrike">
                <a:solidFill>
                  <a:srgbClr val="5B6B8C"/>
                </a:solidFill>
                <a:latin typeface="Calibri"/>
                <a:ea typeface="Calibri"/>
                <a:cs typeface="Calibri"/>
                <a:sym typeface="Calibri"/>
              </a:rPr>
              <a:t>In-process dict for this iteration's scope - documented limitation with Redis/Prisma path forward.</a:t>
            </a:r>
            <a:endParaRPr b="0" i="0" sz="1300" u="none" cap="none" strike="noStrike">
              <a:solidFill>
                <a:schemeClr val="dk1"/>
              </a:solidFill>
              <a:latin typeface="Calibri"/>
              <a:ea typeface="Calibri"/>
              <a:cs typeface="Calibri"/>
              <a:sym typeface="Calibri"/>
            </a:endParaRPr>
          </a:p>
        </p:txBody>
      </p:sp>
      <p:pic>
        <p:nvPicPr>
          <p:cNvPr descr="/home/claude/slides/logo.png" id="575" name="Google Shape;575;p14"/>
          <p:cNvPicPr preferRelativeResize="0"/>
          <p:nvPr/>
        </p:nvPicPr>
        <p:blipFill rotWithShape="1">
          <a:blip r:embed="rId10">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15"/>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IMPLEMENTATION - CROSS-CUTTING FLOW</a:t>
            </a:r>
            <a:endParaRPr b="0" i="0" sz="1200" u="none" cap="none" strike="noStrike">
              <a:solidFill>
                <a:schemeClr val="dk1"/>
              </a:solidFill>
              <a:latin typeface="Calibri"/>
              <a:ea typeface="Calibri"/>
              <a:cs typeface="Calibri"/>
              <a:sym typeface="Calibri"/>
            </a:endParaRPr>
          </a:p>
        </p:txBody>
      </p:sp>
      <p:sp>
        <p:nvSpPr>
          <p:cNvPr id="582" name="Google Shape;582;p15"/>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Sequence Diagram - AI Chat Request</a:t>
            </a:r>
            <a:endParaRPr b="0" i="0" sz="3200" u="none" cap="none" strike="noStrike">
              <a:solidFill>
                <a:schemeClr val="dk1"/>
              </a:solidFill>
              <a:latin typeface="Calibri"/>
              <a:ea typeface="Calibri"/>
              <a:cs typeface="Calibri"/>
              <a:sym typeface="Calibri"/>
            </a:endParaRPr>
          </a:p>
        </p:txBody>
      </p:sp>
      <p:sp>
        <p:nvSpPr>
          <p:cNvPr id="583" name="Google Shape;583;p15"/>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584" name="Google Shape;584;p15"/>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585" name="Google Shape;585;p15"/>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586" name="Google Shape;586;p15"/>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End-to-end flow showing authentication, role-based access control, and the AI microservice boundary.</a:t>
            </a:r>
            <a:endParaRPr b="0" i="0" sz="1300" u="none" cap="none" strike="noStrike">
              <a:solidFill>
                <a:schemeClr val="dk1"/>
              </a:solidFill>
              <a:latin typeface="Calibri"/>
              <a:ea typeface="Calibri"/>
              <a:cs typeface="Calibri"/>
              <a:sym typeface="Calibri"/>
            </a:endParaRPr>
          </a:p>
        </p:txBody>
      </p:sp>
      <p:sp>
        <p:nvSpPr>
          <p:cNvPr id="587" name="Google Shape;587;p15"/>
          <p:cNvSpPr/>
          <p:nvPr/>
        </p:nvSpPr>
        <p:spPr>
          <a:xfrm>
            <a:off x="832104" y="1783080"/>
            <a:ext cx="384048" cy="384048"/>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circle_navy.png" id="588" name="Google Shape;588;p15"/>
          <p:cNvPicPr preferRelativeResize="0"/>
          <p:nvPr/>
        </p:nvPicPr>
        <p:blipFill rotWithShape="1">
          <a:blip r:embed="rId3">
            <a:alphaModFix/>
          </a:blip>
          <a:srcRect b="0" l="0" r="0" t="0"/>
          <a:stretch/>
        </p:blipFill>
        <p:spPr>
          <a:xfrm>
            <a:off x="918515" y="1869491"/>
            <a:ext cx="211226" cy="211226"/>
          </a:xfrm>
          <a:prstGeom prst="rect">
            <a:avLst/>
          </a:prstGeom>
          <a:noFill/>
          <a:ln>
            <a:noFill/>
          </a:ln>
        </p:spPr>
      </p:pic>
      <p:sp>
        <p:nvSpPr>
          <p:cNvPr id="589" name="Google Shape;589;p15"/>
          <p:cNvSpPr/>
          <p:nvPr/>
        </p:nvSpPr>
        <p:spPr>
          <a:xfrm>
            <a:off x="182880" y="2185416"/>
            <a:ext cx="17373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1" i="0" lang="en-US" sz="900" u="none" cap="none" strike="noStrike">
                <a:solidFill>
                  <a:srgbClr val="1E2761"/>
                </a:solidFill>
                <a:latin typeface="Calibri"/>
                <a:ea typeface="Calibri"/>
                <a:cs typeface="Calibri"/>
                <a:sym typeface="Calibri"/>
              </a:rPr>
              <a:t>User</a:t>
            </a:r>
            <a:endParaRPr b="0" i="0" sz="900" u="none" cap="none" strike="noStrike">
              <a:solidFill>
                <a:schemeClr val="dk1"/>
              </a:solidFill>
              <a:latin typeface="Calibri"/>
              <a:ea typeface="Calibri"/>
              <a:cs typeface="Calibri"/>
              <a:sym typeface="Calibri"/>
            </a:endParaRPr>
          </a:p>
        </p:txBody>
      </p:sp>
      <p:cxnSp>
        <p:nvCxnSpPr>
          <p:cNvPr id="590" name="Google Shape;590;p15"/>
          <p:cNvCxnSpPr/>
          <p:nvPr/>
        </p:nvCxnSpPr>
        <p:spPr>
          <a:xfrm>
            <a:off x="1024128" y="2651760"/>
            <a:ext cx="0" cy="3794760"/>
          </a:xfrm>
          <a:prstGeom prst="straightConnector1">
            <a:avLst/>
          </a:prstGeom>
          <a:noFill/>
          <a:ln cap="flat" cmpd="sng" w="15875">
            <a:solidFill>
              <a:srgbClr val="CADCFC"/>
            </a:solidFill>
            <a:prstDash val="dash"/>
            <a:round/>
            <a:headEnd len="sm" w="sm" type="none"/>
            <a:tailEnd len="sm" w="sm" type="none"/>
          </a:ln>
        </p:spPr>
      </p:cxnSp>
      <p:sp>
        <p:nvSpPr>
          <p:cNvPr id="591" name="Google Shape;591;p15"/>
          <p:cNvSpPr/>
          <p:nvPr/>
        </p:nvSpPr>
        <p:spPr>
          <a:xfrm>
            <a:off x="2752344" y="1783080"/>
            <a:ext cx="384048" cy="384048"/>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eact_navy.png" id="592" name="Google Shape;592;p15"/>
          <p:cNvPicPr preferRelativeResize="0"/>
          <p:nvPr/>
        </p:nvPicPr>
        <p:blipFill rotWithShape="1">
          <a:blip r:embed="rId4">
            <a:alphaModFix/>
          </a:blip>
          <a:srcRect b="0" l="0" r="0" t="0"/>
          <a:stretch/>
        </p:blipFill>
        <p:spPr>
          <a:xfrm>
            <a:off x="2838755" y="1869491"/>
            <a:ext cx="211226" cy="211226"/>
          </a:xfrm>
          <a:prstGeom prst="rect">
            <a:avLst/>
          </a:prstGeom>
          <a:noFill/>
          <a:ln>
            <a:noFill/>
          </a:ln>
        </p:spPr>
      </p:pic>
      <p:sp>
        <p:nvSpPr>
          <p:cNvPr id="593" name="Google Shape;593;p15"/>
          <p:cNvSpPr/>
          <p:nvPr/>
        </p:nvSpPr>
        <p:spPr>
          <a:xfrm>
            <a:off x="2103120" y="2185416"/>
            <a:ext cx="17373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1" i="0" lang="en-US" sz="900" u="none" cap="none" strike="noStrike">
                <a:solidFill>
                  <a:srgbClr val="1E2761"/>
                </a:solidFill>
                <a:latin typeface="Calibri"/>
                <a:ea typeface="Calibri"/>
                <a:cs typeface="Calibri"/>
                <a:sym typeface="Calibri"/>
              </a:rPr>
              <a:t>React Frontend</a:t>
            </a:r>
            <a:endParaRPr b="0" i="0" sz="900" u="none" cap="none" strike="noStrike">
              <a:solidFill>
                <a:schemeClr val="dk1"/>
              </a:solidFill>
              <a:latin typeface="Calibri"/>
              <a:ea typeface="Calibri"/>
              <a:cs typeface="Calibri"/>
              <a:sym typeface="Calibri"/>
            </a:endParaRPr>
          </a:p>
        </p:txBody>
      </p:sp>
      <p:cxnSp>
        <p:nvCxnSpPr>
          <p:cNvPr id="594" name="Google Shape;594;p15"/>
          <p:cNvCxnSpPr/>
          <p:nvPr/>
        </p:nvCxnSpPr>
        <p:spPr>
          <a:xfrm>
            <a:off x="2944368" y="2651760"/>
            <a:ext cx="0" cy="3794760"/>
          </a:xfrm>
          <a:prstGeom prst="straightConnector1">
            <a:avLst/>
          </a:prstGeom>
          <a:noFill/>
          <a:ln cap="flat" cmpd="sng" w="15875">
            <a:solidFill>
              <a:srgbClr val="CADCFC"/>
            </a:solidFill>
            <a:prstDash val="dash"/>
            <a:round/>
            <a:headEnd len="sm" w="sm" type="none"/>
            <a:tailEnd len="sm" w="sm" type="none"/>
          </a:ln>
        </p:spPr>
      </p:cxnSp>
      <p:sp>
        <p:nvSpPr>
          <p:cNvPr id="595" name="Google Shape;595;p15"/>
          <p:cNvSpPr/>
          <p:nvPr/>
        </p:nvSpPr>
        <p:spPr>
          <a:xfrm>
            <a:off x="5038344" y="1783080"/>
            <a:ext cx="384048" cy="384048"/>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erver_navy.png" id="596" name="Google Shape;596;p15"/>
          <p:cNvPicPr preferRelativeResize="0"/>
          <p:nvPr/>
        </p:nvPicPr>
        <p:blipFill rotWithShape="1">
          <a:blip r:embed="rId5">
            <a:alphaModFix/>
          </a:blip>
          <a:srcRect b="0" l="0" r="0" t="0"/>
          <a:stretch/>
        </p:blipFill>
        <p:spPr>
          <a:xfrm>
            <a:off x="5124755" y="1869491"/>
            <a:ext cx="211226" cy="211226"/>
          </a:xfrm>
          <a:prstGeom prst="rect">
            <a:avLst/>
          </a:prstGeom>
          <a:noFill/>
          <a:ln>
            <a:noFill/>
          </a:ln>
        </p:spPr>
      </p:pic>
      <p:sp>
        <p:nvSpPr>
          <p:cNvPr id="597" name="Google Shape;597;p15"/>
          <p:cNvSpPr/>
          <p:nvPr/>
        </p:nvSpPr>
        <p:spPr>
          <a:xfrm>
            <a:off x="4389120" y="2185416"/>
            <a:ext cx="17373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1" i="0" lang="en-US" sz="900" u="none" cap="none" strike="noStrike">
                <a:solidFill>
                  <a:srgbClr val="1E2761"/>
                </a:solidFill>
                <a:latin typeface="Calibri"/>
                <a:ea typeface="Calibri"/>
                <a:cs typeface="Calibri"/>
                <a:sym typeface="Calibri"/>
              </a:rPr>
              <a:t>Express API (verifyAuth)</a:t>
            </a:r>
            <a:endParaRPr b="0" i="0" sz="900" u="none" cap="none" strike="noStrike">
              <a:solidFill>
                <a:schemeClr val="dk1"/>
              </a:solidFill>
              <a:latin typeface="Calibri"/>
              <a:ea typeface="Calibri"/>
              <a:cs typeface="Calibri"/>
              <a:sym typeface="Calibri"/>
            </a:endParaRPr>
          </a:p>
        </p:txBody>
      </p:sp>
      <p:cxnSp>
        <p:nvCxnSpPr>
          <p:cNvPr id="598" name="Google Shape;598;p15"/>
          <p:cNvCxnSpPr/>
          <p:nvPr/>
        </p:nvCxnSpPr>
        <p:spPr>
          <a:xfrm>
            <a:off x="5230368" y="2651760"/>
            <a:ext cx="0" cy="3794760"/>
          </a:xfrm>
          <a:prstGeom prst="straightConnector1">
            <a:avLst/>
          </a:prstGeom>
          <a:noFill/>
          <a:ln cap="flat" cmpd="sng" w="15875">
            <a:solidFill>
              <a:srgbClr val="CADCFC"/>
            </a:solidFill>
            <a:prstDash val="dash"/>
            <a:round/>
            <a:headEnd len="sm" w="sm" type="none"/>
            <a:tailEnd len="sm" w="sm" type="none"/>
          </a:ln>
        </p:spPr>
      </p:cxnSp>
      <p:sp>
        <p:nvSpPr>
          <p:cNvPr id="599" name="Google Shape;599;p15"/>
          <p:cNvSpPr/>
          <p:nvPr/>
        </p:nvSpPr>
        <p:spPr>
          <a:xfrm>
            <a:off x="7324344" y="1783080"/>
            <a:ext cx="384048" cy="384048"/>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ingerprint_navy.png" id="600" name="Google Shape;600;p15"/>
          <p:cNvPicPr preferRelativeResize="0"/>
          <p:nvPr/>
        </p:nvPicPr>
        <p:blipFill rotWithShape="1">
          <a:blip r:embed="rId6">
            <a:alphaModFix/>
          </a:blip>
          <a:srcRect b="0" l="0" r="0" t="0"/>
          <a:stretch/>
        </p:blipFill>
        <p:spPr>
          <a:xfrm>
            <a:off x="7410755" y="1869491"/>
            <a:ext cx="211226" cy="211226"/>
          </a:xfrm>
          <a:prstGeom prst="rect">
            <a:avLst/>
          </a:prstGeom>
          <a:noFill/>
          <a:ln>
            <a:noFill/>
          </a:ln>
        </p:spPr>
      </p:pic>
      <p:sp>
        <p:nvSpPr>
          <p:cNvPr id="601" name="Google Shape;601;p15"/>
          <p:cNvSpPr/>
          <p:nvPr/>
        </p:nvSpPr>
        <p:spPr>
          <a:xfrm>
            <a:off x="6675120" y="2185416"/>
            <a:ext cx="17373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1" i="0" lang="en-US" sz="900" u="none" cap="none" strike="noStrike">
                <a:solidFill>
                  <a:srgbClr val="1E2761"/>
                </a:solidFill>
                <a:latin typeface="Calibri"/>
                <a:ea typeface="Calibri"/>
                <a:cs typeface="Calibri"/>
                <a:sym typeface="Calibri"/>
              </a:rPr>
              <a:t>Firebase Auth</a:t>
            </a:r>
            <a:endParaRPr b="0" i="0" sz="900" u="none" cap="none" strike="noStrike">
              <a:solidFill>
                <a:schemeClr val="dk1"/>
              </a:solidFill>
              <a:latin typeface="Calibri"/>
              <a:ea typeface="Calibri"/>
              <a:cs typeface="Calibri"/>
              <a:sym typeface="Calibri"/>
            </a:endParaRPr>
          </a:p>
        </p:txBody>
      </p:sp>
      <p:cxnSp>
        <p:nvCxnSpPr>
          <p:cNvPr id="602" name="Google Shape;602;p15"/>
          <p:cNvCxnSpPr/>
          <p:nvPr/>
        </p:nvCxnSpPr>
        <p:spPr>
          <a:xfrm>
            <a:off x="7516368" y="2651760"/>
            <a:ext cx="0" cy="3794760"/>
          </a:xfrm>
          <a:prstGeom prst="straightConnector1">
            <a:avLst/>
          </a:prstGeom>
          <a:noFill/>
          <a:ln cap="flat" cmpd="sng" w="15875">
            <a:solidFill>
              <a:srgbClr val="CADCFC"/>
            </a:solidFill>
            <a:prstDash val="dash"/>
            <a:round/>
            <a:headEnd len="sm" w="sm" type="none"/>
            <a:tailEnd len="sm" w="sm" type="none"/>
          </a:ln>
        </p:spPr>
      </p:cxnSp>
      <p:sp>
        <p:nvSpPr>
          <p:cNvPr id="603" name="Google Shape;603;p15"/>
          <p:cNvSpPr/>
          <p:nvPr/>
        </p:nvSpPr>
        <p:spPr>
          <a:xfrm>
            <a:off x="9153144" y="1783080"/>
            <a:ext cx="384048" cy="384048"/>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database_navy.png" id="604" name="Google Shape;604;p15"/>
          <p:cNvPicPr preferRelativeResize="0"/>
          <p:nvPr/>
        </p:nvPicPr>
        <p:blipFill rotWithShape="1">
          <a:blip r:embed="rId7">
            <a:alphaModFix/>
          </a:blip>
          <a:srcRect b="0" l="0" r="0" t="0"/>
          <a:stretch/>
        </p:blipFill>
        <p:spPr>
          <a:xfrm>
            <a:off x="9239555" y="1869491"/>
            <a:ext cx="211226" cy="211226"/>
          </a:xfrm>
          <a:prstGeom prst="rect">
            <a:avLst/>
          </a:prstGeom>
          <a:noFill/>
          <a:ln>
            <a:noFill/>
          </a:ln>
        </p:spPr>
      </p:pic>
      <p:sp>
        <p:nvSpPr>
          <p:cNvPr id="605" name="Google Shape;605;p15"/>
          <p:cNvSpPr/>
          <p:nvPr/>
        </p:nvSpPr>
        <p:spPr>
          <a:xfrm>
            <a:off x="8503920" y="2185416"/>
            <a:ext cx="17373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1" i="0" lang="en-US" sz="900" u="none" cap="none" strike="noStrike">
                <a:solidFill>
                  <a:srgbClr val="1E2761"/>
                </a:solidFill>
                <a:latin typeface="Calibri"/>
                <a:ea typeface="Calibri"/>
                <a:cs typeface="Calibri"/>
                <a:sym typeface="Calibri"/>
              </a:rPr>
              <a:t>Prisma / Postgres</a:t>
            </a:r>
            <a:endParaRPr b="0" i="0" sz="900" u="none" cap="none" strike="noStrike">
              <a:solidFill>
                <a:schemeClr val="dk1"/>
              </a:solidFill>
              <a:latin typeface="Calibri"/>
              <a:ea typeface="Calibri"/>
              <a:cs typeface="Calibri"/>
              <a:sym typeface="Calibri"/>
            </a:endParaRPr>
          </a:p>
        </p:txBody>
      </p:sp>
      <p:cxnSp>
        <p:nvCxnSpPr>
          <p:cNvPr id="606" name="Google Shape;606;p15"/>
          <p:cNvCxnSpPr/>
          <p:nvPr/>
        </p:nvCxnSpPr>
        <p:spPr>
          <a:xfrm>
            <a:off x="9345168" y="2651760"/>
            <a:ext cx="0" cy="3794760"/>
          </a:xfrm>
          <a:prstGeom prst="straightConnector1">
            <a:avLst/>
          </a:prstGeom>
          <a:noFill/>
          <a:ln cap="flat" cmpd="sng" w="15875">
            <a:solidFill>
              <a:srgbClr val="CADCFC"/>
            </a:solidFill>
            <a:prstDash val="dash"/>
            <a:round/>
            <a:headEnd len="sm" w="sm" type="none"/>
            <a:tailEnd len="sm" w="sm" type="none"/>
          </a:ln>
        </p:spPr>
      </p:cxnSp>
      <p:sp>
        <p:nvSpPr>
          <p:cNvPr id="607" name="Google Shape;607;p15"/>
          <p:cNvSpPr/>
          <p:nvPr/>
        </p:nvSpPr>
        <p:spPr>
          <a:xfrm>
            <a:off x="10981944" y="1783080"/>
            <a:ext cx="384048" cy="384048"/>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navy.png" id="608" name="Google Shape;608;p15"/>
          <p:cNvPicPr preferRelativeResize="0"/>
          <p:nvPr/>
        </p:nvPicPr>
        <p:blipFill rotWithShape="1">
          <a:blip r:embed="rId8">
            <a:alphaModFix/>
          </a:blip>
          <a:srcRect b="0" l="0" r="0" t="0"/>
          <a:stretch/>
        </p:blipFill>
        <p:spPr>
          <a:xfrm>
            <a:off x="11068355" y="1869491"/>
            <a:ext cx="211226" cy="211226"/>
          </a:xfrm>
          <a:prstGeom prst="rect">
            <a:avLst/>
          </a:prstGeom>
          <a:noFill/>
          <a:ln>
            <a:noFill/>
          </a:ln>
        </p:spPr>
      </p:pic>
      <p:sp>
        <p:nvSpPr>
          <p:cNvPr id="609" name="Google Shape;609;p15"/>
          <p:cNvSpPr/>
          <p:nvPr/>
        </p:nvSpPr>
        <p:spPr>
          <a:xfrm>
            <a:off x="10332720" y="2185416"/>
            <a:ext cx="17373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1" i="0" lang="en-US" sz="900" u="none" cap="none" strike="noStrike">
                <a:solidFill>
                  <a:srgbClr val="1E2761"/>
                </a:solidFill>
                <a:latin typeface="Calibri"/>
                <a:ea typeface="Calibri"/>
                <a:cs typeface="Calibri"/>
                <a:sym typeface="Calibri"/>
              </a:rPr>
              <a:t>AI Service (FastAPI)</a:t>
            </a:r>
            <a:endParaRPr b="0" i="0" sz="900" u="none" cap="none" strike="noStrike">
              <a:solidFill>
                <a:schemeClr val="dk1"/>
              </a:solidFill>
              <a:latin typeface="Calibri"/>
              <a:ea typeface="Calibri"/>
              <a:cs typeface="Calibri"/>
              <a:sym typeface="Calibri"/>
            </a:endParaRPr>
          </a:p>
        </p:txBody>
      </p:sp>
      <p:cxnSp>
        <p:nvCxnSpPr>
          <p:cNvPr id="610" name="Google Shape;610;p15"/>
          <p:cNvCxnSpPr/>
          <p:nvPr/>
        </p:nvCxnSpPr>
        <p:spPr>
          <a:xfrm>
            <a:off x="11173968" y="2651760"/>
            <a:ext cx="0" cy="3794760"/>
          </a:xfrm>
          <a:prstGeom prst="straightConnector1">
            <a:avLst/>
          </a:prstGeom>
          <a:noFill/>
          <a:ln cap="flat" cmpd="sng" w="15875">
            <a:solidFill>
              <a:srgbClr val="CADCFC"/>
            </a:solidFill>
            <a:prstDash val="dash"/>
            <a:round/>
            <a:headEnd len="sm" w="sm" type="none"/>
            <a:tailEnd len="sm" w="sm" type="none"/>
          </a:ln>
        </p:spPr>
      </p:cxnSp>
      <p:cxnSp>
        <p:nvCxnSpPr>
          <p:cNvPr id="611" name="Google Shape;611;p15"/>
          <p:cNvCxnSpPr/>
          <p:nvPr/>
        </p:nvCxnSpPr>
        <p:spPr>
          <a:xfrm>
            <a:off x="1024128" y="2788920"/>
            <a:ext cx="1920240" cy="0"/>
          </a:xfrm>
          <a:prstGeom prst="straightConnector1">
            <a:avLst/>
          </a:prstGeom>
          <a:noFill/>
          <a:ln cap="flat" cmpd="sng" w="19050">
            <a:solidFill>
              <a:srgbClr val="1E2761"/>
            </a:solidFill>
            <a:prstDash val="solid"/>
            <a:round/>
            <a:headEnd len="sm" w="sm" type="none"/>
            <a:tailEnd len="med" w="med" type="triangle"/>
          </a:ln>
        </p:spPr>
      </p:cxnSp>
      <p:sp>
        <p:nvSpPr>
          <p:cNvPr id="612" name="Google Shape;612;p15"/>
          <p:cNvSpPr/>
          <p:nvPr/>
        </p:nvSpPr>
        <p:spPr>
          <a:xfrm>
            <a:off x="1024128" y="2542032"/>
            <a:ext cx="19202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0" i="0" lang="en-US" sz="900" u="none" cap="none" strike="noStrike">
                <a:solidFill>
                  <a:srgbClr val="1E2761"/>
                </a:solidFill>
                <a:latin typeface="Calibri"/>
                <a:ea typeface="Calibri"/>
                <a:cs typeface="Calibri"/>
                <a:sym typeface="Calibri"/>
              </a:rPr>
              <a:t>1. Asks question in chat widget</a:t>
            </a:r>
            <a:endParaRPr b="0" i="0" sz="900" u="none" cap="none" strike="noStrike">
              <a:solidFill>
                <a:schemeClr val="dk1"/>
              </a:solidFill>
              <a:latin typeface="Calibri"/>
              <a:ea typeface="Calibri"/>
              <a:cs typeface="Calibri"/>
              <a:sym typeface="Calibri"/>
            </a:endParaRPr>
          </a:p>
        </p:txBody>
      </p:sp>
      <p:cxnSp>
        <p:nvCxnSpPr>
          <p:cNvPr id="613" name="Google Shape;613;p15"/>
          <p:cNvCxnSpPr/>
          <p:nvPr/>
        </p:nvCxnSpPr>
        <p:spPr>
          <a:xfrm>
            <a:off x="2944368" y="3355848"/>
            <a:ext cx="2286000" cy="0"/>
          </a:xfrm>
          <a:prstGeom prst="straightConnector1">
            <a:avLst/>
          </a:prstGeom>
          <a:noFill/>
          <a:ln cap="flat" cmpd="sng" w="19050">
            <a:solidFill>
              <a:srgbClr val="1E2761"/>
            </a:solidFill>
            <a:prstDash val="solid"/>
            <a:round/>
            <a:headEnd len="sm" w="sm" type="none"/>
            <a:tailEnd len="med" w="med" type="triangle"/>
          </a:ln>
        </p:spPr>
      </p:cxnSp>
      <p:sp>
        <p:nvSpPr>
          <p:cNvPr id="614" name="Google Shape;614;p15"/>
          <p:cNvSpPr/>
          <p:nvPr/>
        </p:nvSpPr>
        <p:spPr>
          <a:xfrm>
            <a:off x="2944368" y="3108960"/>
            <a:ext cx="22860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0" i="0" lang="en-US" sz="900" u="none" cap="none" strike="noStrike">
                <a:solidFill>
                  <a:srgbClr val="1E2761"/>
                </a:solidFill>
                <a:latin typeface="Calibri"/>
                <a:ea typeface="Calibri"/>
                <a:cs typeface="Calibri"/>
                <a:sym typeface="Calibri"/>
              </a:rPr>
              <a:t>2. POST /api/ai/chat + Firebase ID token</a:t>
            </a:r>
            <a:endParaRPr b="0" i="0" sz="900" u="none" cap="none" strike="noStrike">
              <a:solidFill>
                <a:schemeClr val="dk1"/>
              </a:solidFill>
              <a:latin typeface="Calibri"/>
              <a:ea typeface="Calibri"/>
              <a:cs typeface="Calibri"/>
              <a:sym typeface="Calibri"/>
            </a:endParaRPr>
          </a:p>
        </p:txBody>
      </p:sp>
      <p:cxnSp>
        <p:nvCxnSpPr>
          <p:cNvPr id="615" name="Google Shape;615;p15"/>
          <p:cNvCxnSpPr/>
          <p:nvPr/>
        </p:nvCxnSpPr>
        <p:spPr>
          <a:xfrm>
            <a:off x="5230368" y="3922776"/>
            <a:ext cx="2286000" cy="0"/>
          </a:xfrm>
          <a:prstGeom prst="straightConnector1">
            <a:avLst/>
          </a:prstGeom>
          <a:noFill/>
          <a:ln cap="flat" cmpd="sng" w="19050">
            <a:solidFill>
              <a:srgbClr val="1E2761"/>
            </a:solidFill>
            <a:prstDash val="solid"/>
            <a:round/>
            <a:headEnd len="sm" w="sm" type="none"/>
            <a:tailEnd len="med" w="med" type="triangle"/>
          </a:ln>
        </p:spPr>
      </p:cxnSp>
      <p:sp>
        <p:nvSpPr>
          <p:cNvPr id="616" name="Google Shape;616;p15"/>
          <p:cNvSpPr/>
          <p:nvPr/>
        </p:nvSpPr>
        <p:spPr>
          <a:xfrm>
            <a:off x="5230368" y="3675888"/>
            <a:ext cx="22860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0" i="0" lang="en-US" sz="900" u="none" cap="none" strike="noStrike">
                <a:solidFill>
                  <a:srgbClr val="1E2761"/>
                </a:solidFill>
                <a:latin typeface="Calibri"/>
                <a:ea typeface="Calibri"/>
                <a:cs typeface="Calibri"/>
                <a:sym typeface="Calibri"/>
              </a:rPr>
              <a:t>3. verifyIdToken(token)  -&gt;  4. Decoded UID + role returned</a:t>
            </a:r>
            <a:endParaRPr b="0" i="0" sz="900" u="none" cap="none" strike="noStrike">
              <a:solidFill>
                <a:schemeClr val="dk1"/>
              </a:solidFill>
              <a:latin typeface="Calibri"/>
              <a:ea typeface="Calibri"/>
              <a:cs typeface="Calibri"/>
              <a:sym typeface="Calibri"/>
            </a:endParaRPr>
          </a:p>
        </p:txBody>
      </p:sp>
      <p:cxnSp>
        <p:nvCxnSpPr>
          <p:cNvPr id="617" name="Google Shape;617;p15"/>
          <p:cNvCxnSpPr/>
          <p:nvPr/>
        </p:nvCxnSpPr>
        <p:spPr>
          <a:xfrm>
            <a:off x="5230368" y="4489704"/>
            <a:ext cx="4114800" cy="0"/>
          </a:xfrm>
          <a:prstGeom prst="straightConnector1">
            <a:avLst/>
          </a:prstGeom>
          <a:noFill/>
          <a:ln cap="flat" cmpd="sng" w="19050">
            <a:solidFill>
              <a:srgbClr val="1E2761"/>
            </a:solidFill>
            <a:prstDash val="solid"/>
            <a:round/>
            <a:headEnd len="sm" w="sm" type="none"/>
            <a:tailEnd len="med" w="med" type="triangle"/>
          </a:ln>
        </p:spPr>
      </p:cxnSp>
      <p:sp>
        <p:nvSpPr>
          <p:cNvPr id="618" name="Google Shape;618;p15"/>
          <p:cNvSpPr/>
          <p:nvPr/>
        </p:nvSpPr>
        <p:spPr>
          <a:xfrm>
            <a:off x="5230368" y="4242816"/>
            <a:ext cx="4114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0" i="0" lang="en-US" sz="900" u="none" cap="none" strike="noStrike">
                <a:solidFill>
                  <a:srgbClr val="1E2761"/>
                </a:solidFill>
                <a:latin typeface="Calibri"/>
                <a:ea typeface="Calibri"/>
                <a:cs typeface="Calibri"/>
                <a:sym typeface="Calibri"/>
              </a:rPr>
              <a:t>5. Fetch patient context  -&gt;  6. Insurance, specialist, progress returned</a:t>
            </a:r>
            <a:endParaRPr b="0" i="0" sz="900" u="none" cap="none" strike="noStrike">
              <a:solidFill>
                <a:schemeClr val="dk1"/>
              </a:solidFill>
              <a:latin typeface="Calibri"/>
              <a:ea typeface="Calibri"/>
              <a:cs typeface="Calibri"/>
              <a:sym typeface="Calibri"/>
            </a:endParaRPr>
          </a:p>
        </p:txBody>
      </p:sp>
      <p:cxnSp>
        <p:nvCxnSpPr>
          <p:cNvPr id="619" name="Google Shape;619;p15"/>
          <p:cNvCxnSpPr/>
          <p:nvPr/>
        </p:nvCxnSpPr>
        <p:spPr>
          <a:xfrm>
            <a:off x="5230368" y="5056632"/>
            <a:ext cx="5943600" cy="0"/>
          </a:xfrm>
          <a:prstGeom prst="straightConnector1">
            <a:avLst/>
          </a:prstGeom>
          <a:noFill/>
          <a:ln cap="flat" cmpd="sng" w="19050">
            <a:solidFill>
              <a:srgbClr val="1E2761"/>
            </a:solidFill>
            <a:prstDash val="solid"/>
            <a:round/>
            <a:headEnd len="sm" w="sm" type="none"/>
            <a:tailEnd len="med" w="med" type="triangle"/>
          </a:ln>
        </p:spPr>
      </p:cxnSp>
      <p:sp>
        <p:nvSpPr>
          <p:cNvPr id="620" name="Google Shape;620;p15"/>
          <p:cNvSpPr/>
          <p:nvPr/>
        </p:nvSpPr>
        <p:spPr>
          <a:xfrm>
            <a:off x="5230368" y="4809744"/>
            <a:ext cx="59436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900"/>
              <a:buFont typeface="Calibri"/>
              <a:buNone/>
            </a:pPr>
            <a:r>
              <a:rPr b="0" i="0" lang="en-US" sz="900" u="none" cap="none" strike="noStrike">
                <a:solidFill>
                  <a:srgbClr val="1E2761"/>
                </a:solidFill>
                <a:latin typeface="Calibri"/>
                <a:ea typeface="Calibri"/>
                <a:cs typeface="Calibri"/>
                <a:sym typeface="Calibri"/>
              </a:rPr>
              <a:t>7. Forward question + role + context (internal Docker network only)</a:t>
            </a:r>
            <a:endParaRPr b="0" i="0" sz="900" u="none" cap="none" strike="noStrike">
              <a:solidFill>
                <a:schemeClr val="dk1"/>
              </a:solidFill>
              <a:latin typeface="Calibri"/>
              <a:ea typeface="Calibri"/>
              <a:cs typeface="Calibri"/>
              <a:sym typeface="Calibri"/>
            </a:endParaRPr>
          </a:p>
        </p:txBody>
      </p:sp>
      <p:sp>
        <p:nvSpPr>
          <p:cNvPr id="621" name="Google Shape;621;p15"/>
          <p:cNvSpPr/>
          <p:nvPr/>
        </p:nvSpPr>
        <p:spPr>
          <a:xfrm>
            <a:off x="9601200" y="5696712"/>
            <a:ext cx="1828800" cy="420624"/>
          </a:xfrm>
          <a:prstGeom prst="roundRect">
            <a:avLst>
              <a:gd fmla="val 10870" name="adj"/>
            </a:avLst>
          </a:prstGeom>
          <a:solidFill>
            <a:srgbClr val="FFF8E6"/>
          </a:solidFill>
          <a:ln cap="flat" cmpd="sng" w="12700">
            <a:solidFill>
              <a:srgbClr val="F4A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5"/>
          <p:cNvSpPr/>
          <p:nvPr/>
        </p:nvSpPr>
        <p:spPr>
          <a:xfrm>
            <a:off x="9601200" y="5696712"/>
            <a:ext cx="182880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800"/>
              <a:buFont typeface="Calibri"/>
              <a:buNone/>
            </a:pPr>
            <a:r>
              <a:rPr b="0" i="0" lang="en-US" sz="800" u="none" cap="none" strike="noStrike">
                <a:solidFill>
                  <a:srgbClr val="1E2761"/>
                </a:solidFill>
                <a:latin typeface="Calibri"/>
                <a:ea typeface="Calibri"/>
                <a:cs typeface="Calibri"/>
                <a:sym typeface="Calibri"/>
              </a:rPr>
              <a:t>8. RAG: ChromaDB retrieve top-3 + GPT-4.1-mini generate</a:t>
            </a:r>
            <a:endParaRPr b="0" i="0" sz="800" u="none" cap="none" strike="noStrike">
              <a:solidFill>
                <a:schemeClr val="dk1"/>
              </a:solidFill>
              <a:latin typeface="Calibri"/>
              <a:ea typeface="Calibri"/>
              <a:cs typeface="Calibri"/>
              <a:sym typeface="Calibri"/>
            </a:endParaRPr>
          </a:p>
        </p:txBody>
      </p:sp>
      <p:cxnSp>
        <p:nvCxnSpPr>
          <p:cNvPr id="623" name="Google Shape;623;p15"/>
          <p:cNvCxnSpPr/>
          <p:nvPr/>
        </p:nvCxnSpPr>
        <p:spPr>
          <a:xfrm>
            <a:off x="2944368" y="6464808"/>
            <a:ext cx="8229600" cy="0"/>
          </a:xfrm>
          <a:prstGeom prst="straightConnector1">
            <a:avLst/>
          </a:prstGeom>
          <a:noFill/>
          <a:ln cap="flat" cmpd="sng" w="19050">
            <a:solidFill>
              <a:srgbClr val="2C9F45"/>
            </a:solidFill>
            <a:prstDash val="dash"/>
            <a:round/>
            <a:headEnd len="med" w="med" type="triangle"/>
            <a:tailEnd len="sm" w="sm" type="none"/>
          </a:ln>
        </p:spPr>
      </p:cxnSp>
      <p:sp>
        <p:nvSpPr>
          <p:cNvPr id="624" name="Google Shape;624;p15"/>
          <p:cNvSpPr/>
          <p:nvPr/>
        </p:nvSpPr>
        <p:spPr>
          <a:xfrm>
            <a:off x="2944368" y="6217920"/>
            <a:ext cx="82296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9F45"/>
              </a:buClr>
              <a:buSzPts val="900"/>
              <a:buFont typeface="Calibri"/>
              <a:buNone/>
            </a:pPr>
            <a:r>
              <a:rPr b="0" i="0" lang="en-US" sz="900" u="none" cap="none" strike="noStrike">
                <a:solidFill>
                  <a:srgbClr val="2C9F45"/>
                </a:solidFill>
                <a:latin typeface="Calibri"/>
                <a:ea typeface="Calibri"/>
                <a:cs typeface="Calibri"/>
                <a:sym typeface="Calibri"/>
              </a:rPr>
              <a:t>9. JSON answer returned through Express to frontend, rendered in chat bubble</a:t>
            </a:r>
            <a:endParaRPr b="0" i="0" sz="900" u="none" cap="none" strike="noStrike">
              <a:solidFill>
                <a:schemeClr val="dk1"/>
              </a:solidFill>
              <a:latin typeface="Calibri"/>
              <a:ea typeface="Calibri"/>
              <a:cs typeface="Calibri"/>
              <a:sym typeface="Calibri"/>
            </a:endParaRPr>
          </a:p>
        </p:txBody>
      </p:sp>
      <p:pic>
        <p:nvPicPr>
          <p:cNvPr descr="/home/claude/slides/logo.png" id="625" name="Google Shape;625;p15"/>
          <p:cNvPicPr preferRelativeResize="0"/>
          <p:nvPr/>
        </p:nvPicPr>
        <p:blipFill rotWithShape="1">
          <a:blip r:embed="rId9">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0" name="Shape 630"/>
        <p:cNvGrpSpPr/>
        <p:nvPr/>
      </p:nvGrpSpPr>
      <p:grpSpPr>
        <a:xfrm>
          <a:off x="0" y="0"/>
          <a:ext cx="0" cy="0"/>
          <a:chOff x="0" y="0"/>
          <a:chExt cx="0" cy="0"/>
        </a:xfrm>
      </p:grpSpPr>
      <p:sp>
        <p:nvSpPr>
          <p:cNvPr id="631" name="Google Shape;631;p16"/>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IMPLEMENTATION - CODE QUALITY</a:t>
            </a:r>
            <a:endParaRPr b="0" i="0" sz="1200" u="none" cap="none" strike="noStrike">
              <a:solidFill>
                <a:schemeClr val="dk1"/>
              </a:solidFill>
              <a:latin typeface="Calibri"/>
              <a:ea typeface="Calibri"/>
              <a:cs typeface="Calibri"/>
              <a:sym typeface="Calibri"/>
            </a:endParaRPr>
          </a:p>
        </p:txBody>
      </p:sp>
      <p:sp>
        <p:nvSpPr>
          <p:cNvPr id="632" name="Google Shape;632;p16"/>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Refactoring Example: Removing Magic Numbers</a:t>
            </a:r>
            <a:endParaRPr b="0" i="0" sz="3200" u="none" cap="none" strike="noStrike">
              <a:solidFill>
                <a:schemeClr val="dk1"/>
              </a:solidFill>
              <a:latin typeface="Calibri"/>
              <a:ea typeface="Calibri"/>
              <a:cs typeface="Calibri"/>
              <a:sym typeface="Calibri"/>
            </a:endParaRPr>
          </a:p>
        </p:txBody>
      </p:sp>
      <p:sp>
        <p:nvSpPr>
          <p:cNvPr id="633" name="Google Shape;633;p16"/>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634" name="Google Shape;634;p16"/>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635" name="Google Shape;635;p16"/>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636" name="Google Shape;636;p16"/>
          <p:cNvSpPr/>
          <p:nvPr/>
        </p:nvSpPr>
        <p:spPr>
          <a:xfrm>
            <a:off x="548640" y="132588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Professor feedback (Iteration 2): conversation memory used magic numbers 7 and 10 with no documented rationale. Fixed in rag.py for the final iteration.</a:t>
            </a:r>
            <a:endParaRPr b="0" i="0" sz="1300" u="none" cap="none" strike="noStrike">
              <a:solidFill>
                <a:schemeClr val="dk1"/>
              </a:solidFill>
              <a:latin typeface="Calibri"/>
              <a:ea typeface="Calibri"/>
              <a:cs typeface="Calibri"/>
              <a:sym typeface="Calibri"/>
            </a:endParaRPr>
          </a:p>
        </p:txBody>
      </p:sp>
      <p:sp>
        <p:nvSpPr>
          <p:cNvPr id="637" name="Google Shape;637;p16"/>
          <p:cNvSpPr/>
          <p:nvPr/>
        </p:nvSpPr>
        <p:spPr>
          <a:xfrm>
            <a:off x="548640" y="1965960"/>
            <a:ext cx="5440680" cy="4206240"/>
          </a:xfrm>
          <a:prstGeom prst="roundRect">
            <a:avLst>
              <a:gd fmla="val 1739" name="adj"/>
            </a:avLst>
          </a:prstGeom>
          <a:solidFill>
            <a:srgbClr val="FDEAEA"/>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777240" y="210312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BEFORE</a:t>
            </a:r>
            <a:endParaRPr b="0" i="0" sz="1200" u="none" cap="none" strike="noStrike">
              <a:solidFill>
                <a:schemeClr val="dk1"/>
              </a:solidFill>
              <a:latin typeface="Calibri"/>
              <a:ea typeface="Calibri"/>
              <a:cs typeface="Calibri"/>
              <a:sym typeface="Calibri"/>
            </a:endParaRPr>
          </a:p>
        </p:txBody>
      </p:sp>
      <p:sp>
        <p:nvSpPr>
          <p:cNvPr id="639" name="Google Shape;639;p16"/>
          <p:cNvSpPr/>
          <p:nvPr/>
        </p:nvSpPr>
        <p:spPr>
          <a:xfrm>
            <a:off x="777240" y="2514600"/>
            <a:ext cx="502920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for msg in history[-7:]:</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history_str +=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f"User: {msg['question']}\n"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f"Assistant: {msg['answer']}\n"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 later, in a different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function entirely: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if len(history) &gt; 10: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00"/>
              <a:buFont typeface="Courier New"/>
              <a:buNone/>
            </a:pPr>
            <a:r>
              <a:rPr b="0" i="0" lang="en-US" sz="1200" u="none" cap="none" strike="noStrike">
                <a:solidFill>
                  <a:srgbClr val="1E2761"/>
                </a:solidFill>
                <a:latin typeface="Courier New"/>
                <a:ea typeface="Courier New"/>
                <a:cs typeface="Courier New"/>
                <a:sym typeface="Courier New"/>
              </a:rPr>
              <a:t>    history = history[-10:]</a:t>
            </a:r>
            <a:endParaRPr b="0" i="0" sz="1200" u="none" cap="none" strike="noStrike">
              <a:solidFill>
                <a:schemeClr val="dk1"/>
              </a:solidFill>
              <a:latin typeface="Calibri"/>
              <a:ea typeface="Calibri"/>
              <a:cs typeface="Calibri"/>
              <a:sym typeface="Calibri"/>
            </a:endParaRPr>
          </a:p>
        </p:txBody>
      </p:sp>
      <p:sp>
        <p:nvSpPr>
          <p:cNvPr id="640" name="Google Shape;640;p16"/>
          <p:cNvSpPr/>
          <p:nvPr/>
        </p:nvSpPr>
        <p:spPr>
          <a:xfrm>
            <a:off x="777240" y="4526280"/>
            <a:ext cx="50292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Issues: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Two unrelated magic numbers (7 and 10) with no documented relationship</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Unclear why 10 are stored but only 7 are used in the prompt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Hard for a new contributor to safely change either value</a:t>
            </a:r>
            <a:endParaRPr b="0" i="0" sz="1100" u="none" cap="none" strike="noStrike">
              <a:solidFill>
                <a:schemeClr val="dk1"/>
              </a:solidFill>
              <a:latin typeface="Calibri"/>
              <a:ea typeface="Calibri"/>
              <a:cs typeface="Calibri"/>
              <a:sym typeface="Calibri"/>
            </a:endParaRPr>
          </a:p>
        </p:txBody>
      </p:sp>
      <p:sp>
        <p:nvSpPr>
          <p:cNvPr id="641" name="Google Shape;641;p16"/>
          <p:cNvSpPr/>
          <p:nvPr/>
        </p:nvSpPr>
        <p:spPr>
          <a:xfrm>
            <a:off x="6199632" y="1965960"/>
            <a:ext cx="5440680" cy="4206240"/>
          </a:xfrm>
          <a:prstGeom prst="roundRect">
            <a:avLst>
              <a:gd fmla="val 1739" name="adj"/>
            </a:avLst>
          </a:prstGeom>
          <a:solidFill>
            <a:srgbClr val="E1F5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a:off x="6428232" y="210312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9F45"/>
              </a:buClr>
              <a:buSzPts val="1200"/>
              <a:buFont typeface="Calibri"/>
              <a:buNone/>
            </a:pPr>
            <a:r>
              <a:rPr b="1" i="0" lang="en-US" sz="1200" u="none" cap="none" strike="noStrike">
                <a:solidFill>
                  <a:srgbClr val="2C9F45"/>
                </a:solidFill>
                <a:latin typeface="Calibri"/>
                <a:ea typeface="Calibri"/>
                <a:cs typeface="Calibri"/>
                <a:sym typeface="Calibri"/>
              </a:rPr>
              <a:t>AFTER</a:t>
            </a:r>
            <a:endParaRPr b="0" i="0" sz="1200" u="none" cap="none" strike="noStrike">
              <a:solidFill>
                <a:schemeClr val="dk1"/>
              </a:solidFill>
              <a:latin typeface="Calibri"/>
              <a:ea typeface="Calibri"/>
              <a:cs typeface="Calibri"/>
              <a:sym typeface="Calibri"/>
            </a:endParaRPr>
          </a:p>
        </p:txBody>
      </p:sp>
      <p:sp>
        <p:nvSpPr>
          <p:cNvPr id="643" name="Google Shape;643;p16"/>
          <p:cNvSpPr/>
          <p:nvPr/>
        </p:nvSpPr>
        <p:spPr>
          <a:xfrm>
            <a:off x="6428232" y="2514600"/>
            <a:ext cx="502920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Configuration constants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MEMORY_WINDOW_SIZE = 7</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number of past exchanges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kept AND used in the prompt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(aligned - no unexplained gap)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RETRIEVAL_TOP_K = 3</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ChromaDB results per query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for msg in history[-MEMORY_WINDOW_SIZE:]: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if len(history) &gt; MEMORY_WINDOW_SIZE: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ourier New"/>
              <a:buNone/>
            </a:pPr>
            <a:r>
              <a:rPr b="0" i="0" lang="en-US" sz="1100" u="none" cap="none" strike="noStrike">
                <a:solidFill>
                  <a:srgbClr val="1E2761"/>
                </a:solidFill>
                <a:latin typeface="Courier New"/>
                <a:ea typeface="Courier New"/>
                <a:cs typeface="Courier New"/>
                <a:sym typeface="Courier New"/>
              </a:rPr>
              <a:t>    history = history[-MEMORY_WINDOW_SIZE:]</a:t>
            </a:r>
            <a:endParaRPr b="0" i="0" sz="1100" u="none" cap="none" strike="noStrike">
              <a:solidFill>
                <a:schemeClr val="dk1"/>
              </a:solidFill>
              <a:latin typeface="Calibri"/>
              <a:ea typeface="Calibri"/>
              <a:cs typeface="Calibri"/>
              <a:sym typeface="Calibri"/>
            </a:endParaRPr>
          </a:p>
        </p:txBody>
      </p:sp>
      <p:sp>
        <p:nvSpPr>
          <p:cNvPr id="644" name="Google Shape;644;p16"/>
          <p:cNvSpPr/>
          <p:nvPr/>
        </p:nvSpPr>
        <p:spPr>
          <a:xfrm>
            <a:off x="6428232" y="4892040"/>
            <a:ext cx="50292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9F45"/>
              </a:buClr>
              <a:buSzPts val="1100"/>
              <a:buFont typeface="Calibri"/>
              <a:buNone/>
            </a:pPr>
            <a:r>
              <a:rPr b="1" i="0" lang="en-US" sz="1100" u="none" cap="none" strike="noStrike">
                <a:solidFill>
                  <a:srgbClr val="2C9F45"/>
                </a:solidFill>
                <a:latin typeface="Calibri"/>
                <a:ea typeface="Calibri"/>
                <a:cs typeface="Calibri"/>
                <a:sym typeface="Calibri"/>
              </a:rPr>
              <a:t>Result: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One named constant, single source of truth, self-documenting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Stored window = used window - no unexplained discrepancy</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Documented as a known limitation with a Redis/Prisma production path in code comments</a:t>
            </a:r>
            <a:endParaRPr b="0" i="0" sz="1100" u="none" cap="none" strike="noStrike">
              <a:solidFill>
                <a:schemeClr val="dk1"/>
              </a:solidFill>
              <a:latin typeface="Calibri"/>
              <a:ea typeface="Calibri"/>
              <a:cs typeface="Calibri"/>
              <a:sym typeface="Calibri"/>
            </a:endParaRPr>
          </a:p>
        </p:txBody>
      </p:sp>
      <p:pic>
        <p:nvPicPr>
          <p:cNvPr descr="/home/claude/slides/logo.png" id="645" name="Google Shape;645;p16"/>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650" name="Shape 650"/>
        <p:cNvGrpSpPr/>
        <p:nvPr/>
      </p:nvGrpSpPr>
      <p:grpSpPr>
        <a:xfrm>
          <a:off x="0" y="0"/>
          <a:ext cx="0" cy="0"/>
          <a:chOff x="0" y="0"/>
          <a:chExt cx="0" cy="0"/>
        </a:xfrm>
      </p:grpSpPr>
      <p:sp>
        <p:nvSpPr>
          <p:cNvPr id="651" name="Google Shape;651;p17"/>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652" name="Google Shape;652;p17"/>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653" name="Google Shape;653;p17"/>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654" name="Google Shape;654;p17"/>
          <p:cNvSpPr/>
          <p:nvPr/>
        </p:nvSpPr>
        <p:spPr>
          <a:xfrm>
            <a:off x="9052560" y="1188720"/>
            <a:ext cx="3931920" cy="393192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7"/>
          <p:cNvSpPr/>
          <p:nvPr/>
        </p:nvSpPr>
        <p:spPr>
          <a:xfrm>
            <a:off x="9692640" y="1828800"/>
            <a:ext cx="2651760" cy="265176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10607040" y="2697480"/>
            <a:ext cx="914400" cy="9144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lask_white.png" id="657" name="Google Shape;657;p17"/>
          <p:cNvPicPr preferRelativeResize="0"/>
          <p:nvPr/>
        </p:nvPicPr>
        <p:blipFill rotWithShape="1">
          <a:blip r:embed="rId3">
            <a:alphaModFix/>
          </a:blip>
          <a:srcRect b="0" l="0" r="0" t="0"/>
          <a:stretch/>
        </p:blipFill>
        <p:spPr>
          <a:xfrm>
            <a:off x="10812780" y="2903220"/>
            <a:ext cx="502920" cy="502920"/>
          </a:xfrm>
          <a:prstGeom prst="rect">
            <a:avLst/>
          </a:prstGeom>
          <a:noFill/>
          <a:ln>
            <a:noFill/>
          </a:ln>
        </p:spPr>
      </p:pic>
      <p:sp>
        <p:nvSpPr>
          <p:cNvPr id="658" name="Google Shape;658;p17"/>
          <p:cNvSpPr/>
          <p:nvPr/>
        </p:nvSpPr>
        <p:spPr>
          <a:xfrm>
            <a:off x="548640" y="1280160"/>
            <a:ext cx="36576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58C"/>
              </a:buClr>
              <a:buSzPts val="11000"/>
              <a:buFont typeface="Cambria"/>
              <a:buNone/>
            </a:pPr>
            <a:r>
              <a:rPr b="1" i="0" lang="en-US" sz="11000" u="none" cap="none" strike="noStrike">
                <a:solidFill>
                  <a:srgbClr val="37458C"/>
                </a:solidFill>
                <a:latin typeface="Cambria"/>
                <a:ea typeface="Cambria"/>
                <a:cs typeface="Cambria"/>
                <a:sym typeface="Cambria"/>
              </a:rPr>
              <a:t>04</a:t>
            </a:r>
            <a:endParaRPr b="0" i="0" sz="11000" u="none" cap="none" strike="noStrike">
              <a:solidFill>
                <a:schemeClr val="dk1"/>
              </a:solidFill>
              <a:latin typeface="Calibri"/>
              <a:ea typeface="Calibri"/>
              <a:cs typeface="Calibri"/>
              <a:sym typeface="Calibri"/>
            </a:endParaRPr>
          </a:p>
        </p:txBody>
      </p:sp>
      <p:sp>
        <p:nvSpPr>
          <p:cNvPr id="659" name="Google Shape;659;p17"/>
          <p:cNvSpPr/>
          <p:nvPr/>
        </p:nvSpPr>
        <p:spPr>
          <a:xfrm>
            <a:off x="594360" y="30175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Testing</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A800"/>
              </a:buClr>
              <a:buSzPts val="4800"/>
              <a:buFont typeface="Cambria"/>
              <a:buNone/>
            </a:pPr>
            <a:r>
              <a:rPr b="1" i="0" lang="en-US" sz="4800" u="none" cap="none" strike="noStrike">
                <a:solidFill>
                  <a:srgbClr val="F4A800"/>
                </a:solidFill>
                <a:latin typeface="Cambria"/>
                <a:ea typeface="Cambria"/>
                <a:cs typeface="Cambria"/>
                <a:sym typeface="Cambria"/>
              </a:rPr>
              <a:t>&amp; Quality Assurance</a:t>
            </a:r>
            <a:endParaRPr b="0" i="0" sz="4800" u="none" cap="none" strike="noStrike">
              <a:solidFill>
                <a:schemeClr val="dk1"/>
              </a:solidFill>
              <a:latin typeface="Calibri"/>
              <a:ea typeface="Calibri"/>
              <a:cs typeface="Calibri"/>
              <a:sym typeface="Calibri"/>
            </a:endParaRPr>
          </a:p>
        </p:txBody>
      </p:sp>
      <p:sp>
        <p:nvSpPr>
          <p:cNvPr id="660" name="Google Shape;660;p17"/>
          <p:cNvSpPr/>
          <p:nvPr/>
        </p:nvSpPr>
        <p:spPr>
          <a:xfrm>
            <a:off x="612648" y="443484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Test types, coverage metrics, pass rates, and our CI/CD pipeline.</a:t>
            </a:r>
            <a:endParaRPr b="0" i="0" sz="1600" u="none" cap="none" strike="noStrike">
              <a:solidFill>
                <a:schemeClr val="dk1"/>
              </a:solidFill>
              <a:latin typeface="Calibri"/>
              <a:ea typeface="Calibri"/>
              <a:cs typeface="Calibri"/>
              <a:sym typeface="Calibri"/>
            </a:endParaRPr>
          </a:p>
        </p:txBody>
      </p:sp>
      <p:pic>
        <p:nvPicPr>
          <p:cNvPr descr="/home/claude/slides/logo_light.png" id="661" name="Google Shape;661;p17"/>
          <p:cNvPicPr preferRelativeResize="0"/>
          <p:nvPr/>
        </p:nvPicPr>
        <p:blipFill rotWithShape="1">
          <a:blip r:embed="rId4">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6" name="Shape 666"/>
        <p:cNvGrpSpPr/>
        <p:nvPr/>
      </p:nvGrpSpPr>
      <p:grpSpPr>
        <a:xfrm>
          <a:off x="0" y="0"/>
          <a:ext cx="0" cy="0"/>
          <a:chOff x="0" y="0"/>
          <a:chExt cx="0" cy="0"/>
        </a:xfrm>
      </p:grpSpPr>
      <p:sp>
        <p:nvSpPr>
          <p:cNvPr id="667" name="Google Shape;667;p18"/>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TESTING &amp; QA</a:t>
            </a:r>
            <a:endParaRPr b="0" i="0" sz="1200" u="none" cap="none" strike="noStrike">
              <a:solidFill>
                <a:schemeClr val="dk1"/>
              </a:solidFill>
              <a:latin typeface="Calibri"/>
              <a:ea typeface="Calibri"/>
              <a:cs typeface="Calibri"/>
              <a:sym typeface="Calibri"/>
            </a:endParaRPr>
          </a:p>
        </p:txBody>
      </p:sp>
      <p:sp>
        <p:nvSpPr>
          <p:cNvPr id="668" name="Google Shape;668;p18"/>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Testing Strategy &amp; Coverage</a:t>
            </a:r>
            <a:endParaRPr b="0" i="0" sz="3200" u="none" cap="none" strike="noStrike">
              <a:solidFill>
                <a:schemeClr val="dk1"/>
              </a:solidFill>
              <a:latin typeface="Calibri"/>
              <a:ea typeface="Calibri"/>
              <a:cs typeface="Calibri"/>
              <a:sym typeface="Calibri"/>
            </a:endParaRPr>
          </a:p>
        </p:txBody>
      </p:sp>
      <p:sp>
        <p:nvSpPr>
          <p:cNvPr id="669" name="Google Shape;669;p18"/>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670" name="Google Shape;670;p18"/>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671" name="Google Shape;671;p18"/>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
        <p:nvSpPr>
          <p:cNvPr id="672" name="Google Shape;672;p18"/>
          <p:cNvSpPr/>
          <p:nvPr/>
        </p:nvSpPr>
        <p:spPr>
          <a:xfrm>
            <a:off x="548640" y="1417320"/>
            <a:ext cx="2697480" cy="1234440"/>
          </a:xfrm>
          <a:prstGeom prst="roundRect">
            <a:avLst>
              <a:gd fmla="val 5926"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8"/>
          <p:cNvSpPr/>
          <p:nvPr/>
        </p:nvSpPr>
        <p:spPr>
          <a:xfrm>
            <a:off x="713232" y="155448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navy.png" id="674" name="Google Shape;674;p18"/>
          <p:cNvPicPr preferRelativeResize="0"/>
          <p:nvPr/>
        </p:nvPicPr>
        <p:blipFill rotWithShape="1">
          <a:blip r:embed="rId3">
            <a:alphaModFix/>
          </a:blip>
          <a:srcRect b="0" l="0" r="0" t="0"/>
          <a:stretch/>
        </p:blipFill>
        <p:spPr>
          <a:xfrm>
            <a:off x="826389" y="1667637"/>
            <a:ext cx="276606" cy="276606"/>
          </a:xfrm>
          <a:prstGeom prst="rect">
            <a:avLst/>
          </a:prstGeom>
          <a:noFill/>
          <a:ln>
            <a:noFill/>
          </a:ln>
        </p:spPr>
      </p:pic>
      <p:sp>
        <p:nvSpPr>
          <p:cNvPr id="675" name="Google Shape;675;p18"/>
          <p:cNvSpPr/>
          <p:nvPr/>
        </p:nvSpPr>
        <p:spPr>
          <a:xfrm>
            <a:off x="1325880" y="1463040"/>
            <a:ext cx="1783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lang="en-US" sz="2600">
                <a:solidFill>
                  <a:srgbClr val="1E2761"/>
                </a:solidFill>
                <a:latin typeface="Cambria"/>
                <a:ea typeface="Cambria"/>
                <a:cs typeface="Cambria"/>
                <a:sym typeface="Cambria"/>
              </a:rPr>
              <a:t>351</a:t>
            </a:r>
            <a:endParaRPr b="0" i="0" sz="2600" u="none" cap="none" strike="noStrike">
              <a:solidFill>
                <a:schemeClr val="dk1"/>
              </a:solidFill>
              <a:latin typeface="Calibri"/>
              <a:ea typeface="Calibri"/>
              <a:cs typeface="Calibri"/>
              <a:sym typeface="Calibri"/>
            </a:endParaRPr>
          </a:p>
        </p:txBody>
      </p:sp>
      <p:sp>
        <p:nvSpPr>
          <p:cNvPr id="676" name="Google Shape;676;p18"/>
          <p:cNvSpPr/>
          <p:nvPr/>
        </p:nvSpPr>
        <p:spPr>
          <a:xfrm>
            <a:off x="713232" y="210312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Total automated tests</a:t>
            </a:r>
            <a:endParaRPr b="0" i="0" sz="1000" u="none" cap="none" strike="noStrike">
              <a:solidFill>
                <a:schemeClr val="dk1"/>
              </a:solidFill>
              <a:latin typeface="Calibri"/>
              <a:ea typeface="Calibri"/>
              <a:cs typeface="Calibri"/>
              <a:sym typeface="Calibri"/>
            </a:endParaRPr>
          </a:p>
        </p:txBody>
      </p:sp>
      <p:sp>
        <p:nvSpPr>
          <p:cNvPr id="677" name="Google Shape;677;p18"/>
          <p:cNvSpPr/>
          <p:nvPr/>
        </p:nvSpPr>
        <p:spPr>
          <a:xfrm>
            <a:off x="3410712" y="1417320"/>
            <a:ext cx="2697480" cy="1234440"/>
          </a:xfrm>
          <a:prstGeom prst="roundRect">
            <a:avLst>
              <a:gd fmla="val 5926"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8"/>
          <p:cNvSpPr/>
          <p:nvPr/>
        </p:nvSpPr>
        <p:spPr>
          <a:xfrm>
            <a:off x="3575304" y="155448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_green.png" id="679" name="Google Shape;679;p18"/>
          <p:cNvPicPr preferRelativeResize="0"/>
          <p:nvPr/>
        </p:nvPicPr>
        <p:blipFill rotWithShape="1">
          <a:blip r:embed="rId4">
            <a:alphaModFix/>
          </a:blip>
          <a:srcRect b="0" l="0" r="0" t="0"/>
          <a:stretch/>
        </p:blipFill>
        <p:spPr>
          <a:xfrm>
            <a:off x="3688461" y="1667637"/>
            <a:ext cx="276606" cy="276606"/>
          </a:xfrm>
          <a:prstGeom prst="rect">
            <a:avLst/>
          </a:prstGeom>
          <a:noFill/>
          <a:ln>
            <a:noFill/>
          </a:ln>
        </p:spPr>
      </p:pic>
      <p:sp>
        <p:nvSpPr>
          <p:cNvPr id="680" name="Google Shape;680;p18"/>
          <p:cNvSpPr/>
          <p:nvPr/>
        </p:nvSpPr>
        <p:spPr>
          <a:xfrm>
            <a:off x="4187952" y="1463040"/>
            <a:ext cx="1783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100%</a:t>
            </a:r>
            <a:endParaRPr b="0" i="0" sz="2600" u="none" cap="none" strike="noStrike">
              <a:solidFill>
                <a:schemeClr val="dk1"/>
              </a:solidFill>
              <a:latin typeface="Calibri"/>
              <a:ea typeface="Calibri"/>
              <a:cs typeface="Calibri"/>
              <a:sym typeface="Calibri"/>
            </a:endParaRPr>
          </a:p>
        </p:txBody>
      </p:sp>
      <p:sp>
        <p:nvSpPr>
          <p:cNvPr id="681" name="Google Shape;681;p18"/>
          <p:cNvSpPr/>
          <p:nvPr/>
        </p:nvSpPr>
        <p:spPr>
          <a:xfrm>
            <a:off x="3575304" y="210312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Server test pass rate (258/258)</a:t>
            </a:r>
            <a:endParaRPr b="0" i="0" sz="1000" u="none" cap="none" strike="noStrike">
              <a:solidFill>
                <a:schemeClr val="dk1"/>
              </a:solidFill>
              <a:latin typeface="Calibri"/>
              <a:ea typeface="Calibri"/>
              <a:cs typeface="Calibri"/>
              <a:sym typeface="Calibri"/>
            </a:endParaRPr>
          </a:p>
        </p:txBody>
      </p:sp>
      <p:sp>
        <p:nvSpPr>
          <p:cNvPr id="682" name="Google Shape;682;p18"/>
          <p:cNvSpPr/>
          <p:nvPr/>
        </p:nvSpPr>
        <p:spPr>
          <a:xfrm>
            <a:off x="6272784" y="1417320"/>
            <a:ext cx="2697480" cy="1234440"/>
          </a:xfrm>
          <a:prstGeom prst="roundRect">
            <a:avLst>
              <a:gd fmla="val 5926"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8"/>
          <p:cNvSpPr/>
          <p:nvPr/>
        </p:nvSpPr>
        <p:spPr>
          <a:xfrm>
            <a:off x="6437376" y="155448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artline_navy.png" id="684" name="Google Shape;684;p18"/>
          <p:cNvPicPr preferRelativeResize="0"/>
          <p:nvPr/>
        </p:nvPicPr>
        <p:blipFill rotWithShape="1">
          <a:blip r:embed="rId5">
            <a:alphaModFix/>
          </a:blip>
          <a:srcRect b="0" l="0" r="0" t="0"/>
          <a:stretch/>
        </p:blipFill>
        <p:spPr>
          <a:xfrm>
            <a:off x="6550533" y="1667637"/>
            <a:ext cx="276606" cy="276606"/>
          </a:xfrm>
          <a:prstGeom prst="rect">
            <a:avLst/>
          </a:prstGeom>
          <a:noFill/>
          <a:ln>
            <a:noFill/>
          </a:ln>
        </p:spPr>
      </p:pic>
      <p:sp>
        <p:nvSpPr>
          <p:cNvPr id="685" name="Google Shape;685;p18"/>
          <p:cNvSpPr/>
          <p:nvPr/>
        </p:nvSpPr>
        <p:spPr>
          <a:xfrm>
            <a:off x="7050024" y="1463040"/>
            <a:ext cx="1783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8</a:t>
            </a:r>
            <a:r>
              <a:rPr b="1" lang="en-US" sz="2600">
                <a:solidFill>
                  <a:srgbClr val="1E2761"/>
                </a:solidFill>
                <a:latin typeface="Cambria"/>
                <a:ea typeface="Cambria"/>
                <a:cs typeface="Cambria"/>
                <a:sym typeface="Cambria"/>
              </a:rPr>
              <a:t>3.7</a:t>
            </a:r>
            <a:r>
              <a:rPr b="1" i="0" lang="en-US" sz="2600" u="none" cap="none" strike="noStrike">
                <a:solidFill>
                  <a:srgbClr val="1E2761"/>
                </a:solidFill>
                <a:latin typeface="Cambria"/>
                <a:ea typeface="Cambria"/>
                <a:cs typeface="Cambria"/>
                <a:sym typeface="Cambria"/>
              </a:rPr>
              <a:t>%</a:t>
            </a:r>
            <a:endParaRPr b="0" i="0" sz="2600" u="none" cap="none" strike="noStrike">
              <a:solidFill>
                <a:schemeClr val="dk1"/>
              </a:solidFill>
              <a:latin typeface="Calibri"/>
              <a:ea typeface="Calibri"/>
              <a:cs typeface="Calibri"/>
              <a:sym typeface="Calibri"/>
            </a:endParaRPr>
          </a:p>
        </p:txBody>
      </p:sp>
      <p:sp>
        <p:nvSpPr>
          <p:cNvPr id="686" name="Google Shape;686;p18"/>
          <p:cNvSpPr/>
          <p:nvPr/>
        </p:nvSpPr>
        <p:spPr>
          <a:xfrm>
            <a:off x="6437376" y="210312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Server statement coverage</a:t>
            </a:r>
            <a:endParaRPr b="0" i="0" sz="1000" u="none" cap="none" strike="noStrike">
              <a:solidFill>
                <a:schemeClr val="dk1"/>
              </a:solidFill>
              <a:latin typeface="Calibri"/>
              <a:ea typeface="Calibri"/>
              <a:cs typeface="Calibri"/>
              <a:sym typeface="Calibri"/>
            </a:endParaRPr>
          </a:p>
        </p:txBody>
      </p:sp>
      <p:sp>
        <p:nvSpPr>
          <p:cNvPr id="687" name="Google Shape;687;p18"/>
          <p:cNvSpPr/>
          <p:nvPr/>
        </p:nvSpPr>
        <p:spPr>
          <a:xfrm>
            <a:off x="9134856" y="1417320"/>
            <a:ext cx="2697480" cy="1234440"/>
          </a:xfrm>
          <a:prstGeom prst="roundRect">
            <a:avLst>
              <a:gd fmla="val 5926"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8"/>
          <p:cNvSpPr/>
          <p:nvPr/>
        </p:nvSpPr>
        <p:spPr>
          <a:xfrm>
            <a:off x="9299448" y="155448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artline_navy.png" id="689" name="Google Shape;689;p18"/>
          <p:cNvPicPr preferRelativeResize="0"/>
          <p:nvPr/>
        </p:nvPicPr>
        <p:blipFill rotWithShape="1">
          <a:blip r:embed="rId5">
            <a:alphaModFix/>
          </a:blip>
          <a:srcRect b="0" l="0" r="0" t="0"/>
          <a:stretch/>
        </p:blipFill>
        <p:spPr>
          <a:xfrm>
            <a:off x="9412605" y="1667637"/>
            <a:ext cx="276606" cy="276606"/>
          </a:xfrm>
          <a:prstGeom prst="rect">
            <a:avLst/>
          </a:prstGeom>
          <a:noFill/>
          <a:ln>
            <a:noFill/>
          </a:ln>
        </p:spPr>
      </p:pic>
      <p:sp>
        <p:nvSpPr>
          <p:cNvPr id="690" name="Google Shape;690;p18"/>
          <p:cNvSpPr/>
          <p:nvPr/>
        </p:nvSpPr>
        <p:spPr>
          <a:xfrm>
            <a:off x="9912096" y="1463040"/>
            <a:ext cx="1783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7</a:t>
            </a:r>
            <a:r>
              <a:rPr b="1" lang="en-US" sz="2600">
                <a:solidFill>
                  <a:srgbClr val="1E2761"/>
                </a:solidFill>
                <a:latin typeface="Cambria"/>
                <a:ea typeface="Cambria"/>
                <a:cs typeface="Cambria"/>
                <a:sym typeface="Cambria"/>
              </a:rPr>
              <a:t>9.2</a:t>
            </a:r>
            <a:r>
              <a:rPr b="1" i="0" lang="en-US" sz="2600" u="none" cap="none" strike="noStrike">
                <a:solidFill>
                  <a:srgbClr val="1E2761"/>
                </a:solidFill>
                <a:latin typeface="Cambria"/>
                <a:ea typeface="Cambria"/>
                <a:cs typeface="Cambria"/>
                <a:sym typeface="Cambria"/>
              </a:rPr>
              <a:t>%</a:t>
            </a:r>
            <a:endParaRPr b="0" i="0" sz="2600" u="none" cap="none" strike="noStrike">
              <a:solidFill>
                <a:schemeClr val="dk1"/>
              </a:solidFill>
              <a:latin typeface="Calibri"/>
              <a:ea typeface="Calibri"/>
              <a:cs typeface="Calibri"/>
              <a:sym typeface="Calibri"/>
            </a:endParaRPr>
          </a:p>
        </p:txBody>
      </p:sp>
      <p:sp>
        <p:nvSpPr>
          <p:cNvPr id="691" name="Google Shape;691;p18"/>
          <p:cNvSpPr/>
          <p:nvPr/>
        </p:nvSpPr>
        <p:spPr>
          <a:xfrm>
            <a:off x="9299448" y="210312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Client statement </a:t>
            </a:r>
            <a:r>
              <a:rPr b="0" i="0" lang="en-US" sz="1000" u="none" cap="none" strike="noStrike">
                <a:solidFill>
                  <a:srgbClr val="5B6B8C"/>
                </a:solidFill>
                <a:latin typeface="Calibri"/>
                <a:ea typeface="Calibri"/>
                <a:cs typeface="Calibri"/>
                <a:sym typeface="Calibri"/>
              </a:rPr>
              <a:t> coverage</a:t>
            </a:r>
            <a:endParaRPr b="0" i="0" sz="1000" u="none" cap="none" strike="noStrike">
              <a:solidFill>
                <a:schemeClr val="dk1"/>
              </a:solidFill>
              <a:latin typeface="Calibri"/>
              <a:ea typeface="Calibri"/>
              <a:cs typeface="Calibri"/>
              <a:sym typeface="Calibri"/>
            </a:endParaRPr>
          </a:p>
        </p:txBody>
      </p:sp>
      <p:sp>
        <p:nvSpPr>
          <p:cNvPr id="692" name="Google Shape;692;p18"/>
          <p:cNvSpPr/>
          <p:nvPr/>
        </p:nvSpPr>
        <p:spPr>
          <a:xfrm>
            <a:off x="548640" y="28803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Testing Types &amp; Levels</a:t>
            </a:r>
            <a:endParaRPr b="0" i="0" sz="1600" u="none" cap="none" strike="noStrike">
              <a:solidFill>
                <a:schemeClr val="dk1"/>
              </a:solidFill>
              <a:latin typeface="Calibri"/>
              <a:ea typeface="Calibri"/>
              <a:cs typeface="Calibri"/>
              <a:sym typeface="Calibri"/>
            </a:endParaRPr>
          </a:p>
        </p:txBody>
      </p:sp>
      <p:sp>
        <p:nvSpPr>
          <p:cNvPr id="693" name="Google Shape;693;p18"/>
          <p:cNvSpPr/>
          <p:nvPr/>
        </p:nvSpPr>
        <p:spPr>
          <a:xfrm>
            <a:off x="713232" y="338328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puzzle_navy.png" id="694" name="Google Shape;694;p18"/>
          <p:cNvPicPr preferRelativeResize="0"/>
          <p:nvPr/>
        </p:nvPicPr>
        <p:blipFill rotWithShape="1">
          <a:blip r:embed="rId6">
            <a:alphaModFix/>
          </a:blip>
          <a:srcRect b="0" l="0" r="0" t="0"/>
          <a:stretch/>
        </p:blipFill>
        <p:spPr>
          <a:xfrm>
            <a:off x="816102" y="3486150"/>
            <a:ext cx="251460" cy="251460"/>
          </a:xfrm>
          <a:prstGeom prst="rect">
            <a:avLst/>
          </a:prstGeom>
          <a:noFill/>
          <a:ln>
            <a:noFill/>
          </a:ln>
        </p:spPr>
      </p:pic>
      <p:sp>
        <p:nvSpPr>
          <p:cNvPr id="695" name="Google Shape;695;p18"/>
          <p:cNvSpPr/>
          <p:nvPr/>
        </p:nvSpPr>
        <p:spPr>
          <a:xfrm>
            <a:off x="1325880" y="3291840"/>
            <a:ext cx="4526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Unit Tests</a:t>
            </a:r>
            <a:endParaRPr b="0" i="0" sz="1250" u="none" cap="none" strike="noStrike">
              <a:solidFill>
                <a:schemeClr val="dk1"/>
              </a:solidFill>
              <a:latin typeface="Calibri"/>
              <a:ea typeface="Calibri"/>
              <a:cs typeface="Calibri"/>
              <a:sym typeface="Calibri"/>
            </a:endParaRPr>
          </a:p>
        </p:txBody>
      </p:sp>
      <p:sp>
        <p:nvSpPr>
          <p:cNvPr id="696" name="Google Shape;696;p18"/>
          <p:cNvSpPr/>
          <p:nvPr/>
        </p:nvSpPr>
        <p:spPr>
          <a:xfrm>
            <a:off x="1325880" y="3602736"/>
            <a:ext cx="4526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9</a:t>
            </a:r>
            <a:r>
              <a:rPr b="0" i="0" lang="en-US" sz="950" u="none" cap="none" strike="noStrike">
                <a:solidFill>
                  <a:srgbClr val="5B6B8C"/>
                </a:solidFill>
                <a:latin typeface="Calibri"/>
                <a:ea typeface="Calibri"/>
                <a:cs typeface="Calibri"/>
                <a:sym typeface="Calibri"/>
              </a:rPr>
              <a:t> of </a:t>
            </a:r>
            <a:r>
              <a:rPr lang="en-US" sz="950">
                <a:solidFill>
                  <a:srgbClr val="5B6B8C"/>
                </a:solidFill>
                <a:latin typeface="Calibri"/>
                <a:ea typeface="Calibri"/>
                <a:cs typeface="Calibri"/>
                <a:sym typeface="Calibri"/>
              </a:rPr>
              <a:t>21</a:t>
            </a:r>
            <a:r>
              <a:rPr b="0" i="0" lang="en-US" sz="950" u="none" cap="none" strike="noStrike">
                <a:solidFill>
                  <a:srgbClr val="5B6B8C"/>
                </a:solidFill>
                <a:latin typeface="Calibri"/>
                <a:ea typeface="Calibri"/>
                <a:cs typeface="Calibri"/>
                <a:sym typeface="Calibri"/>
              </a:rPr>
              <a:t> suites - isolated functions/components with mocked dependencies</a:t>
            </a:r>
            <a:endParaRPr b="0" i="0" sz="950" u="none" cap="none" strike="noStrike">
              <a:solidFill>
                <a:schemeClr val="dk1"/>
              </a:solidFill>
              <a:latin typeface="Calibri"/>
              <a:ea typeface="Calibri"/>
              <a:cs typeface="Calibri"/>
              <a:sym typeface="Calibri"/>
            </a:endParaRPr>
          </a:p>
        </p:txBody>
      </p:sp>
      <p:sp>
        <p:nvSpPr>
          <p:cNvPr id="697" name="Google Shape;697;p18"/>
          <p:cNvSpPr/>
          <p:nvPr/>
        </p:nvSpPr>
        <p:spPr>
          <a:xfrm>
            <a:off x="6199632" y="338328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layers_navy.png" id="698" name="Google Shape;698;p18"/>
          <p:cNvPicPr preferRelativeResize="0"/>
          <p:nvPr/>
        </p:nvPicPr>
        <p:blipFill rotWithShape="1">
          <a:blip r:embed="rId7">
            <a:alphaModFix/>
          </a:blip>
          <a:srcRect b="0" l="0" r="0" t="0"/>
          <a:stretch/>
        </p:blipFill>
        <p:spPr>
          <a:xfrm>
            <a:off x="6302502" y="3486150"/>
            <a:ext cx="251460" cy="251460"/>
          </a:xfrm>
          <a:prstGeom prst="rect">
            <a:avLst/>
          </a:prstGeom>
          <a:noFill/>
          <a:ln>
            <a:noFill/>
          </a:ln>
        </p:spPr>
      </p:pic>
      <p:sp>
        <p:nvSpPr>
          <p:cNvPr id="699" name="Google Shape;699;p18"/>
          <p:cNvSpPr/>
          <p:nvPr/>
        </p:nvSpPr>
        <p:spPr>
          <a:xfrm>
            <a:off x="6812280" y="3291840"/>
            <a:ext cx="4526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Integration Tests</a:t>
            </a:r>
            <a:endParaRPr b="0" i="0" sz="1250" u="none" cap="none" strike="noStrike">
              <a:solidFill>
                <a:schemeClr val="dk1"/>
              </a:solidFill>
              <a:latin typeface="Calibri"/>
              <a:ea typeface="Calibri"/>
              <a:cs typeface="Calibri"/>
              <a:sym typeface="Calibri"/>
            </a:endParaRPr>
          </a:p>
        </p:txBody>
      </p:sp>
      <p:sp>
        <p:nvSpPr>
          <p:cNvPr id="700" name="Google Shape;700;p18"/>
          <p:cNvSpPr/>
          <p:nvPr/>
        </p:nvSpPr>
        <p:spPr>
          <a:xfrm>
            <a:off x="6812280" y="3602736"/>
            <a:ext cx="4526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13 </a:t>
            </a:r>
            <a:r>
              <a:rPr b="0" i="0" lang="en-US" sz="950" u="none" cap="none" strike="noStrike">
                <a:solidFill>
                  <a:srgbClr val="5B6B8C"/>
                </a:solidFill>
                <a:latin typeface="Calibri"/>
                <a:ea typeface="Calibri"/>
                <a:cs typeface="Calibri"/>
                <a:sym typeface="Calibri"/>
              </a:rPr>
              <a:t>of </a:t>
            </a:r>
            <a:r>
              <a:rPr lang="en-US" sz="950">
                <a:solidFill>
                  <a:srgbClr val="5B6B8C"/>
                </a:solidFill>
                <a:latin typeface="Calibri"/>
                <a:ea typeface="Calibri"/>
                <a:cs typeface="Calibri"/>
                <a:sym typeface="Calibri"/>
              </a:rPr>
              <a:t>21</a:t>
            </a:r>
            <a:r>
              <a:rPr b="0" i="0" lang="en-US" sz="950" u="none" cap="none" strike="noStrike">
                <a:solidFill>
                  <a:srgbClr val="5B6B8C"/>
                </a:solidFill>
                <a:latin typeface="Calibri"/>
                <a:ea typeface="Calibri"/>
                <a:cs typeface="Calibri"/>
                <a:sym typeface="Calibri"/>
              </a:rPr>
              <a:t> suites - routes + DB/Firebase/AI mocks exercised together (Jest+Supertest, pytest)</a:t>
            </a:r>
            <a:endParaRPr b="0" i="0" sz="950" u="none" cap="none" strike="noStrike">
              <a:solidFill>
                <a:schemeClr val="dk1"/>
              </a:solidFill>
              <a:latin typeface="Calibri"/>
              <a:ea typeface="Calibri"/>
              <a:cs typeface="Calibri"/>
              <a:sym typeface="Calibri"/>
            </a:endParaRPr>
          </a:p>
        </p:txBody>
      </p:sp>
      <p:sp>
        <p:nvSpPr>
          <p:cNvPr id="701" name="Google Shape;701;p18"/>
          <p:cNvSpPr/>
          <p:nvPr/>
        </p:nvSpPr>
        <p:spPr>
          <a:xfrm>
            <a:off x="713232" y="457200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eye_navy.png" id="702" name="Google Shape;702;p18"/>
          <p:cNvPicPr preferRelativeResize="0"/>
          <p:nvPr/>
        </p:nvPicPr>
        <p:blipFill rotWithShape="1">
          <a:blip r:embed="rId8">
            <a:alphaModFix/>
          </a:blip>
          <a:srcRect b="0" l="0" r="0" t="0"/>
          <a:stretch/>
        </p:blipFill>
        <p:spPr>
          <a:xfrm>
            <a:off x="816102" y="4674870"/>
            <a:ext cx="251460" cy="251460"/>
          </a:xfrm>
          <a:prstGeom prst="rect">
            <a:avLst/>
          </a:prstGeom>
          <a:noFill/>
          <a:ln>
            <a:noFill/>
          </a:ln>
        </p:spPr>
      </p:pic>
      <p:sp>
        <p:nvSpPr>
          <p:cNvPr id="703" name="Google Shape;703;p18"/>
          <p:cNvSpPr/>
          <p:nvPr/>
        </p:nvSpPr>
        <p:spPr>
          <a:xfrm>
            <a:off x="1325880" y="4480560"/>
            <a:ext cx="4526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Manual / Exploratory</a:t>
            </a:r>
            <a:endParaRPr b="0" i="0" sz="1250" u="none" cap="none" strike="noStrike">
              <a:solidFill>
                <a:schemeClr val="dk1"/>
              </a:solidFill>
              <a:latin typeface="Calibri"/>
              <a:ea typeface="Calibri"/>
              <a:cs typeface="Calibri"/>
              <a:sym typeface="Calibri"/>
            </a:endParaRPr>
          </a:p>
        </p:txBody>
      </p:sp>
      <p:sp>
        <p:nvSpPr>
          <p:cNvPr id="704" name="Google Shape;704;p18"/>
          <p:cNvSpPr/>
          <p:nvPr/>
        </p:nvSpPr>
        <p:spPr>
          <a:xfrm>
            <a:off x="1325880" y="4791456"/>
            <a:ext cx="4526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Each member manually tests own features against acceptance criteria each sprint</a:t>
            </a:r>
            <a:endParaRPr b="0" i="0" sz="950" u="none" cap="none" strike="noStrike">
              <a:solidFill>
                <a:schemeClr val="dk1"/>
              </a:solidFill>
              <a:latin typeface="Calibri"/>
              <a:ea typeface="Calibri"/>
              <a:cs typeface="Calibri"/>
              <a:sym typeface="Calibri"/>
            </a:endParaRPr>
          </a:p>
        </p:txBody>
      </p:sp>
      <p:sp>
        <p:nvSpPr>
          <p:cNvPr id="705" name="Google Shape;705;p18"/>
          <p:cNvSpPr/>
          <p:nvPr/>
        </p:nvSpPr>
        <p:spPr>
          <a:xfrm>
            <a:off x="6199632" y="457200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ute_navy.png" id="706" name="Google Shape;706;p18"/>
          <p:cNvPicPr preferRelativeResize="0"/>
          <p:nvPr/>
        </p:nvPicPr>
        <p:blipFill rotWithShape="1">
          <a:blip r:embed="rId9">
            <a:alphaModFix/>
          </a:blip>
          <a:srcRect b="0" l="0" r="0" t="0"/>
          <a:stretch/>
        </p:blipFill>
        <p:spPr>
          <a:xfrm>
            <a:off x="6302502" y="4674870"/>
            <a:ext cx="251460" cy="251460"/>
          </a:xfrm>
          <a:prstGeom prst="rect">
            <a:avLst/>
          </a:prstGeom>
          <a:noFill/>
          <a:ln>
            <a:noFill/>
          </a:ln>
        </p:spPr>
      </p:pic>
      <p:sp>
        <p:nvSpPr>
          <p:cNvPr id="707" name="Google Shape;707;p18"/>
          <p:cNvSpPr/>
          <p:nvPr/>
        </p:nvSpPr>
        <p:spPr>
          <a:xfrm>
            <a:off x="6812280" y="4480560"/>
            <a:ext cx="4526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End-to-End (Manual)</a:t>
            </a:r>
            <a:endParaRPr b="0" i="0" sz="1250" u="none" cap="none" strike="noStrike">
              <a:solidFill>
                <a:schemeClr val="dk1"/>
              </a:solidFill>
              <a:latin typeface="Calibri"/>
              <a:ea typeface="Calibri"/>
              <a:cs typeface="Calibri"/>
              <a:sym typeface="Calibri"/>
            </a:endParaRPr>
          </a:p>
        </p:txBody>
      </p:sp>
      <p:sp>
        <p:nvSpPr>
          <p:cNvPr id="708" name="Google Shape;708;p18"/>
          <p:cNvSpPr/>
          <p:nvPr/>
        </p:nvSpPr>
        <p:spPr>
          <a:xfrm>
            <a:off x="6812280" y="4791456"/>
            <a:ext cx="4526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Full user journeys walked manually before each iteration demo; Playwright/Cypress scoped for future automation</a:t>
            </a:r>
            <a:endParaRPr b="0" i="0" sz="950" u="none" cap="none" strike="noStrike">
              <a:solidFill>
                <a:schemeClr val="dk1"/>
              </a:solidFill>
              <a:latin typeface="Calibri"/>
              <a:ea typeface="Calibri"/>
              <a:cs typeface="Calibri"/>
              <a:sym typeface="Calibri"/>
            </a:endParaRPr>
          </a:p>
        </p:txBody>
      </p:sp>
      <p:sp>
        <p:nvSpPr>
          <p:cNvPr id="709" name="Google Shape;709;p18"/>
          <p:cNvSpPr/>
          <p:nvPr/>
        </p:nvSpPr>
        <p:spPr>
          <a:xfrm>
            <a:off x="548640" y="56235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mbria"/>
              <a:buNone/>
            </a:pPr>
            <a:r>
              <a:rPr b="1" i="0" lang="en-US" sz="1300" u="none" cap="none" strike="noStrike">
                <a:solidFill>
                  <a:srgbClr val="1E2761"/>
                </a:solidFill>
                <a:latin typeface="Cambria"/>
                <a:ea typeface="Cambria"/>
                <a:cs typeface="Cambria"/>
                <a:sym typeface="Cambria"/>
              </a:rPr>
              <a:t>Coverage Highlights by Area</a:t>
            </a:r>
            <a:endParaRPr b="0" i="0" sz="1300" u="none" cap="none" strike="noStrike">
              <a:solidFill>
                <a:schemeClr val="dk1"/>
              </a:solidFill>
              <a:latin typeface="Calibri"/>
              <a:ea typeface="Calibri"/>
              <a:cs typeface="Calibri"/>
              <a:sym typeface="Calibri"/>
            </a:endParaRPr>
          </a:p>
        </p:txBody>
      </p:sp>
      <p:sp>
        <p:nvSpPr>
          <p:cNvPr id="710" name="Google Shape;710;p18"/>
          <p:cNvSpPr/>
          <p:nvPr/>
        </p:nvSpPr>
        <p:spPr>
          <a:xfrm>
            <a:off x="548640" y="5897880"/>
            <a:ext cx="3611880" cy="685800"/>
          </a:xfrm>
          <a:prstGeom prst="roundRect">
            <a:avLst>
              <a:gd fmla="val 8000"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
          <p:cNvSpPr/>
          <p:nvPr/>
        </p:nvSpPr>
        <p:spPr>
          <a:xfrm>
            <a:off x="685800" y="5943600"/>
            <a:ext cx="33375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server/utils &amp; searchDB</a:t>
            </a:r>
            <a:endParaRPr b="0" i="0" sz="1100" u="none" cap="none" strike="noStrike">
              <a:solidFill>
                <a:schemeClr val="dk1"/>
              </a:solidFill>
              <a:latin typeface="Calibri"/>
              <a:ea typeface="Calibri"/>
              <a:cs typeface="Calibri"/>
              <a:sym typeface="Calibri"/>
            </a:endParaRPr>
          </a:p>
        </p:txBody>
      </p:sp>
      <p:sp>
        <p:nvSpPr>
          <p:cNvPr id="712" name="Google Shape;712;p18"/>
          <p:cNvSpPr/>
          <p:nvPr/>
        </p:nvSpPr>
        <p:spPr>
          <a:xfrm>
            <a:off x="685800" y="6181344"/>
            <a:ext cx="33375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mbria"/>
              <a:buNone/>
            </a:pPr>
            <a:r>
              <a:rPr b="1" i="0" lang="en-US" sz="1200" u="none" cap="none" strike="noStrike">
                <a:solidFill>
                  <a:srgbClr val="1E2761"/>
                </a:solidFill>
                <a:latin typeface="Cambria"/>
                <a:ea typeface="Cambria"/>
                <a:cs typeface="Cambria"/>
                <a:sym typeface="Cambria"/>
              </a:rPr>
              <a:t>100% / 95-100% / 100%</a:t>
            </a:r>
            <a:endParaRPr b="0" i="0" sz="1200" u="none" cap="none" strike="noStrike">
              <a:solidFill>
                <a:schemeClr val="dk1"/>
              </a:solidFill>
              <a:latin typeface="Calibri"/>
              <a:ea typeface="Calibri"/>
              <a:cs typeface="Calibri"/>
              <a:sym typeface="Calibri"/>
            </a:endParaRPr>
          </a:p>
        </p:txBody>
      </p:sp>
      <p:sp>
        <p:nvSpPr>
          <p:cNvPr id="713" name="Google Shape;713;p18"/>
          <p:cNvSpPr/>
          <p:nvPr/>
        </p:nvSpPr>
        <p:spPr>
          <a:xfrm>
            <a:off x="685800" y="6400800"/>
            <a:ext cx="3337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850"/>
              <a:buFont typeface="Calibri"/>
              <a:buNone/>
            </a:pPr>
            <a:r>
              <a:rPr b="0" i="0" lang="en-US" sz="850" u="none" cap="none" strike="noStrike">
                <a:solidFill>
                  <a:srgbClr val="5B6B8C"/>
                </a:solidFill>
                <a:latin typeface="Calibri"/>
                <a:ea typeface="Calibri"/>
                <a:cs typeface="Calibri"/>
                <a:sym typeface="Calibri"/>
              </a:rPr>
              <a:t>Stmts / Branch / Lines - calculators, validators, audit</a:t>
            </a:r>
            <a:endParaRPr b="0" i="0" sz="850" u="none" cap="none" strike="noStrike">
              <a:solidFill>
                <a:schemeClr val="dk1"/>
              </a:solidFill>
              <a:latin typeface="Calibri"/>
              <a:ea typeface="Calibri"/>
              <a:cs typeface="Calibri"/>
              <a:sym typeface="Calibri"/>
            </a:endParaRPr>
          </a:p>
        </p:txBody>
      </p:sp>
      <p:sp>
        <p:nvSpPr>
          <p:cNvPr id="714" name="Google Shape;714;p18"/>
          <p:cNvSpPr/>
          <p:nvPr/>
        </p:nvSpPr>
        <p:spPr>
          <a:xfrm>
            <a:off x="4279392" y="5897880"/>
            <a:ext cx="3611880" cy="685800"/>
          </a:xfrm>
          <a:prstGeom prst="roundRect">
            <a:avLst>
              <a:gd fmla="val 8000"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a:off x="4416552" y="5943600"/>
            <a:ext cx="33375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server/middleware/verifyAuth.js</a:t>
            </a:r>
            <a:endParaRPr b="0" i="0" sz="1100" u="none" cap="none" strike="noStrike">
              <a:solidFill>
                <a:schemeClr val="dk1"/>
              </a:solidFill>
              <a:latin typeface="Calibri"/>
              <a:ea typeface="Calibri"/>
              <a:cs typeface="Calibri"/>
              <a:sym typeface="Calibri"/>
            </a:endParaRPr>
          </a:p>
        </p:txBody>
      </p:sp>
      <p:sp>
        <p:nvSpPr>
          <p:cNvPr id="716" name="Google Shape;716;p18"/>
          <p:cNvSpPr/>
          <p:nvPr/>
        </p:nvSpPr>
        <p:spPr>
          <a:xfrm>
            <a:off x="4416552" y="6181344"/>
            <a:ext cx="33375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mbria"/>
              <a:buNone/>
            </a:pPr>
            <a:r>
              <a:rPr b="1" i="0" lang="en-US" sz="1200" u="none" cap="none" strike="noStrike">
                <a:solidFill>
                  <a:srgbClr val="1E2761"/>
                </a:solidFill>
                <a:latin typeface="Cambria"/>
                <a:ea typeface="Cambria"/>
                <a:cs typeface="Cambria"/>
                <a:sym typeface="Cambria"/>
              </a:rPr>
              <a:t>68% / 50% / 68%</a:t>
            </a:r>
            <a:endParaRPr b="0" i="0" sz="1200" u="none" cap="none" strike="noStrike">
              <a:solidFill>
                <a:schemeClr val="dk1"/>
              </a:solidFill>
              <a:latin typeface="Calibri"/>
              <a:ea typeface="Calibri"/>
              <a:cs typeface="Calibri"/>
              <a:sym typeface="Calibri"/>
            </a:endParaRPr>
          </a:p>
        </p:txBody>
      </p:sp>
      <p:sp>
        <p:nvSpPr>
          <p:cNvPr id="717" name="Google Shape;717;p18"/>
          <p:cNvSpPr/>
          <p:nvPr/>
        </p:nvSpPr>
        <p:spPr>
          <a:xfrm>
            <a:off x="4416552" y="6400800"/>
            <a:ext cx="3337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850"/>
              <a:buFont typeface="Calibri"/>
              <a:buNone/>
            </a:pPr>
            <a:r>
              <a:rPr b="0" i="0" lang="en-US" sz="850" u="none" cap="none" strike="noStrike">
                <a:solidFill>
                  <a:srgbClr val="5B6B8C"/>
                </a:solidFill>
                <a:latin typeface="Calibri"/>
                <a:ea typeface="Calibri"/>
                <a:cs typeface="Calibri"/>
                <a:sym typeface="Calibri"/>
              </a:rPr>
              <a:t>Auth middleware - hardening target for Iteration 3</a:t>
            </a:r>
            <a:endParaRPr b="0" i="0" sz="850" u="none" cap="none" strike="noStrike">
              <a:solidFill>
                <a:schemeClr val="dk1"/>
              </a:solidFill>
              <a:latin typeface="Calibri"/>
              <a:ea typeface="Calibri"/>
              <a:cs typeface="Calibri"/>
              <a:sym typeface="Calibri"/>
            </a:endParaRPr>
          </a:p>
        </p:txBody>
      </p:sp>
      <p:sp>
        <p:nvSpPr>
          <p:cNvPr id="718" name="Google Shape;718;p18"/>
          <p:cNvSpPr/>
          <p:nvPr/>
        </p:nvSpPr>
        <p:spPr>
          <a:xfrm>
            <a:off x="8010144" y="5897880"/>
            <a:ext cx="3611880" cy="685800"/>
          </a:xfrm>
          <a:prstGeom prst="roundRect">
            <a:avLst>
              <a:gd fmla="val 8000"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a:off x="8147304" y="5943600"/>
            <a:ext cx="33375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client/pages/PatientPortal.jsx</a:t>
            </a:r>
            <a:endParaRPr b="0" i="0" sz="1100" u="none" cap="none" strike="noStrike">
              <a:solidFill>
                <a:schemeClr val="dk1"/>
              </a:solidFill>
              <a:latin typeface="Calibri"/>
              <a:ea typeface="Calibri"/>
              <a:cs typeface="Calibri"/>
              <a:sym typeface="Calibri"/>
            </a:endParaRPr>
          </a:p>
        </p:txBody>
      </p:sp>
      <p:sp>
        <p:nvSpPr>
          <p:cNvPr id="720" name="Google Shape;720;p18"/>
          <p:cNvSpPr/>
          <p:nvPr/>
        </p:nvSpPr>
        <p:spPr>
          <a:xfrm>
            <a:off x="8147304" y="6181344"/>
            <a:ext cx="33375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mbria"/>
              <a:buNone/>
            </a:pPr>
            <a:r>
              <a:rPr b="1" i="0" lang="en-US" sz="1200" u="none" cap="none" strike="noStrike">
                <a:solidFill>
                  <a:srgbClr val="1E2761"/>
                </a:solidFill>
                <a:latin typeface="Cambria"/>
                <a:ea typeface="Cambria"/>
                <a:cs typeface="Cambria"/>
                <a:sym typeface="Cambria"/>
              </a:rPr>
              <a:t>88.1% / 80% / 91.9%</a:t>
            </a:r>
            <a:endParaRPr b="0" i="0" sz="1200" u="none" cap="none" strike="noStrike">
              <a:solidFill>
                <a:schemeClr val="dk1"/>
              </a:solidFill>
              <a:latin typeface="Calibri"/>
              <a:ea typeface="Calibri"/>
              <a:cs typeface="Calibri"/>
              <a:sym typeface="Calibri"/>
            </a:endParaRPr>
          </a:p>
        </p:txBody>
      </p:sp>
      <p:sp>
        <p:nvSpPr>
          <p:cNvPr id="721" name="Google Shape;721;p18"/>
          <p:cNvSpPr/>
          <p:nvPr/>
        </p:nvSpPr>
        <p:spPr>
          <a:xfrm>
            <a:off x="8147304" y="6400800"/>
            <a:ext cx="3337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850"/>
              <a:buFont typeface="Calibri"/>
              <a:buNone/>
            </a:pPr>
            <a:r>
              <a:rPr b="0" i="0" lang="en-US" sz="850" u="none" cap="none" strike="noStrike">
                <a:solidFill>
                  <a:srgbClr val="5B6B8C"/>
                </a:solidFill>
                <a:latin typeface="Calibri"/>
                <a:ea typeface="Calibri"/>
                <a:cs typeface="Calibri"/>
                <a:sym typeface="Calibri"/>
              </a:rPr>
              <a:t>Core patient-facing page, well covered</a:t>
            </a:r>
            <a:endParaRPr b="0" i="0" sz="850" u="none" cap="none" strike="noStrike">
              <a:solidFill>
                <a:schemeClr val="dk1"/>
              </a:solidFill>
              <a:latin typeface="Calibri"/>
              <a:ea typeface="Calibri"/>
              <a:cs typeface="Calibri"/>
              <a:sym typeface="Calibri"/>
            </a:endParaRPr>
          </a:p>
        </p:txBody>
      </p:sp>
      <p:pic>
        <p:nvPicPr>
          <p:cNvPr descr="/home/claude/slides/logo.png" id="722" name="Google Shape;722;p18"/>
          <p:cNvPicPr preferRelativeResize="0"/>
          <p:nvPr/>
        </p:nvPicPr>
        <p:blipFill rotWithShape="1">
          <a:blip r:embed="rId10">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sp>
        <p:nvSpPr>
          <p:cNvPr id="728" name="Google Shape;728;g3ec1cabf127_4_0"/>
          <p:cNvSpPr/>
          <p:nvPr/>
        </p:nvSpPr>
        <p:spPr>
          <a:xfrm>
            <a:off x="548640" y="292608"/>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TESTING &amp; QA</a:t>
            </a:r>
            <a:endParaRPr b="0" i="0" sz="1200" u="none" cap="none" strike="noStrike">
              <a:solidFill>
                <a:schemeClr val="dk1"/>
              </a:solidFill>
              <a:latin typeface="Calibri"/>
              <a:ea typeface="Calibri"/>
              <a:cs typeface="Calibri"/>
              <a:sym typeface="Calibri"/>
            </a:endParaRPr>
          </a:p>
        </p:txBody>
      </p:sp>
      <p:sp>
        <p:nvSpPr>
          <p:cNvPr id="729" name="Google Shape;729;g3ec1cabf127_4_0"/>
          <p:cNvSpPr/>
          <p:nvPr/>
        </p:nvSpPr>
        <p:spPr>
          <a:xfrm>
            <a:off x="548640" y="566928"/>
            <a:ext cx="96012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lang="en-US" sz="3200">
                <a:solidFill>
                  <a:srgbClr val="1E2761"/>
                </a:solidFill>
                <a:latin typeface="Cambria"/>
                <a:ea typeface="Cambria"/>
                <a:cs typeface="Cambria"/>
                <a:sym typeface="Cambria"/>
              </a:rPr>
              <a:t>QA Strategies</a:t>
            </a:r>
            <a:endParaRPr b="0" i="0" sz="3200" u="none" cap="none" strike="noStrike">
              <a:solidFill>
                <a:schemeClr val="dk1"/>
              </a:solidFill>
              <a:latin typeface="Calibri"/>
              <a:ea typeface="Calibri"/>
              <a:cs typeface="Calibri"/>
              <a:sym typeface="Calibri"/>
            </a:endParaRPr>
          </a:p>
        </p:txBody>
      </p:sp>
      <p:sp>
        <p:nvSpPr>
          <p:cNvPr id="730" name="Google Shape;730;g3ec1cabf127_4_0"/>
          <p:cNvSpPr/>
          <p:nvPr/>
        </p:nvSpPr>
        <p:spPr>
          <a:xfrm>
            <a:off x="9859975" y="256032"/>
            <a:ext cx="2103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731" name="Google Shape;731;g3ec1cabf127_4_0"/>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732" name="Google Shape;732;g3ec1cabf127_4_0"/>
          <p:cNvSpPr/>
          <p:nvPr/>
        </p:nvSpPr>
        <p:spPr>
          <a:xfrm>
            <a:off x="11368735" y="6510528"/>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
        <p:nvSpPr>
          <p:cNvPr id="733" name="Google Shape;733;g3ec1cabf127_4_0"/>
          <p:cNvSpPr/>
          <p:nvPr/>
        </p:nvSpPr>
        <p:spPr>
          <a:xfrm>
            <a:off x="548640" y="1417320"/>
            <a:ext cx="2697600" cy="1234500"/>
          </a:xfrm>
          <a:prstGeom prst="roundRect">
            <a:avLst>
              <a:gd fmla="val 5926" name="adj"/>
            </a:avLst>
          </a:prstGeom>
          <a:solidFill>
            <a:srgbClr val="FFFFFF"/>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g3ec1cabf127_4_0"/>
          <p:cNvSpPr/>
          <p:nvPr/>
        </p:nvSpPr>
        <p:spPr>
          <a:xfrm>
            <a:off x="713232" y="1554480"/>
            <a:ext cx="502800" cy="5028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navy.png" id="735" name="Google Shape;735;g3ec1cabf127_4_0"/>
          <p:cNvPicPr preferRelativeResize="0"/>
          <p:nvPr/>
        </p:nvPicPr>
        <p:blipFill rotWithShape="1">
          <a:blip r:embed="rId3">
            <a:alphaModFix/>
          </a:blip>
          <a:srcRect b="0" l="0" r="0" t="0"/>
          <a:stretch/>
        </p:blipFill>
        <p:spPr>
          <a:xfrm>
            <a:off x="826389" y="1667637"/>
            <a:ext cx="276606" cy="276606"/>
          </a:xfrm>
          <a:prstGeom prst="rect">
            <a:avLst/>
          </a:prstGeom>
          <a:noFill/>
          <a:ln>
            <a:noFill/>
          </a:ln>
        </p:spPr>
      </p:pic>
      <p:sp>
        <p:nvSpPr>
          <p:cNvPr id="736" name="Google Shape;736;g3ec1cabf127_4_0"/>
          <p:cNvSpPr/>
          <p:nvPr/>
        </p:nvSpPr>
        <p:spPr>
          <a:xfrm>
            <a:off x="1325880" y="1463040"/>
            <a:ext cx="178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lang="en-US" sz="2600">
                <a:solidFill>
                  <a:srgbClr val="1E2761"/>
                </a:solidFill>
                <a:latin typeface="Cambria"/>
                <a:ea typeface="Cambria"/>
                <a:cs typeface="Cambria"/>
                <a:sym typeface="Cambria"/>
              </a:rPr>
              <a:t>43 PRs</a:t>
            </a:r>
            <a:endParaRPr b="0" i="0" sz="2600" u="none" cap="none" strike="noStrike">
              <a:solidFill>
                <a:schemeClr val="dk1"/>
              </a:solidFill>
              <a:latin typeface="Calibri"/>
              <a:ea typeface="Calibri"/>
              <a:cs typeface="Calibri"/>
              <a:sym typeface="Calibri"/>
            </a:endParaRPr>
          </a:p>
        </p:txBody>
      </p:sp>
      <p:sp>
        <p:nvSpPr>
          <p:cNvPr id="737" name="Google Shape;737;g3ec1cabf127_4_0"/>
          <p:cNvSpPr/>
          <p:nvPr/>
        </p:nvSpPr>
        <p:spPr>
          <a:xfrm>
            <a:off x="713232" y="2103120"/>
            <a:ext cx="2377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Reviewed and merged</a:t>
            </a:r>
            <a:endParaRPr b="0" i="0" sz="1000" u="none" cap="none" strike="noStrike">
              <a:solidFill>
                <a:schemeClr val="dk1"/>
              </a:solidFill>
              <a:latin typeface="Calibri"/>
              <a:ea typeface="Calibri"/>
              <a:cs typeface="Calibri"/>
              <a:sym typeface="Calibri"/>
            </a:endParaRPr>
          </a:p>
        </p:txBody>
      </p:sp>
      <p:sp>
        <p:nvSpPr>
          <p:cNvPr id="738" name="Google Shape;738;g3ec1cabf127_4_0"/>
          <p:cNvSpPr/>
          <p:nvPr/>
        </p:nvSpPr>
        <p:spPr>
          <a:xfrm>
            <a:off x="3410712" y="1417320"/>
            <a:ext cx="2697600" cy="1234500"/>
          </a:xfrm>
          <a:prstGeom prst="roundRect">
            <a:avLst>
              <a:gd fmla="val 5926" name="adj"/>
            </a:avLst>
          </a:prstGeom>
          <a:solidFill>
            <a:srgbClr val="FFFFFF"/>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g3ec1cabf127_4_0"/>
          <p:cNvSpPr/>
          <p:nvPr/>
        </p:nvSpPr>
        <p:spPr>
          <a:xfrm>
            <a:off x="3575304" y="1554480"/>
            <a:ext cx="502800" cy="5028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g3ec1cabf127_4_0"/>
          <p:cNvSpPr/>
          <p:nvPr/>
        </p:nvSpPr>
        <p:spPr>
          <a:xfrm>
            <a:off x="4187952" y="1463040"/>
            <a:ext cx="178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lang="en-US" sz="2600">
                <a:solidFill>
                  <a:srgbClr val="1E2761"/>
                </a:solidFill>
                <a:latin typeface="Cambria"/>
                <a:ea typeface="Cambria"/>
                <a:cs typeface="Cambria"/>
                <a:sym typeface="Cambria"/>
              </a:rPr>
              <a:t>11 Issues</a:t>
            </a:r>
            <a:endParaRPr b="0" i="0" sz="2600" u="none" cap="none" strike="noStrike">
              <a:solidFill>
                <a:schemeClr val="dk1"/>
              </a:solidFill>
              <a:latin typeface="Calibri"/>
              <a:ea typeface="Calibri"/>
              <a:cs typeface="Calibri"/>
              <a:sym typeface="Calibri"/>
            </a:endParaRPr>
          </a:p>
        </p:txBody>
      </p:sp>
      <p:sp>
        <p:nvSpPr>
          <p:cNvPr id="741" name="Google Shape;741;g3ec1cabf127_4_0"/>
          <p:cNvSpPr/>
          <p:nvPr/>
        </p:nvSpPr>
        <p:spPr>
          <a:xfrm>
            <a:off x="3575304" y="2103120"/>
            <a:ext cx="2377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Resolved and closed</a:t>
            </a:r>
            <a:endParaRPr b="0" i="0" sz="1000" u="none" cap="none" strike="noStrike">
              <a:solidFill>
                <a:schemeClr val="dk1"/>
              </a:solidFill>
              <a:latin typeface="Calibri"/>
              <a:ea typeface="Calibri"/>
              <a:cs typeface="Calibri"/>
              <a:sym typeface="Calibri"/>
            </a:endParaRPr>
          </a:p>
        </p:txBody>
      </p:sp>
      <p:sp>
        <p:nvSpPr>
          <p:cNvPr id="742" name="Google Shape;742;g3ec1cabf127_4_0"/>
          <p:cNvSpPr/>
          <p:nvPr/>
        </p:nvSpPr>
        <p:spPr>
          <a:xfrm>
            <a:off x="6272784" y="1417320"/>
            <a:ext cx="2697600" cy="1234500"/>
          </a:xfrm>
          <a:prstGeom prst="roundRect">
            <a:avLst>
              <a:gd fmla="val 5926" name="adj"/>
            </a:avLst>
          </a:prstGeom>
          <a:solidFill>
            <a:srgbClr val="FFFFFF"/>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ec1cabf127_4_0"/>
          <p:cNvSpPr/>
          <p:nvPr/>
        </p:nvSpPr>
        <p:spPr>
          <a:xfrm>
            <a:off x="6437376" y="1554480"/>
            <a:ext cx="502800" cy="5028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artline_navy.png" id="744" name="Google Shape;744;g3ec1cabf127_4_0"/>
          <p:cNvPicPr preferRelativeResize="0"/>
          <p:nvPr/>
        </p:nvPicPr>
        <p:blipFill rotWithShape="1">
          <a:blip r:embed="rId4">
            <a:alphaModFix/>
          </a:blip>
          <a:srcRect b="0" l="0" r="0" t="0"/>
          <a:stretch/>
        </p:blipFill>
        <p:spPr>
          <a:xfrm>
            <a:off x="6550533" y="1667637"/>
            <a:ext cx="276606" cy="276606"/>
          </a:xfrm>
          <a:prstGeom prst="rect">
            <a:avLst/>
          </a:prstGeom>
          <a:noFill/>
          <a:ln>
            <a:noFill/>
          </a:ln>
        </p:spPr>
      </p:pic>
      <p:sp>
        <p:nvSpPr>
          <p:cNvPr id="745" name="Google Shape;745;g3ec1cabf127_4_0"/>
          <p:cNvSpPr/>
          <p:nvPr/>
        </p:nvSpPr>
        <p:spPr>
          <a:xfrm>
            <a:off x="7050024" y="1463040"/>
            <a:ext cx="178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8</a:t>
            </a:r>
            <a:r>
              <a:rPr b="1" lang="en-US" sz="2600">
                <a:solidFill>
                  <a:srgbClr val="1E2761"/>
                </a:solidFill>
                <a:latin typeface="Cambria"/>
                <a:ea typeface="Cambria"/>
                <a:cs typeface="Cambria"/>
                <a:sym typeface="Cambria"/>
              </a:rPr>
              <a:t>3</a:t>
            </a:r>
            <a:r>
              <a:rPr b="1" i="0" lang="en-US" sz="2600" u="none" cap="none" strike="noStrike">
                <a:solidFill>
                  <a:srgbClr val="1E2761"/>
                </a:solidFill>
                <a:latin typeface="Cambria"/>
                <a:ea typeface="Cambria"/>
                <a:cs typeface="Cambria"/>
                <a:sym typeface="Cambria"/>
              </a:rPr>
              <a:t>.</a:t>
            </a:r>
            <a:r>
              <a:rPr b="1" lang="en-US" sz="2600">
                <a:solidFill>
                  <a:srgbClr val="1E2761"/>
                </a:solidFill>
                <a:latin typeface="Cambria"/>
                <a:ea typeface="Cambria"/>
                <a:cs typeface="Cambria"/>
                <a:sym typeface="Cambria"/>
              </a:rPr>
              <a:t>7</a:t>
            </a:r>
            <a:r>
              <a:rPr b="1" i="0" lang="en-US" sz="2600" u="none" cap="none" strike="noStrike">
                <a:solidFill>
                  <a:srgbClr val="1E2761"/>
                </a:solidFill>
                <a:latin typeface="Cambria"/>
                <a:ea typeface="Cambria"/>
                <a:cs typeface="Cambria"/>
                <a:sym typeface="Cambria"/>
              </a:rPr>
              <a:t>%</a:t>
            </a:r>
            <a:endParaRPr b="0" i="0" sz="2600" u="none" cap="none" strike="noStrike">
              <a:solidFill>
                <a:schemeClr val="dk1"/>
              </a:solidFill>
              <a:latin typeface="Calibri"/>
              <a:ea typeface="Calibri"/>
              <a:cs typeface="Calibri"/>
              <a:sym typeface="Calibri"/>
            </a:endParaRPr>
          </a:p>
        </p:txBody>
      </p:sp>
      <p:sp>
        <p:nvSpPr>
          <p:cNvPr id="746" name="Google Shape;746;g3ec1cabf127_4_0"/>
          <p:cNvSpPr/>
          <p:nvPr/>
        </p:nvSpPr>
        <p:spPr>
          <a:xfrm>
            <a:off x="6437376" y="2103120"/>
            <a:ext cx="2377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b="0" i="0" lang="en-US" sz="1000" u="none" cap="none" strike="noStrike">
                <a:solidFill>
                  <a:srgbClr val="5B6B8C"/>
                </a:solidFill>
                <a:latin typeface="Calibri"/>
                <a:ea typeface="Calibri"/>
                <a:cs typeface="Calibri"/>
                <a:sym typeface="Calibri"/>
              </a:rPr>
              <a:t>Server statement coverage</a:t>
            </a:r>
            <a:endParaRPr b="0" i="0" sz="1000" u="none" cap="none" strike="noStrike">
              <a:solidFill>
                <a:schemeClr val="dk1"/>
              </a:solidFill>
              <a:latin typeface="Calibri"/>
              <a:ea typeface="Calibri"/>
              <a:cs typeface="Calibri"/>
              <a:sym typeface="Calibri"/>
            </a:endParaRPr>
          </a:p>
        </p:txBody>
      </p:sp>
      <p:sp>
        <p:nvSpPr>
          <p:cNvPr id="747" name="Google Shape;747;g3ec1cabf127_4_0"/>
          <p:cNvSpPr/>
          <p:nvPr/>
        </p:nvSpPr>
        <p:spPr>
          <a:xfrm>
            <a:off x="9134856" y="1417320"/>
            <a:ext cx="2697600" cy="1234500"/>
          </a:xfrm>
          <a:prstGeom prst="roundRect">
            <a:avLst>
              <a:gd fmla="val 5926" name="adj"/>
            </a:avLst>
          </a:prstGeom>
          <a:solidFill>
            <a:srgbClr val="FFFFFF"/>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g3ec1cabf127_4_0"/>
          <p:cNvSpPr/>
          <p:nvPr/>
        </p:nvSpPr>
        <p:spPr>
          <a:xfrm>
            <a:off x="9299448" y="1554480"/>
            <a:ext cx="502800" cy="5028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artline_navy.png" id="749" name="Google Shape;749;g3ec1cabf127_4_0"/>
          <p:cNvPicPr preferRelativeResize="0"/>
          <p:nvPr/>
        </p:nvPicPr>
        <p:blipFill rotWithShape="1">
          <a:blip r:embed="rId4">
            <a:alphaModFix/>
          </a:blip>
          <a:srcRect b="0" l="0" r="0" t="0"/>
          <a:stretch/>
        </p:blipFill>
        <p:spPr>
          <a:xfrm>
            <a:off x="9412605" y="1667637"/>
            <a:ext cx="276606" cy="276606"/>
          </a:xfrm>
          <a:prstGeom prst="rect">
            <a:avLst/>
          </a:prstGeom>
          <a:noFill/>
          <a:ln>
            <a:noFill/>
          </a:ln>
        </p:spPr>
      </p:pic>
      <p:sp>
        <p:nvSpPr>
          <p:cNvPr id="750" name="Google Shape;750;g3ec1cabf127_4_0"/>
          <p:cNvSpPr/>
          <p:nvPr/>
        </p:nvSpPr>
        <p:spPr>
          <a:xfrm>
            <a:off x="9912096" y="1463040"/>
            <a:ext cx="178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7</a:t>
            </a:r>
            <a:r>
              <a:rPr b="1" lang="en-US" sz="2600">
                <a:solidFill>
                  <a:srgbClr val="1E2761"/>
                </a:solidFill>
                <a:latin typeface="Cambria"/>
                <a:ea typeface="Cambria"/>
                <a:cs typeface="Cambria"/>
                <a:sym typeface="Cambria"/>
              </a:rPr>
              <a:t>9</a:t>
            </a:r>
            <a:r>
              <a:rPr b="1" i="0" lang="en-US" sz="2600" u="none" cap="none" strike="noStrike">
                <a:solidFill>
                  <a:srgbClr val="1E2761"/>
                </a:solidFill>
                <a:latin typeface="Cambria"/>
                <a:ea typeface="Cambria"/>
                <a:cs typeface="Cambria"/>
                <a:sym typeface="Cambria"/>
              </a:rPr>
              <a:t>.2%</a:t>
            </a:r>
            <a:endParaRPr b="0" i="0" sz="2600" u="none" cap="none" strike="noStrike">
              <a:solidFill>
                <a:schemeClr val="dk1"/>
              </a:solidFill>
              <a:latin typeface="Calibri"/>
              <a:ea typeface="Calibri"/>
              <a:cs typeface="Calibri"/>
              <a:sym typeface="Calibri"/>
            </a:endParaRPr>
          </a:p>
        </p:txBody>
      </p:sp>
      <p:sp>
        <p:nvSpPr>
          <p:cNvPr id="751" name="Google Shape;751;g3ec1cabf127_4_0"/>
          <p:cNvSpPr/>
          <p:nvPr/>
        </p:nvSpPr>
        <p:spPr>
          <a:xfrm>
            <a:off x="9299448" y="2103120"/>
            <a:ext cx="2377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00"/>
              <a:buFont typeface="Calibri"/>
              <a:buNone/>
            </a:pPr>
            <a:r>
              <a:rPr lang="en-US" sz="1000">
                <a:solidFill>
                  <a:srgbClr val="5B6B8C"/>
                </a:solidFill>
                <a:latin typeface="Calibri"/>
                <a:ea typeface="Calibri"/>
                <a:cs typeface="Calibri"/>
                <a:sym typeface="Calibri"/>
              </a:rPr>
              <a:t>Client </a:t>
            </a:r>
            <a:r>
              <a:rPr lang="en-US" sz="1000">
                <a:solidFill>
                  <a:srgbClr val="5B6B8C"/>
                </a:solidFill>
                <a:latin typeface="Calibri"/>
                <a:ea typeface="Calibri"/>
                <a:cs typeface="Calibri"/>
                <a:sym typeface="Calibri"/>
              </a:rPr>
              <a:t>statement</a:t>
            </a:r>
            <a:r>
              <a:rPr lang="en-US" sz="1000">
                <a:solidFill>
                  <a:srgbClr val="5B6B8C"/>
                </a:solidFill>
                <a:latin typeface="Calibri"/>
                <a:ea typeface="Calibri"/>
                <a:cs typeface="Calibri"/>
                <a:sym typeface="Calibri"/>
              </a:rPr>
              <a:t> </a:t>
            </a:r>
            <a:r>
              <a:rPr b="0" i="0" lang="en-US" sz="1000" u="none" cap="none" strike="noStrike">
                <a:solidFill>
                  <a:srgbClr val="5B6B8C"/>
                </a:solidFill>
                <a:latin typeface="Calibri"/>
                <a:ea typeface="Calibri"/>
                <a:cs typeface="Calibri"/>
                <a:sym typeface="Calibri"/>
              </a:rPr>
              <a:t> coverage</a:t>
            </a:r>
            <a:endParaRPr b="0" i="0" sz="1000" u="none" cap="none" strike="noStrike">
              <a:solidFill>
                <a:schemeClr val="dk1"/>
              </a:solidFill>
              <a:latin typeface="Calibri"/>
              <a:ea typeface="Calibri"/>
              <a:cs typeface="Calibri"/>
              <a:sym typeface="Calibri"/>
            </a:endParaRPr>
          </a:p>
        </p:txBody>
      </p:sp>
      <p:sp>
        <p:nvSpPr>
          <p:cNvPr id="752" name="Google Shape;752;g3ec1cabf127_4_0"/>
          <p:cNvSpPr/>
          <p:nvPr/>
        </p:nvSpPr>
        <p:spPr>
          <a:xfrm>
            <a:off x="548640" y="2880360"/>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lang="en-US" sz="1600">
                <a:solidFill>
                  <a:srgbClr val="1E2761"/>
                </a:solidFill>
                <a:latin typeface="Cambria"/>
                <a:ea typeface="Cambria"/>
                <a:cs typeface="Cambria"/>
                <a:sym typeface="Cambria"/>
              </a:rPr>
              <a:t>Merging Strateg</a:t>
            </a:r>
            <a:r>
              <a:rPr b="1" lang="en-US" sz="1600">
                <a:solidFill>
                  <a:srgbClr val="1E2761"/>
                </a:solidFill>
                <a:latin typeface="Cambria"/>
                <a:ea typeface="Cambria"/>
                <a:cs typeface="Cambria"/>
                <a:sym typeface="Cambria"/>
              </a:rPr>
              <a:t>y</a:t>
            </a:r>
            <a:endParaRPr b="0" i="0" sz="1600" u="none" cap="none" strike="noStrike">
              <a:solidFill>
                <a:schemeClr val="dk1"/>
              </a:solidFill>
              <a:latin typeface="Calibri"/>
              <a:ea typeface="Calibri"/>
              <a:cs typeface="Calibri"/>
              <a:sym typeface="Calibri"/>
            </a:endParaRPr>
          </a:p>
        </p:txBody>
      </p:sp>
      <p:sp>
        <p:nvSpPr>
          <p:cNvPr id="753" name="Google Shape;753;g3ec1cabf127_4_0"/>
          <p:cNvSpPr/>
          <p:nvPr/>
        </p:nvSpPr>
        <p:spPr>
          <a:xfrm>
            <a:off x="713232" y="338328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puzzle_navy.png" id="754" name="Google Shape;754;g3ec1cabf127_4_0"/>
          <p:cNvPicPr preferRelativeResize="0"/>
          <p:nvPr/>
        </p:nvPicPr>
        <p:blipFill rotWithShape="1">
          <a:blip r:embed="rId5">
            <a:alphaModFix/>
          </a:blip>
          <a:srcRect b="0" l="0" r="0" t="0"/>
          <a:stretch/>
        </p:blipFill>
        <p:spPr>
          <a:xfrm>
            <a:off x="816102" y="3486150"/>
            <a:ext cx="251460" cy="251460"/>
          </a:xfrm>
          <a:prstGeom prst="rect">
            <a:avLst/>
          </a:prstGeom>
          <a:noFill/>
          <a:ln>
            <a:noFill/>
          </a:ln>
        </p:spPr>
      </p:pic>
      <p:sp>
        <p:nvSpPr>
          <p:cNvPr id="755" name="Google Shape;755;g3ec1cabf127_4_0"/>
          <p:cNvSpPr/>
          <p:nvPr/>
        </p:nvSpPr>
        <p:spPr>
          <a:xfrm>
            <a:off x="1325880" y="3291840"/>
            <a:ext cx="4526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Dev Branch</a:t>
            </a:r>
            <a:endParaRPr b="0" i="0" sz="1250" u="none" cap="none" strike="noStrike">
              <a:solidFill>
                <a:schemeClr val="dk1"/>
              </a:solidFill>
              <a:latin typeface="Calibri"/>
              <a:ea typeface="Calibri"/>
              <a:cs typeface="Calibri"/>
              <a:sym typeface="Calibri"/>
            </a:endParaRPr>
          </a:p>
        </p:txBody>
      </p:sp>
      <p:sp>
        <p:nvSpPr>
          <p:cNvPr id="756" name="Google Shape;756;g3ec1cabf127_4_0"/>
          <p:cNvSpPr/>
          <p:nvPr/>
        </p:nvSpPr>
        <p:spPr>
          <a:xfrm>
            <a:off x="1325880" y="3602736"/>
            <a:ext cx="452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At least one team member needs to review the code</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All existing tests and CI/CD checks need to pass</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All merge conflicts need to be resolved</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All acceptance tests need to be met</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t/>
            </a:r>
            <a:endParaRPr sz="950">
              <a:solidFill>
                <a:srgbClr val="5B6B8C"/>
              </a:solidFill>
              <a:latin typeface="Calibri"/>
              <a:ea typeface="Calibri"/>
              <a:cs typeface="Calibri"/>
              <a:sym typeface="Calibri"/>
            </a:endParaRPr>
          </a:p>
        </p:txBody>
      </p:sp>
      <p:sp>
        <p:nvSpPr>
          <p:cNvPr id="757" name="Google Shape;757;g3ec1cabf127_4_0"/>
          <p:cNvSpPr/>
          <p:nvPr/>
        </p:nvSpPr>
        <p:spPr>
          <a:xfrm>
            <a:off x="6199632" y="338328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layers_navy.png" id="758" name="Google Shape;758;g3ec1cabf127_4_0"/>
          <p:cNvPicPr preferRelativeResize="0"/>
          <p:nvPr/>
        </p:nvPicPr>
        <p:blipFill rotWithShape="1">
          <a:blip r:embed="rId6">
            <a:alphaModFix/>
          </a:blip>
          <a:srcRect b="0" l="0" r="0" t="0"/>
          <a:stretch/>
        </p:blipFill>
        <p:spPr>
          <a:xfrm>
            <a:off x="6302502" y="3486150"/>
            <a:ext cx="251460" cy="251460"/>
          </a:xfrm>
          <a:prstGeom prst="rect">
            <a:avLst/>
          </a:prstGeom>
          <a:noFill/>
          <a:ln>
            <a:noFill/>
          </a:ln>
        </p:spPr>
      </p:pic>
      <p:sp>
        <p:nvSpPr>
          <p:cNvPr id="759" name="Google Shape;759;g3ec1cabf127_4_0"/>
          <p:cNvSpPr/>
          <p:nvPr/>
        </p:nvSpPr>
        <p:spPr>
          <a:xfrm>
            <a:off x="6812280" y="3291840"/>
            <a:ext cx="4526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Main Branch</a:t>
            </a:r>
            <a:endParaRPr b="0" i="0" sz="1250" u="none" cap="none" strike="noStrike">
              <a:solidFill>
                <a:schemeClr val="dk1"/>
              </a:solidFill>
              <a:latin typeface="Calibri"/>
              <a:ea typeface="Calibri"/>
              <a:cs typeface="Calibri"/>
              <a:sym typeface="Calibri"/>
            </a:endParaRPr>
          </a:p>
        </p:txBody>
      </p:sp>
      <p:sp>
        <p:nvSpPr>
          <p:cNvPr id="760" name="Google Shape;760;g3ec1cabf127_4_0"/>
          <p:cNvSpPr/>
          <p:nvPr/>
        </p:nvSpPr>
        <p:spPr>
          <a:xfrm>
            <a:off x="6812280" y="3602736"/>
            <a:ext cx="452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All PRs reviewed and merged with dev branch</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Merged with Main branch at the end of each iteration</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t/>
            </a:r>
            <a:endParaRPr sz="950">
              <a:solidFill>
                <a:srgbClr val="5B6B8C"/>
              </a:solidFill>
              <a:latin typeface="Calibri"/>
              <a:ea typeface="Calibri"/>
              <a:cs typeface="Calibri"/>
              <a:sym typeface="Calibri"/>
            </a:endParaRPr>
          </a:p>
        </p:txBody>
      </p:sp>
      <p:sp>
        <p:nvSpPr>
          <p:cNvPr id="761" name="Google Shape;761;g3ec1cabf127_4_0"/>
          <p:cNvSpPr/>
          <p:nvPr/>
        </p:nvSpPr>
        <p:spPr>
          <a:xfrm>
            <a:off x="713232" y="457200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eye_navy.png" id="762" name="Google Shape;762;g3ec1cabf127_4_0"/>
          <p:cNvPicPr preferRelativeResize="0"/>
          <p:nvPr/>
        </p:nvPicPr>
        <p:blipFill rotWithShape="1">
          <a:blip r:embed="rId7">
            <a:alphaModFix/>
          </a:blip>
          <a:srcRect b="0" l="0" r="0" t="0"/>
          <a:stretch/>
        </p:blipFill>
        <p:spPr>
          <a:xfrm>
            <a:off x="816102" y="4674870"/>
            <a:ext cx="251460" cy="251460"/>
          </a:xfrm>
          <a:prstGeom prst="rect">
            <a:avLst/>
          </a:prstGeom>
          <a:noFill/>
          <a:ln>
            <a:noFill/>
          </a:ln>
        </p:spPr>
      </p:pic>
      <p:sp>
        <p:nvSpPr>
          <p:cNvPr id="763" name="Google Shape;763;g3ec1cabf127_4_0"/>
          <p:cNvSpPr/>
          <p:nvPr/>
        </p:nvSpPr>
        <p:spPr>
          <a:xfrm>
            <a:off x="1325880" y="4480560"/>
            <a:ext cx="4526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GitHub Issues</a:t>
            </a:r>
            <a:endParaRPr b="0" i="0" sz="1250" u="none" cap="none" strike="noStrike">
              <a:solidFill>
                <a:schemeClr val="dk1"/>
              </a:solidFill>
              <a:latin typeface="Calibri"/>
              <a:ea typeface="Calibri"/>
              <a:cs typeface="Calibri"/>
              <a:sym typeface="Calibri"/>
            </a:endParaRPr>
          </a:p>
        </p:txBody>
      </p:sp>
      <p:sp>
        <p:nvSpPr>
          <p:cNvPr id="764" name="Google Shape;764;g3ec1cabf127_4_0"/>
          <p:cNvSpPr/>
          <p:nvPr/>
        </p:nvSpPr>
        <p:spPr>
          <a:xfrm>
            <a:off x="1325880" y="4791456"/>
            <a:ext cx="452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UI Fixes</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Refactoring needs</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Missing Features</a:t>
            </a:r>
            <a:endParaRPr sz="950">
              <a:solidFill>
                <a:srgbClr val="5B6B8C"/>
              </a:solidFill>
              <a:latin typeface="Calibri"/>
              <a:ea typeface="Calibri"/>
              <a:cs typeface="Calibri"/>
              <a:sym typeface="Calibri"/>
            </a:endParaRPr>
          </a:p>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Security Flaws</a:t>
            </a:r>
            <a:endParaRPr sz="950">
              <a:solidFill>
                <a:srgbClr val="5B6B8C"/>
              </a:solidFill>
              <a:latin typeface="Calibri"/>
              <a:ea typeface="Calibri"/>
              <a:cs typeface="Calibri"/>
              <a:sym typeface="Calibri"/>
            </a:endParaRPr>
          </a:p>
        </p:txBody>
      </p:sp>
      <p:sp>
        <p:nvSpPr>
          <p:cNvPr id="765" name="Google Shape;765;g3ec1cabf127_4_0"/>
          <p:cNvSpPr/>
          <p:nvPr/>
        </p:nvSpPr>
        <p:spPr>
          <a:xfrm>
            <a:off x="6199632" y="4572000"/>
            <a:ext cx="457200" cy="45720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ute_navy.png" id="766" name="Google Shape;766;g3ec1cabf127_4_0"/>
          <p:cNvPicPr preferRelativeResize="0"/>
          <p:nvPr/>
        </p:nvPicPr>
        <p:blipFill rotWithShape="1">
          <a:blip r:embed="rId8">
            <a:alphaModFix/>
          </a:blip>
          <a:srcRect b="0" l="0" r="0" t="0"/>
          <a:stretch/>
        </p:blipFill>
        <p:spPr>
          <a:xfrm>
            <a:off x="6302502" y="4674870"/>
            <a:ext cx="251460" cy="251460"/>
          </a:xfrm>
          <a:prstGeom prst="rect">
            <a:avLst/>
          </a:prstGeom>
          <a:noFill/>
          <a:ln>
            <a:noFill/>
          </a:ln>
        </p:spPr>
      </p:pic>
      <p:sp>
        <p:nvSpPr>
          <p:cNvPr id="767" name="Google Shape;767;g3ec1cabf127_4_0"/>
          <p:cNvSpPr/>
          <p:nvPr/>
        </p:nvSpPr>
        <p:spPr>
          <a:xfrm>
            <a:off x="6812280" y="4480560"/>
            <a:ext cx="4526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Refactorings</a:t>
            </a:r>
            <a:endParaRPr b="0" i="0" sz="1250" u="none" cap="none" strike="noStrike">
              <a:solidFill>
                <a:schemeClr val="dk1"/>
              </a:solidFill>
              <a:latin typeface="Calibri"/>
              <a:ea typeface="Calibri"/>
              <a:cs typeface="Calibri"/>
              <a:sym typeface="Calibri"/>
            </a:endParaRPr>
          </a:p>
        </p:txBody>
      </p:sp>
      <p:sp>
        <p:nvSpPr>
          <p:cNvPr id="768" name="Google Shape;768;g3ec1cabf127_4_0"/>
          <p:cNvSpPr/>
          <p:nvPr/>
        </p:nvSpPr>
        <p:spPr>
          <a:xfrm>
            <a:off x="6812280" y="4791456"/>
            <a:ext cx="4526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Patient Portal</a:t>
            </a:r>
            <a:endParaRPr b="0" i="0" sz="950" u="none" cap="none" strike="noStrike">
              <a:solidFill>
                <a:schemeClr val="dk1"/>
              </a:solidFill>
              <a:latin typeface="Calibri"/>
              <a:ea typeface="Calibri"/>
              <a:cs typeface="Calibri"/>
              <a:sym typeface="Calibri"/>
            </a:endParaRPr>
          </a:p>
        </p:txBody>
      </p:sp>
      <p:sp>
        <p:nvSpPr>
          <p:cNvPr id="769" name="Google Shape;769;g3ec1cabf127_4_0"/>
          <p:cNvSpPr/>
          <p:nvPr/>
        </p:nvSpPr>
        <p:spPr>
          <a:xfrm>
            <a:off x="685800" y="6400800"/>
            <a:ext cx="33375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850"/>
              <a:buFont typeface="Calibri"/>
              <a:buNone/>
            </a:pPr>
            <a:r>
              <a:rPr b="0" i="0" lang="en-US" sz="850" u="none" cap="none" strike="noStrike">
                <a:solidFill>
                  <a:srgbClr val="5B6B8C"/>
                </a:solidFill>
                <a:latin typeface="Calibri"/>
                <a:ea typeface="Calibri"/>
                <a:cs typeface="Calibri"/>
                <a:sym typeface="Calibri"/>
              </a:rPr>
              <a:t>Stmts / Branch / Lines - calculators, validators, audit</a:t>
            </a:r>
            <a:endParaRPr b="0" i="0" sz="850" u="none" cap="none" strike="noStrike">
              <a:solidFill>
                <a:schemeClr val="dk1"/>
              </a:solidFill>
              <a:latin typeface="Calibri"/>
              <a:ea typeface="Calibri"/>
              <a:cs typeface="Calibri"/>
              <a:sym typeface="Calibri"/>
            </a:endParaRPr>
          </a:p>
        </p:txBody>
      </p:sp>
      <p:sp>
        <p:nvSpPr>
          <p:cNvPr id="770" name="Google Shape;770;g3ec1cabf127_4_0"/>
          <p:cNvSpPr/>
          <p:nvPr/>
        </p:nvSpPr>
        <p:spPr>
          <a:xfrm>
            <a:off x="4416552" y="6400800"/>
            <a:ext cx="33375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850"/>
              <a:buFont typeface="Calibri"/>
              <a:buNone/>
            </a:pPr>
            <a:r>
              <a:rPr b="0" i="0" lang="en-US" sz="850" u="none" cap="none" strike="noStrike">
                <a:solidFill>
                  <a:srgbClr val="5B6B8C"/>
                </a:solidFill>
                <a:latin typeface="Calibri"/>
                <a:ea typeface="Calibri"/>
                <a:cs typeface="Calibri"/>
                <a:sym typeface="Calibri"/>
              </a:rPr>
              <a:t>Auth middleware - hardening target for Iteration 3</a:t>
            </a:r>
            <a:endParaRPr b="0" i="0" sz="850" u="none" cap="none" strike="noStrike">
              <a:solidFill>
                <a:schemeClr val="dk1"/>
              </a:solidFill>
              <a:latin typeface="Calibri"/>
              <a:ea typeface="Calibri"/>
              <a:cs typeface="Calibri"/>
              <a:sym typeface="Calibri"/>
            </a:endParaRPr>
          </a:p>
        </p:txBody>
      </p:sp>
      <p:sp>
        <p:nvSpPr>
          <p:cNvPr id="771" name="Google Shape;771;g3ec1cabf127_4_0"/>
          <p:cNvSpPr/>
          <p:nvPr/>
        </p:nvSpPr>
        <p:spPr>
          <a:xfrm>
            <a:off x="8147304" y="6400800"/>
            <a:ext cx="33375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850"/>
              <a:buFont typeface="Calibri"/>
              <a:buNone/>
            </a:pPr>
            <a:r>
              <a:rPr b="0" i="0" lang="en-US" sz="850" u="none" cap="none" strike="noStrike">
                <a:solidFill>
                  <a:srgbClr val="5B6B8C"/>
                </a:solidFill>
                <a:latin typeface="Calibri"/>
                <a:ea typeface="Calibri"/>
                <a:cs typeface="Calibri"/>
                <a:sym typeface="Calibri"/>
              </a:rPr>
              <a:t>Core patient-facing page, well covered</a:t>
            </a:r>
            <a:endParaRPr b="0" i="0" sz="850" u="none" cap="none" strike="noStrike">
              <a:solidFill>
                <a:schemeClr val="dk1"/>
              </a:solidFill>
              <a:latin typeface="Calibri"/>
              <a:ea typeface="Calibri"/>
              <a:cs typeface="Calibri"/>
              <a:sym typeface="Calibri"/>
            </a:endParaRPr>
          </a:p>
        </p:txBody>
      </p:sp>
      <p:pic>
        <p:nvPicPr>
          <p:cNvPr descr="/home/claude/slides/logo.png" id="772" name="Google Shape;772;g3ec1cabf127_4_0"/>
          <p:cNvPicPr preferRelativeResize="0"/>
          <p:nvPr/>
        </p:nvPicPr>
        <p:blipFill rotWithShape="1">
          <a:blip r:embed="rId9">
            <a:alphaModFix/>
          </a:blip>
          <a:srcRect b="0" l="0" r="0" t="0"/>
          <a:stretch/>
        </p:blipFill>
        <p:spPr>
          <a:xfrm>
            <a:off x="10893500" y="155443"/>
            <a:ext cx="1005840" cy="457200"/>
          </a:xfrm>
          <a:prstGeom prst="rect">
            <a:avLst/>
          </a:prstGeom>
          <a:noFill/>
          <a:ln>
            <a:noFill/>
          </a:ln>
        </p:spPr>
      </p:pic>
      <p:pic>
        <p:nvPicPr>
          <p:cNvPr descr="/home/claude/bariatric_deck/icons/check_green.png" id="773" name="Google Shape;773;g3ec1cabf127_4_0"/>
          <p:cNvPicPr preferRelativeResize="0"/>
          <p:nvPr/>
        </p:nvPicPr>
        <p:blipFill rotWithShape="1">
          <a:blip r:embed="rId10">
            <a:alphaModFix/>
          </a:blip>
          <a:srcRect b="0" l="0" r="0" t="0"/>
          <a:stretch/>
        </p:blipFill>
        <p:spPr>
          <a:xfrm>
            <a:off x="3688461" y="1667637"/>
            <a:ext cx="276606" cy="2766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8" name="Shape 778"/>
        <p:cNvGrpSpPr/>
        <p:nvPr/>
      </p:nvGrpSpPr>
      <p:grpSpPr>
        <a:xfrm>
          <a:off x="0" y="0"/>
          <a:ext cx="0" cy="0"/>
          <a:chOff x="0" y="0"/>
          <a:chExt cx="0" cy="0"/>
        </a:xfrm>
      </p:grpSpPr>
      <p:sp>
        <p:nvSpPr>
          <p:cNvPr id="779" name="Google Shape;779;p19"/>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TESTING &amp; QA - AUTOMATION</a:t>
            </a:r>
            <a:endParaRPr b="0" i="0" sz="1200" u="none" cap="none" strike="noStrike">
              <a:solidFill>
                <a:schemeClr val="dk1"/>
              </a:solidFill>
              <a:latin typeface="Calibri"/>
              <a:ea typeface="Calibri"/>
              <a:cs typeface="Calibri"/>
              <a:sym typeface="Calibri"/>
            </a:endParaRPr>
          </a:p>
        </p:txBody>
      </p:sp>
      <p:sp>
        <p:nvSpPr>
          <p:cNvPr id="780" name="Google Shape;780;p19"/>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CI/CD Pipeline (GitHub Actions)</a:t>
            </a:r>
            <a:endParaRPr b="0" i="0" sz="3200" u="none" cap="none" strike="noStrike">
              <a:solidFill>
                <a:schemeClr val="dk1"/>
              </a:solidFill>
              <a:latin typeface="Calibri"/>
              <a:ea typeface="Calibri"/>
              <a:cs typeface="Calibri"/>
              <a:sym typeface="Calibri"/>
            </a:endParaRPr>
          </a:p>
        </p:txBody>
      </p:sp>
      <p:sp>
        <p:nvSpPr>
          <p:cNvPr id="781" name="Google Shape;781;p19"/>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782" name="Google Shape;782;p19"/>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783" name="Google Shape;783;p19"/>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
        <p:nvSpPr>
          <p:cNvPr id="784" name="Google Shape;784;p19"/>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Every push and pull request automatically runs four workflows - tests must pass before merge to dev.</a:t>
            </a:r>
            <a:endParaRPr b="0" i="0" sz="1300" u="none" cap="none" strike="noStrike">
              <a:solidFill>
                <a:schemeClr val="dk1"/>
              </a:solidFill>
              <a:latin typeface="Calibri"/>
              <a:ea typeface="Calibri"/>
              <a:cs typeface="Calibri"/>
              <a:sym typeface="Calibri"/>
            </a:endParaRPr>
          </a:p>
        </p:txBody>
      </p:sp>
      <p:sp>
        <p:nvSpPr>
          <p:cNvPr id="785" name="Google Shape;785;p19"/>
          <p:cNvSpPr/>
          <p:nvPr/>
        </p:nvSpPr>
        <p:spPr>
          <a:xfrm>
            <a:off x="548640" y="1874520"/>
            <a:ext cx="2697480"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685800" y="1993392"/>
            <a:ext cx="530352" cy="530352"/>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heckdouble_navy.png" id="787" name="Google Shape;787;p19"/>
          <p:cNvPicPr preferRelativeResize="0"/>
          <p:nvPr/>
        </p:nvPicPr>
        <p:blipFill rotWithShape="1">
          <a:blip r:embed="rId3">
            <a:alphaModFix/>
          </a:blip>
          <a:srcRect b="0" l="0" r="0" t="0"/>
          <a:stretch/>
        </p:blipFill>
        <p:spPr>
          <a:xfrm>
            <a:off x="805129" y="2112721"/>
            <a:ext cx="291694" cy="291694"/>
          </a:xfrm>
          <a:prstGeom prst="rect">
            <a:avLst/>
          </a:prstGeom>
          <a:noFill/>
          <a:ln>
            <a:noFill/>
          </a:ln>
        </p:spPr>
      </p:pic>
      <p:sp>
        <p:nvSpPr>
          <p:cNvPr id="788" name="Google Shape;788;p19"/>
          <p:cNvSpPr/>
          <p:nvPr/>
        </p:nvSpPr>
        <p:spPr>
          <a:xfrm>
            <a:off x="1325880" y="1874520"/>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CI - Tests &amp; Linting</a:t>
            </a:r>
            <a:endParaRPr b="0" i="0" sz="1200" u="none" cap="none" strike="noStrike">
              <a:solidFill>
                <a:schemeClr val="dk1"/>
              </a:solidFill>
              <a:latin typeface="Calibri"/>
              <a:ea typeface="Calibri"/>
              <a:cs typeface="Calibri"/>
              <a:sym typeface="Calibri"/>
            </a:endParaRPr>
          </a:p>
        </p:txBody>
      </p:sp>
      <p:sp>
        <p:nvSpPr>
          <p:cNvPr id="789" name="Google Shape;789;p19"/>
          <p:cNvSpPr/>
          <p:nvPr/>
        </p:nvSpPr>
        <p:spPr>
          <a:xfrm>
            <a:off x="548640" y="2743200"/>
            <a:ext cx="2697480" cy="30175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9"/>
          <p:cNvSpPr/>
          <p:nvPr/>
        </p:nvSpPr>
        <p:spPr>
          <a:xfrm>
            <a:off x="713232" y="2880360"/>
            <a:ext cx="2368296" cy="27432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Server: Jest + Supertest (258 tests)</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Client: Vitest (34 tests)</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AI Service: pytest (9 tests)</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ESLint code quality</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npm audit (server + client)</a:t>
            </a:r>
            <a:endParaRPr b="0" i="0" sz="1050" u="none" cap="none" strike="noStrike">
              <a:solidFill>
                <a:schemeClr val="dk1"/>
              </a:solidFill>
              <a:latin typeface="Calibri"/>
              <a:ea typeface="Calibri"/>
              <a:cs typeface="Calibri"/>
              <a:sym typeface="Calibri"/>
            </a:endParaRPr>
          </a:p>
        </p:txBody>
      </p:sp>
      <p:sp>
        <p:nvSpPr>
          <p:cNvPr id="791" name="Google Shape;791;p19"/>
          <p:cNvSpPr/>
          <p:nvPr/>
        </p:nvSpPr>
        <p:spPr>
          <a:xfrm>
            <a:off x="3410712" y="1874520"/>
            <a:ext cx="2697480"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3547872" y="1993392"/>
            <a:ext cx="530352" cy="530352"/>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earch_navy.png" id="793" name="Google Shape;793;p19"/>
          <p:cNvPicPr preferRelativeResize="0"/>
          <p:nvPr/>
        </p:nvPicPr>
        <p:blipFill rotWithShape="1">
          <a:blip r:embed="rId4">
            <a:alphaModFix/>
          </a:blip>
          <a:srcRect b="0" l="0" r="0" t="0"/>
          <a:stretch/>
        </p:blipFill>
        <p:spPr>
          <a:xfrm>
            <a:off x="3667201" y="2112721"/>
            <a:ext cx="291694" cy="291694"/>
          </a:xfrm>
          <a:prstGeom prst="rect">
            <a:avLst/>
          </a:prstGeom>
          <a:noFill/>
          <a:ln>
            <a:noFill/>
          </a:ln>
        </p:spPr>
      </p:pic>
      <p:sp>
        <p:nvSpPr>
          <p:cNvPr id="794" name="Google Shape;794;p19"/>
          <p:cNvSpPr/>
          <p:nvPr/>
        </p:nvSpPr>
        <p:spPr>
          <a:xfrm>
            <a:off x="4187952" y="1874520"/>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CodeQL Security Analysis</a:t>
            </a:r>
            <a:endParaRPr b="0" i="0" sz="1200" u="none" cap="none" strike="noStrike">
              <a:solidFill>
                <a:schemeClr val="dk1"/>
              </a:solidFill>
              <a:latin typeface="Calibri"/>
              <a:ea typeface="Calibri"/>
              <a:cs typeface="Calibri"/>
              <a:sym typeface="Calibri"/>
            </a:endParaRPr>
          </a:p>
        </p:txBody>
      </p:sp>
      <p:sp>
        <p:nvSpPr>
          <p:cNvPr id="795" name="Google Shape;795;p19"/>
          <p:cNvSpPr/>
          <p:nvPr/>
        </p:nvSpPr>
        <p:spPr>
          <a:xfrm>
            <a:off x="3410712" y="2743200"/>
            <a:ext cx="2697480" cy="30175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3575304" y="2880360"/>
            <a:ext cx="2368296" cy="27432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Deep SAST for JavaScript + Python</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SQL/NoSQL injection, XSS detection</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Insecure auth pattern detection</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Hardcoded credential scanning</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Weekly scheduled re-scan</a:t>
            </a:r>
            <a:endParaRPr b="0" i="0" sz="1050" u="none" cap="none" strike="noStrike">
              <a:solidFill>
                <a:schemeClr val="dk1"/>
              </a:solidFill>
              <a:latin typeface="Calibri"/>
              <a:ea typeface="Calibri"/>
              <a:cs typeface="Calibri"/>
              <a:sym typeface="Calibri"/>
            </a:endParaRPr>
          </a:p>
        </p:txBody>
      </p:sp>
      <p:sp>
        <p:nvSpPr>
          <p:cNvPr id="797" name="Google Shape;797;p19"/>
          <p:cNvSpPr/>
          <p:nvPr/>
        </p:nvSpPr>
        <p:spPr>
          <a:xfrm>
            <a:off x="6272784" y="1874520"/>
            <a:ext cx="2697480"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9"/>
          <p:cNvSpPr/>
          <p:nvPr/>
        </p:nvSpPr>
        <p:spPr>
          <a:xfrm>
            <a:off x="6409944" y="1993392"/>
            <a:ext cx="530352" cy="530352"/>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navy.png" id="799" name="Google Shape;799;p19"/>
          <p:cNvPicPr preferRelativeResize="0"/>
          <p:nvPr/>
        </p:nvPicPr>
        <p:blipFill rotWithShape="1">
          <a:blip r:embed="rId5">
            <a:alphaModFix/>
          </a:blip>
          <a:srcRect b="0" l="0" r="0" t="0"/>
          <a:stretch/>
        </p:blipFill>
        <p:spPr>
          <a:xfrm>
            <a:off x="6529273" y="2112721"/>
            <a:ext cx="291694" cy="291694"/>
          </a:xfrm>
          <a:prstGeom prst="rect">
            <a:avLst/>
          </a:prstGeom>
          <a:noFill/>
          <a:ln>
            <a:noFill/>
          </a:ln>
        </p:spPr>
      </p:pic>
      <p:sp>
        <p:nvSpPr>
          <p:cNvPr id="800" name="Google Shape;800;p19"/>
          <p:cNvSpPr/>
          <p:nvPr/>
        </p:nvSpPr>
        <p:spPr>
          <a:xfrm>
            <a:off x="7050024" y="1874520"/>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Trivy Container Scanning</a:t>
            </a:r>
            <a:endParaRPr b="0" i="0" sz="1200" u="none" cap="none" strike="noStrike">
              <a:solidFill>
                <a:schemeClr val="dk1"/>
              </a:solidFill>
              <a:latin typeface="Calibri"/>
              <a:ea typeface="Calibri"/>
              <a:cs typeface="Calibri"/>
              <a:sym typeface="Calibri"/>
            </a:endParaRPr>
          </a:p>
        </p:txBody>
      </p:sp>
      <p:sp>
        <p:nvSpPr>
          <p:cNvPr id="801" name="Google Shape;801;p19"/>
          <p:cNvSpPr/>
          <p:nvPr/>
        </p:nvSpPr>
        <p:spPr>
          <a:xfrm>
            <a:off x="6272784" y="2743200"/>
            <a:ext cx="2697480" cy="30175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9"/>
          <p:cNvSpPr/>
          <p:nvPr/>
        </p:nvSpPr>
        <p:spPr>
          <a:xfrm>
            <a:off x="6437376" y="2880360"/>
            <a:ext cx="2368296" cy="27432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Secret detection (filesystem scan)</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Container CVE scans (3 images)</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Dockerfile misconfiguration checks</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ignore-unfixed CVEs filtered</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Weekly scheduled re-scan</a:t>
            </a:r>
            <a:endParaRPr b="0" i="0" sz="1050" u="none" cap="none" strike="noStrike">
              <a:solidFill>
                <a:schemeClr val="dk1"/>
              </a:solidFill>
              <a:latin typeface="Calibri"/>
              <a:ea typeface="Calibri"/>
              <a:cs typeface="Calibri"/>
              <a:sym typeface="Calibri"/>
            </a:endParaRPr>
          </a:p>
        </p:txBody>
      </p:sp>
      <p:sp>
        <p:nvSpPr>
          <p:cNvPr id="803" name="Google Shape;803;p19"/>
          <p:cNvSpPr/>
          <p:nvPr/>
        </p:nvSpPr>
        <p:spPr>
          <a:xfrm>
            <a:off x="9134856" y="1874520"/>
            <a:ext cx="2697480" cy="777240"/>
          </a:xfrm>
          <a:prstGeom prst="roundRect">
            <a:avLst>
              <a:gd fmla="val 7059" name="adj"/>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9"/>
          <p:cNvSpPr/>
          <p:nvPr/>
        </p:nvSpPr>
        <p:spPr>
          <a:xfrm>
            <a:off x="9272016" y="1993392"/>
            <a:ext cx="530352" cy="530352"/>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pider_gold.png" id="805" name="Google Shape;805;p19"/>
          <p:cNvPicPr preferRelativeResize="0"/>
          <p:nvPr/>
        </p:nvPicPr>
        <p:blipFill rotWithShape="1">
          <a:blip r:embed="rId6">
            <a:alphaModFix/>
          </a:blip>
          <a:srcRect b="0" l="0" r="0" t="0"/>
          <a:stretch/>
        </p:blipFill>
        <p:spPr>
          <a:xfrm>
            <a:off x="9391345" y="2112721"/>
            <a:ext cx="291694" cy="291694"/>
          </a:xfrm>
          <a:prstGeom prst="rect">
            <a:avLst/>
          </a:prstGeom>
          <a:noFill/>
          <a:ln>
            <a:noFill/>
          </a:ln>
        </p:spPr>
      </p:pic>
      <p:sp>
        <p:nvSpPr>
          <p:cNvPr id="806" name="Google Shape;806;p19"/>
          <p:cNvSpPr/>
          <p:nvPr/>
        </p:nvSpPr>
        <p:spPr>
          <a:xfrm>
            <a:off x="9912096" y="1874520"/>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1A47"/>
              </a:buClr>
              <a:buSzPts val="1200"/>
              <a:buFont typeface="Calibri"/>
              <a:buNone/>
            </a:pPr>
            <a:r>
              <a:rPr b="1" i="0" lang="en-US" sz="1200" u="none" cap="none" strike="noStrike">
                <a:solidFill>
                  <a:srgbClr val="151A47"/>
                </a:solidFill>
                <a:latin typeface="Calibri"/>
                <a:ea typeface="Calibri"/>
                <a:cs typeface="Calibri"/>
                <a:sym typeface="Calibri"/>
              </a:rPr>
              <a:t>OWASP ZAP - DAST</a:t>
            </a:r>
            <a:endParaRPr b="0" i="0" sz="1200" u="none" cap="none" strike="noStrike">
              <a:solidFill>
                <a:schemeClr val="dk1"/>
              </a:solidFill>
              <a:latin typeface="Calibri"/>
              <a:ea typeface="Calibri"/>
              <a:cs typeface="Calibri"/>
              <a:sym typeface="Calibri"/>
            </a:endParaRPr>
          </a:p>
        </p:txBody>
      </p:sp>
      <p:sp>
        <p:nvSpPr>
          <p:cNvPr id="807" name="Google Shape;807;p19"/>
          <p:cNvSpPr/>
          <p:nvPr/>
        </p:nvSpPr>
        <p:spPr>
          <a:xfrm>
            <a:off x="9134856" y="2743200"/>
            <a:ext cx="2697480" cy="3017520"/>
          </a:xfrm>
          <a:prstGeom prst="roundRect">
            <a:avLst>
              <a:gd fmla="val 2712"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9"/>
          <p:cNvSpPr/>
          <p:nvPr/>
        </p:nvSpPr>
        <p:spPr>
          <a:xfrm>
            <a:off x="9299448" y="2880360"/>
            <a:ext cx="2368296" cy="27432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Live attack on running AI service</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Baseline scan (-a, all alerts)</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Checks headers, info disclosure</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HTML/JSON/MD report as artifact</a:t>
            </a:r>
            <a:endParaRPr b="0" i="0" sz="1050" u="none" cap="none" strike="noStrike">
              <a:solidFill>
                <a:schemeClr val="dk1"/>
              </a:solidFill>
              <a:latin typeface="Calibri"/>
              <a:ea typeface="Calibri"/>
              <a:cs typeface="Calibri"/>
              <a:sym typeface="Calibri"/>
            </a:endParaRPr>
          </a:p>
          <a:p>
            <a:pPr indent="-101600" lvl="0" marL="101600" marR="0" rtl="0" algn="l">
              <a:spcBef>
                <a:spcPts val="1000"/>
              </a:spcBef>
              <a:spcAft>
                <a:spcPts val="0"/>
              </a:spcAft>
              <a:buClr>
                <a:srgbClr val="1E2761"/>
              </a:buClr>
              <a:buSzPts val="1050"/>
              <a:buFont typeface="Calibri"/>
              <a:buChar char="•"/>
            </a:pPr>
            <a:r>
              <a:rPr b="0" i="0" lang="en-US" sz="1050" u="none" cap="none" strike="noStrike">
                <a:solidFill>
                  <a:srgbClr val="1E2761"/>
                </a:solidFill>
                <a:latin typeface="Calibri"/>
                <a:ea typeface="Calibri"/>
                <a:cs typeface="Calibri"/>
                <a:sym typeface="Calibri"/>
              </a:rPr>
              <a:t>Result: 0 High/Med/Low findings</a:t>
            </a:r>
            <a:endParaRPr b="0" i="0" sz="1050" u="none" cap="none" strike="noStrike">
              <a:solidFill>
                <a:schemeClr val="dk1"/>
              </a:solidFill>
              <a:latin typeface="Calibri"/>
              <a:ea typeface="Calibri"/>
              <a:cs typeface="Calibri"/>
              <a:sym typeface="Calibri"/>
            </a:endParaRPr>
          </a:p>
        </p:txBody>
      </p:sp>
      <p:sp>
        <p:nvSpPr>
          <p:cNvPr id="809" name="Google Shape;809;p19"/>
          <p:cNvSpPr/>
          <p:nvPr/>
        </p:nvSpPr>
        <p:spPr>
          <a:xfrm>
            <a:off x="548640" y="5943600"/>
            <a:ext cx="11091672" cy="594360"/>
          </a:xfrm>
          <a:prstGeom prst="roundRect">
            <a:avLst>
              <a:gd fmla="val 923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9"/>
          <p:cNvSpPr/>
          <p:nvPr/>
        </p:nvSpPr>
        <p:spPr>
          <a:xfrm>
            <a:off x="548640" y="5943600"/>
            <a:ext cx="11091672"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Built incrementally by the Security Lead, one workflow at a time - each verified green before adding the next. All four workflows pass on every PR to dev.</a:t>
            </a:r>
            <a:endParaRPr b="0" i="0" sz="1200" u="none" cap="none" strike="noStrike">
              <a:solidFill>
                <a:schemeClr val="dk1"/>
              </a:solidFill>
              <a:latin typeface="Calibri"/>
              <a:ea typeface="Calibri"/>
              <a:cs typeface="Calibri"/>
              <a:sym typeface="Calibri"/>
            </a:endParaRPr>
          </a:p>
        </p:txBody>
      </p:sp>
      <p:pic>
        <p:nvPicPr>
          <p:cNvPr descr="/home/claude/slides/logo.png" id="811" name="Google Shape;811;p19"/>
          <p:cNvPicPr preferRelativeResize="0"/>
          <p:nvPr/>
        </p:nvPicPr>
        <p:blipFill rotWithShape="1">
          <a:blip r:embed="rId7">
            <a:alphaModFix/>
          </a:blip>
          <a:srcRect b="0" l="0" r="0" t="0"/>
          <a:stretch/>
        </p:blipFill>
        <p:spPr>
          <a:xfrm>
            <a:off x="11094400" y="109718"/>
            <a:ext cx="1005840" cy="457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816" name="Shape 816"/>
        <p:cNvGrpSpPr/>
        <p:nvPr/>
      </p:nvGrpSpPr>
      <p:grpSpPr>
        <a:xfrm>
          <a:off x="0" y="0"/>
          <a:ext cx="0" cy="0"/>
          <a:chOff x="0" y="0"/>
          <a:chExt cx="0" cy="0"/>
        </a:xfrm>
      </p:grpSpPr>
      <p:sp>
        <p:nvSpPr>
          <p:cNvPr id="817" name="Google Shape;817;p20"/>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818" name="Google Shape;818;p20"/>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819" name="Google Shape;819;p20"/>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
        <p:nvSpPr>
          <p:cNvPr id="820" name="Google Shape;820;p20"/>
          <p:cNvSpPr/>
          <p:nvPr/>
        </p:nvSpPr>
        <p:spPr>
          <a:xfrm>
            <a:off x="9052560" y="1188720"/>
            <a:ext cx="3931920" cy="393192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9692640" y="1828800"/>
            <a:ext cx="2651760" cy="265176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0"/>
          <p:cNvSpPr/>
          <p:nvPr/>
        </p:nvSpPr>
        <p:spPr>
          <a:xfrm>
            <a:off x="10607040" y="2697480"/>
            <a:ext cx="914400" cy="9144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white.png" id="823" name="Google Shape;823;p20"/>
          <p:cNvPicPr preferRelativeResize="0"/>
          <p:nvPr/>
        </p:nvPicPr>
        <p:blipFill rotWithShape="1">
          <a:blip r:embed="rId3">
            <a:alphaModFix/>
          </a:blip>
          <a:srcRect b="0" l="0" r="0" t="0"/>
          <a:stretch/>
        </p:blipFill>
        <p:spPr>
          <a:xfrm>
            <a:off x="10812780" y="2903220"/>
            <a:ext cx="502920" cy="502920"/>
          </a:xfrm>
          <a:prstGeom prst="rect">
            <a:avLst/>
          </a:prstGeom>
          <a:noFill/>
          <a:ln>
            <a:noFill/>
          </a:ln>
        </p:spPr>
      </p:pic>
      <p:sp>
        <p:nvSpPr>
          <p:cNvPr id="824" name="Google Shape;824;p20"/>
          <p:cNvSpPr/>
          <p:nvPr/>
        </p:nvSpPr>
        <p:spPr>
          <a:xfrm>
            <a:off x="548640" y="1280160"/>
            <a:ext cx="36576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58C"/>
              </a:buClr>
              <a:buSzPts val="11000"/>
              <a:buFont typeface="Cambria"/>
              <a:buNone/>
            </a:pPr>
            <a:r>
              <a:rPr b="1" i="0" lang="en-US" sz="11000" u="none" cap="none" strike="noStrike">
                <a:solidFill>
                  <a:srgbClr val="37458C"/>
                </a:solidFill>
                <a:latin typeface="Cambria"/>
                <a:ea typeface="Cambria"/>
                <a:cs typeface="Cambria"/>
                <a:sym typeface="Cambria"/>
              </a:rPr>
              <a:t>05</a:t>
            </a:r>
            <a:endParaRPr b="0" i="0" sz="11000" u="none" cap="none" strike="noStrike">
              <a:solidFill>
                <a:schemeClr val="dk1"/>
              </a:solidFill>
              <a:latin typeface="Calibri"/>
              <a:ea typeface="Calibri"/>
              <a:cs typeface="Calibri"/>
              <a:sym typeface="Calibri"/>
            </a:endParaRPr>
          </a:p>
        </p:txBody>
      </p:sp>
      <p:sp>
        <p:nvSpPr>
          <p:cNvPr id="825" name="Google Shape;825;p20"/>
          <p:cNvSpPr/>
          <p:nvPr/>
        </p:nvSpPr>
        <p:spPr>
          <a:xfrm>
            <a:off x="594360" y="30175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Security</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A800"/>
              </a:buClr>
              <a:buSzPts val="4800"/>
              <a:buFont typeface="Cambria"/>
              <a:buNone/>
            </a:pPr>
            <a:r>
              <a:rPr b="1" i="0" lang="en-US" sz="4800" u="none" cap="none" strike="noStrike">
                <a:solidFill>
                  <a:srgbClr val="F4A800"/>
                </a:solidFill>
                <a:latin typeface="Cambria"/>
                <a:ea typeface="Cambria"/>
                <a:cs typeface="Cambria"/>
                <a:sym typeface="Cambria"/>
              </a:rPr>
              <a:t>by Design</a:t>
            </a:r>
            <a:endParaRPr b="0" i="0" sz="4800" u="none" cap="none" strike="noStrike">
              <a:solidFill>
                <a:schemeClr val="dk1"/>
              </a:solidFill>
              <a:latin typeface="Calibri"/>
              <a:ea typeface="Calibri"/>
              <a:cs typeface="Calibri"/>
              <a:sym typeface="Calibri"/>
            </a:endParaRPr>
          </a:p>
        </p:txBody>
      </p:sp>
      <p:sp>
        <p:nvSpPr>
          <p:cNvPr id="826" name="Google Shape;826;p20"/>
          <p:cNvSpPr/>
          <p:nvPr/>
        </p:nvSpPr>
        <p:spPr>
          <a:xfrm>
            <a:off x="612648" y="443484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Threat model, layered controls, and an automated security pipeline.</a:t>
            </a:r>
            <a:endParaRPr b="0" i="0" sz="1600" u="none" cap="none" strike="noStrike">
              <a:solidFill>
                <a:schemeClr val="dk1"/>
              </a:solidFill>
              <a:latin typeface="Calibri"/>
              <a:ea typeface="Calibri"/>
              <a:cs typeface="Calibri"/>
              <a:sym typeface="Calibri"/>
            </a:endParaRPr>
          </a:p>
        </p:txBody>
      </p:sp>
      <p:pic>
        <p:nvPicPr>
          <p:cNvPr descr="/home/claude/slides/logo_light.png" id="827" name="Google Shape;827;p20"/>
          <p:cNvPicPr preferRelativeResize="0"/>
          <p:nvPr/>
        </p:nvPicPr>
        <p:blipFill rotWithShape="1">
          <a:blip r:embed="rId4">
            <a:alphaModFix/>
          </a:blip>
          <a:srcRect b="0" l="0" r="0" t="0"/>
          <a:stretch/>
        </p:blipFill>
        <p:spPr>
          <a:xfrm>
            <a:off x="10744200" y="201168"/>
            <a:ext cx="1005840" cy="457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21"/>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SECURITY - STRATEGY</a:t>
            </a:r>
            <a:endParaRPr b="0" i="0" sz="1200" u="none" cap="none" strike="noStrike">
              <a:solidFill>
                <a:schemeClr val="dk1"/>
              </a:solidFill>
              <a:latin typeface="Calibri"/>
              <a:ea typeface="Calibri"/>
              <a:cs typeface="Calibri"/>
              <a:sym typeface="Calibri"/>
            </a:endParaRPr>
          </a:p>
        </p:txBody>
      </p:sp>
      <p:sp>
        <p:nvSpPr>
          <p:cNvPr id="834" name="Google Shape;834;p21"/>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Defense in Depth - Our Security Model</a:t>
            </a:r>
            <a:endParaRPr b="0" i="0" sz="3200" u="none" cap="none" strike="noStrike">
              <a:solidFill>
                <a:schemeClr val="dk1"/>
              </a:solidFill>
              <a:latin typeface="Calibri"/>
              <a:ea typeface="Calibri"/>
              <a:cs typeface="Calibri"/>
              <a:sym typeface="Calibri"/>
            </a:endParaRPr>
          </a:p>
        </p:txBody>
      </p:sp>
      <p:sp>
        <p:nvSpPr>
          <p:cNvPr id="835" name="Google Shape;835;p21"/>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836" name="Google Shape;836;p21"/>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837" name="Google Shape;837;p21"/>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sp>
        <p:nvSpPr>
          <p:cNvPr id="838" name="Google Shape;838;p21"/>
          <p:cNvSpPr/>
          <p:nvPr/>
        </p:nvSpPr>
        <p:spPr>
          <a:xfrm>
            <a:off x="548640" y="1325880"/>
            <a:ext cx="11064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BariatricPath handles protected health information (PHI). Security was a design requirement from Sprint 1, not an afterthought - every layer of the stack enforces its own controls so that a failure in one layer doesn't expose the whole system.</a:t>
            </a:r>
            <a:endParaRPr b="0" i="0" sz="1300" u="none" cap="none" strike="noStrike">
              <a:solidFill>
                <a:schemeClr val="dk1"/>
              </a:solidFill>
              <a:latin typeface="Calibri"/>
              <a:ea typeface="Calibri"/>
              <a:cs typeface="Calibri"/>
              <a:sym typeface="Calibri"/>
            </a:endParaRPr>
          </a:p>
        </p:txBody>
      </p:sp>
      <p:sp>
        <p:nvSpPr>
          <p:cNvPr id="839" name="Google Shape;839;p21"/>
          <p:cNvSpPr/>
          <p:nvPr/>
        </p:nvSpPr>
        <p:spPr>
          <a:xfrm>
            <a:off x="548640" y="2148840"/>
            <a:ext cx="2157984"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1"/>
          <p:cNvSpPr/>
          <p:nvPr/>
        </p:nvSpPr>
        <p:spPr>
          <a:xfrm>
            <a:off x="1353312" y="2240280"/>
            <a:ext cx="548640" cy="54864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ingerprint_white.png" id="841" name="Google Shape;841;p21"/>
          <p:cNvPicPr preferRelativeResize="0"/>
          <p:nvPr/>
        </p:nvPicPr>
        <p:blipFill rotWithShape="1">
          <a:blip r:embed="rId3">
            <a:alphaModFix/>
          </a:blip>
          <a:srcRect b="0" l="0" r="0" t="0"/>
          <a:stretch/>
        </p:blipFill>
        <p:spPr>
          <a:xfrm>
            <a:off x="1476756" y="2363724"/>
            <a:ext cx="301752" cy="301752"/>
          </a:xfrm>
          <a:prstGeom prst="rect">
            <a:avLst/>
          </a:prstGeom>
          <a:noFill/>
          <a:ln>
            <a:noFill/>
          </a:ln>
        </p:spPr>
      </p:pic>
      <p:sp>
        <p:nvSpPr>
          <p:cNvPr id="842" name="Google Shape;842;p21"/>
          <p:cNvSpPr/>
          <p:nvPr/>
        </p:nvSpPr>
        <p:spPr>
          <a:xfrm>
            <a:off x="548640" y="3063240"/>
            <a:ext cx="2157984" cy="3063240"/>
          </a:xfrm>
          <a:prstGeom prst="roundRect">
            <a:avLst>
              <a:gd fmla="val 339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1"/>
          <p:cNvSpPr/>
          <p:nvPr/>
        </p:nvSpPr>
        <p:spPr>
          <a:xfrm>
            <a:off x="658368" y="3200400"/>
            <a:ext cx="1938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Identity &amp; Access</a:t>
            </a:r>
            <a:endParaRPr b="0" i="0" sz="1250" u="none" cap="none" strike="noStrike">
              <a:solidFill>
                <a:schemeClr val="dk1"/>
              </a:solidFill>
              <a:latin typeface="Calibri"/>
              <a:ea typeface="Calibri"/>
              <a:cs typeface="Calibri"/>
              <a:sym typeface="Calibri"/>
            </a:endParaRPr>
          </a:p>
        </p:txBody>
      </p:sp>
      <p:sp>
        <p:nvSpPr>
          <p:cNvPr id="844" name="Google Shape;844;p21"/>
          <p:cNvSpPr/>
          <p:nvPr/>
        </p:nvSpPr>
        <p:spPr>
          <a:xfrm>
            <a:off x="694944" y="3657600"/>
            <a:ext cx="1883664" cy="237744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Firebase Authentication (ID tokens, password hashing)</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verifyAuth middleware on every protected route</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Role-Based Access Control (Patient / Coordinator / Director)</a:t>
            </a:r>
            <a:endParaRPr b="0" i="0" sz="1000" u="none" cap="none" strike="noStrike">
              <a:solidFill>
                <a:schemeClr val="dk1"/>
              </a:solidFill>
              <a:latin typeface="Calibri"/>
              <a:ea typeface="Calibri"/>
              <a:cs typeface="Calibri"/>
              <a:sym typeface="Calibri"/>
            </a:endParaRPr>
          </a:p>
        </p:txBody>
      </p:sp>
      <p:sp>
        <p:nvSpPr>
          <p:cNvPr id="845" name="Google Shape;845;p21"/>
          <p:cNvSpPr/>
          <p:nvPr/>
        </p:nvSpPr>
        <p:spPr>
          <a:xfrm>
            <a:off x="2651760" y="2423160"/>
            <a:ext cx="274320" cy="2743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846" name="Google Shape;846;p21"/>
          <p:cNvPicPr preferRelativeResize="0"/>
          <p:nvPr/>
        </p:nvPicPr>
        <p:blipFill rotWithShape="1">
          <a:blip r:embed="rId4">
            <a:alphaModFix/>
          </a:blip>
          <a:srcRect b="0" l="0" r="0" t="0"/>
          <a:stretch/>
        </p:blipFill>
        <p:spPr>
          <a:xfrm>
            <a:off x="2692908" y="2464308"/>
            <a:ext cx="192024" cy="192024"/>
          </a:xfrm>
          <a:prstGeom prst="rect">
            <a:avLst/>
          </a:prstGeom>
          <a:noFill/>
          <a:ln>
            <a:noFill/>
          </a:ln>
        </p:spPr>
      </p:pic>
      <p:sp>
        <p:nvSpPr>
          <p:cNvPr id="847" name="Google Shape;847;p21"/>
          <p:cNvSpPr/>
          <p:nvPr/>
        </p:nvSpPr>
        <p:spPr>
          <a:xfrm>
            <a:off x="2871216" y="2148840"/>
            <a:ext cx="2157984"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3675888" y="2240280"/>
            <a:ext cx="548640" cy="54864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ode_white.png" id="849" name="Google Shape;849;p21"/>
          <p:cNvPicPr preferRelativeResize="0"/>
          <p:nvPr/>
        </p:nvPicPr>
        <p:blipFill rotWithShape="1">
          <a:blip r:embed="rId5">
            <a:alphaModFix/>
          </a:blip>
          <a:srcRect b="0" l="0" r="0" t="0"/>
          <a:stretch/>
        </p:blipFill>
        <p:spPr>
          <a:xfrm>
            <a:off x="3799332" y="2363724"/>
            <a:ext cx="301752" cy="301752"/>
          </a:xfrm>
          <a:prstGeom prst="rect">
            <a:avLst/>
          </a:prstGeom>
          <a:noFill/>
          <a:ln>
            <a:noFill/>
          </a:ln>
        </p:spPr>
      </p:pic>
      <p:sp>
        <p:nvSpPr>
          <p:cNvPr id="850" name="Google Shape;850;p21"/>
          <p:cNvSpPr/>
          <p:nvPr/>
        </p:nvSpPr>
        <p:spPr>
          <a:xfrm>
            <a:off x="2871216" y="3063240"/>
            <a:ext cx="2157984" cy="3063240"/>
          </a:xfrm>
          <a:prstGeom prst="roundRect">
            <a:avLst>
              <a:gd fmla="val 339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2980944" y="3200400"/>
            <a:ext cx="1938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Application Layer</a:t>
            </a:r>
            <a:endParaRPr b="0" i="0" sz="1250" u="none" cap="none" strike="noStrike">
              <a:solidFill>
                <a:schemeClr val="dk1"/>
              </a:solidFill>
              <a:latin typeface="Calibri"/>
              <a:ea typeface="Calibri"/>
              <a:cs typeface="Calibri"/>
              <a:sym typeface="Calibri"/>
            </a:endParaRPr>
          </a:p>
        </p:txBody>
      </p:sp>
      <p:sp>
        <p:nvSpPr>
          <p:cNvPr id="852" name="Google Shape;852;p21"/>
          <p:cNvSpPr/>
          <p:nvPr/>
        </p:nvSpPr>
        <p:spPr>
          <a:xfrm>
            <a:off x="3017520" y="3657600"/>
            <a:ext cx="1883664" cy="237744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Input validation on all forms &amp; API payloads</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Parameterized queries via Prisma (no raw SQL)</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Account-enumeration protection on password reset</a:t>
            </a:r>
            <a:endParaRPr b="0" i="0" sz="1000" u="none" cap="none" strike="noStrike">
              <a:solidFill>
                <a:schemeClr val="dk1"/>
              </a:solidFill>
              <a:latin typeface="Calibri"/>
              <a:ea typeface="Calibri"/>
              <a:cs typeface="Calibri"/>
              <a:sym typeface="Calibri"/>
            </a:endParaRPr>
          </a:p>
        </p:txBody>
      </p:sp>
      <p:sp>
        <p:nvSpPr>
          <p:cNvPr id="853" name="Google Shape;853;p21"/>
          <p:cNvSpPr/>
          <p:nvPr/>
        </p:nvSpPr>
        <p:spPr>
          <a:xfrm>
            <a:off x="4974336" y="2423160"/>
            <a:ext cx="274320" cy="2743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854" name="Google Shape;854;p21"/>
          <p:cNvPicPr preferRelativeResize="0"/>
          <p:nvPr/>
        </p:nvPicPr>
        <p:blipFill rotWithShape="1">
          <a:blip r:embed="rId4">
            <a:alphaModFix/>
          </a:blip>
          <a:srcRect b="0" l="0" r="0" t="0"/>
          <a:stretch/>
        </p:blipFill>
        <p:spPr>
          <a:xfrm>
            <a:off x="5015484" y="2464308"/>
            <a:ext cx="192024" cy="192024"/>
          </a:xfrm>
          <a:prstGeom prst="rect">
            <a:avLst/>
          </a:prstGeom>
          <a:noFill/>
          <a:ln>
            <a:noFill/>
          </a:ln>
        </p:spPr>
      </p:pic>
      <p:sp>
        <p:nvSpPr>
          <p:cNvPr id="855" name="Google Shape;855;p21"/>
          <p:cNvSpPr/>
          <p:nvPr/>
        </p:nvSpPr>
        <p:spPr>
          <a:xfrm>
            <a:off x="5193792" y="2148840"/>
            <a:ext cx="2157984"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a:off x="5998464" y="2240280"/>
            <a:ext cx="548640" cy="54864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database_white.png" id="857" name="Google Shape;857;p21"/>
          <p:cNvPicPr preferRelativeResize="0"/>
          <p:nvPr/>
        </p:nvPicPr>
        <p:blipFill rotWithShape="1">
          <a:blip r:embed="rId6">
            <a:alphaModFix/>
          </a:blip>
          <a:srcRect b="0" l="0" r="0" t="0"/>
          <a:stretch/>
        </p:blipFill>
        <p:spPr>
          <a:xfrm>
            <a:off x="6121908" y="2363724"/>
            <a:ext cx="301752" cy="301752"/>
          </a:xfrm>
          <a:prstGeom prst="rect">
            <a:avLst/>
          </a:prstGeom>
          <a:noFill/>
          <a:ln>
            <a:noFill/>
          </a:ln>
        </p:spPr>
      </p:pic>
      <p:sp>
        <p:nvSpPr>
          <p:cNvPr id="858" name="Google Shape;858;p21"/>
          <p:cNvSpPr/>
          <p:nvPr/>
        </p:nvSpPr>
        <p:spPr>
          <a:xfrm>
            <a:off x="5193792" y="3063240"/>
            <a:ext cx="2157984" cy="3063240"/>
          </a:xfrm>
          <a:prstGeom prst="roundRect">
            <a:avLst>
              <a:gd fmla="val 339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1"/>
          <p:cNvSpPr/>
          <p:nvPr/>
        </p:nvSpPr>
        <p:spPr>
          <a:xfrm>
            <a:off x="5303520" y="3200400"/>
            <a:ext cx="1938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Data &amp; Privacy</a:t>
            </a:r>
            <a:endParaRPr b="0" i="0" sz="1250" u="none" cap="none" strike="noStrike">
              <a:solidFill>
                <a:schemeClr val="dk1"/>
              </a:solidFill>
              <a:latin typeface="Calibri"/>
              <a:ea typeface="Calibri"/>
              <a:cs typeface="Calibri"/>
              <a:sym typeface="Calibri"/>
            </a:endParaRPr>
          </a:p>
        </p:txBody>
      </p:sp>
      <p:sp>
        <p:nvSpPr>
          <p:cNvPr id="860" name="Google Shape;860;p21"/>
          <p:cNvSpPr/>
          <p:nvPr/>
        </p:nvSpPr>
        <p:spPr>
          <a:xfrm>
            <a:off x="5340096" y="3657600"/>
            <a:ext cx="1883664" cy="237744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Append-only AuditLog for every status change</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No plaintext passwords stored anywhere</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Mandatory Privacy Policy &amp; Consent before access (BARI-156)</a:t>
            </a:r>
            <a:endParaRPr b="0" i="0" sz="1000" u="none" cap="none" strike="noStrike">
              <a:solidFill>
                <a:schemeClr val="dk1"/>
              </a:solidFill>
              <a:latin typeface="Calibri"/>
              <a:ea typeface="Calibri"/>
              <a:cs typeface="Calibri"/>
              <a:sym typeface="Calibri"/>
            </a:endParaRPr>
          </a:p>
        </p:txBody>
      </p:sp>
      <p:sp>
        <p:nvSpPr>
          <p:cNvPr id="861" name="Google Shape;861;p21"/>
          <p:cNvSpPr/>
          <p:nvPr/>
        </p:nvSpPr>
        <p:spPr>
          <a:xfrm>
            <a:off x="7296912" y="2423160"/>
            <a:ext cx="274320" cy="2743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862" name="Google Shape;862;p21"/>
          <p:cNvPicPr preferRelativeResize="0"/>
          <p:nvPr/>
        </p:nvPicPr>
        <p:blipFill rotWithShape="1">
          <a:blip r:embed="rId4">
            <a:alphaModFix/>
          </a:blip>
          <a:srcRect b="0" l="0" r="0" t="0"/>
          <a:stretch/>
        </p:blipFill>
        <p:spPr>
          <a:xfrm>
            <a:off x="7338060" y="2464308"/>
            <a:ext cx="192024" cy="192024"/>
          </a:xfrm>
          <a:prstGeom prst="rect">
            <a:avLst/>
          </a:prstGeom>
          <a:noFill/>
          <a:ln>
            <a:noFill/>
          </a:ln>
        </p:spPr>
      </p:pic>
      <p:sp>
        <p:nvSpPr>
          <p:cNvPr id="863" name="Google Shape;863;p21"/>
          <p:cNvSpPr/>
          <p:nvPr/>
        </p:nvSpPr>
        <p:spPr>
          <a:xfrm>
            <a:off x="7516368" y="2148840"/>
            <a:ext cx="2157984" cy="777240"/>
          </a:xfrm>
          <a:prstGeom prst="roundRect">
            <a:avLst>
              <a:gd fmla="val 705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1"/>
          <p:cNvSpPr/>
          <p:nvPr/>
        </p:nvSpPr>
        <p:spPr>
          <a:xfrm>
            <a:off x="8321040" y="2240280"/>
            <a:ext cx="548640" cy="54864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network_white.png" id="865" name="Google Shape;865;p21"/>
          <p:cNvPicPr preferRelativeResize="0"/>
          <p:nvPr/>
        </p:nvPicPr>
        <p:blipFill rotWithShape="1">
          <a:blip r:embed="rId7">
            <a:alphaModFix/>
          </a:blip>
          <a:srcRect b="0" l="0" r="0" t="0"/>
          <a:stretch/>
        </p:blipFill>
        <p:spPr>
          <a:xfrm>
            <a:off x="8444484" y="2363724"/>
            <a:ext cx="301752" cy="301752"/>
          </a:xfrm>
          <a:prstGeom prst="rect">
            <a:avLst/>
          </a:prstGeom>
          <a:noFill/>
          <a:ln>
            <a:noFill/>
          </a:ln>
        </p:spPr>
      </p:pic>
      <p:sp>
        <p:nvSpPr>
          <p:cNvPr id="866" name="Google Shape;866;p21"/>
          <p:cNvSpPr/>
          <p:nvPr/>
        </p:nvSpPr>
        <p:spPr>
          <a:xfrm>
            <a:off x="7516368" y="3063240"/>
            <a:ext cx="2157984" cy="3063240"/>
          </a:xfrm>
          <a:prstGeom prst="roundRect">
            <a:avLst>
              <a:gd fmla="val 339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1"/>
          <p:cNvSpPr/>
          <p:nvPr/>
        </p:nvSpPr>
        <p:spPr>
          <a:xfrm>
            <a:off x="7626096" y="3200400"/>
            <a:ext cx="1938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Network &amp; Infra</a:t>
            </a:r>
            <a:endParaRPr b="0" i="0" sz="1250" u="none" cap="none" strike="noStrike">
              <a:solidFill>
                <a:schemeClr val="dk1"/>
              </a:solidFill>
              <a:latin typeface="Calibri"/>
              <a:ea typeface="Calibri"/>
              <a:cs typeface="Calibri"/>
              <a:sym typeface="Calibri"/>
            </a:endParaRPr>
          </a:p>
        </p:txBody>
      </p:sp>
      <p:sp>
        <p:nvSpPr>
          <p:cNvPr id="868" name="Google Shape;868;p21"/>
          <p:cNvSpPr/>
          <p:nvPr/>
        </p:nvSpPr>
        <p:spPr>
          <a:xfrm>
            <a:off x="7662672" y="3657600"/>
            <a:ext cx="1883664" cy="237744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AI service isolated on internal Docker network only</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HTTPS via Nginx reverse proxy in production</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Secrets managed via environment variables, never committed</a:t>
            </a:r>
            <a:endParaRPr b="0" i="0" sz="1000" u="none" cap="none" strike="noStrike">
              <a:solidFill>
                <a:schemeClr val="dk1"/>
              </a:solidFill>
              <a:latin typeface="Calibri"/>
              <a:ea typeface="Calibri"/>
              <a:cs typeface="Calibri"/>
              <a:sym typeface="Calibri"/>
            </a:endParaRPr>
          </a:p>
        </p:txBody>
      </p:sp>
      <p:sp>
        <p:nvSpPr>
          <p:cNvPr id="869" name="Google Shape;869;p21"/>
          <p:cNvSpPr/>
          <p:nvPr/>
        </p:nvSpPr>
        <p:spPr>
          <a:xfrm>
            <a:off x="9619488" y="2423160"/>
            <a:ext cx="274320" cy="2743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arrowright_navy.png" id="870" name="Google Shape;870;p21"/>
          <p:cNvPicPr preferRelativeResize="0"/>
          <p:nvPr/>
        </p:nvPicPr>
        <p:blipFill rotWithShape="1">
          <a:blip r:embed="rId4">
            <a:alphaModFix/>
          </a:blip>
          <a:srcRect b="0" l="0" r="0" t="0"/>
          <a:stretch/>
        </p:blipFill>
        <p:spPr>
          <a:xfrm>
            <a:off x="9660636" y="2464308"/>
            <a:ext cx="192024" cy="192024"/>
          </a:xfrm>
          <a:prstGeom prst="rect">
            <a:avLst/>
          </a:prstGeom>
          <a:noFill/>
          <a:ln>
            <a:noFill/>
          </a:ln>
        </p:spPr>
      </p:pic>
      <p:sp>
        <p:nvSpPr>
          <p:cNvPr id="871" name="Google Shape;871;p21"/>
          <p:cNvSpPr/>
          <p:nvPr/>
        </p:nvSpPr>
        <p:spPr>
          <a:xfrm>
            <a:off x="9838944" y="2148840"/>
            <a:ext cx="2157984" cy="777240"/>
          </a:xfrm>
          <a:prstGeom prst="roundRect">
            <a:avLst>
              <a:gd fmla="val 7059" name="adj"/>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a:off x="10643616" y="2240280"/>
            <a:ext cx="548640" cy="54864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earch_navy.png" id="873" name="Google Shape;873;p21"/>
          <p:cNvPicPr preferRelativeResize="0"/>
          <p:nvPr/>
        </p:nvPicPr>
        <p:blipFill rotWithShape="1">
          <a:blip r:embed="rId8">
            <a:alphaModFix/>
          </a:blip>
          <a:srcRect b="0" l="0" r="0" t="0"/>
          <a:stretch/>
        </p:blipFill>
        <p:spPr>
          <a:xfrm>
            <a:off x="10767060" y="2363724"/>
            <a:ext cx="301752" cy="301752"/>
          </a:xfrm>
          <a:prstGeom prst="rect">
            <a:avLst/>
          </a:prstGeom>
          <a:noFill/>
          <a:ln>
            <a:noFill/>
          </a:ln>
        </p:spPr>
      </p:pic>
      <p:sp>
        <p:nvSpPr>
          <p:cNvPr id="874" name="Google Shape;874;p21"/>
          <p:cNvSpPr/>
          <p:nvPr/>
        </p:nvSpPr>
        <p:spPr>
          <a:xfrm>
            <a:off x="9838944" y="3063240"/>
            <a:ext cx="2157984" cy="3063240"/>
          </a:xfrm>
          <a:prstGeom prst="roundRect">
            <a:avLst>
              <a:gd fmla="val 339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9948672" y="3200400"/>
            <a:ext cx="1938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Continuous Verification</a:t>
            </a:r>
            <a:endParaRPr b="0" i="0" sz="1250" u="none" cap="none" strike="noStrike">
              <a:solidFill>
                <a:schemeClr val="dk1"/>
              </a:solidFill>
              <a:latin typeface="Calibri"/>
              <a:ea typeface="Calibri"/>
              <a:cs typeface="Calibri"/>
              <a:sym typeface="Calibri"/>
            </a:endParaRPr>
          </a:p>
        </p:txBody>
      </p:sp>
      <p:sp>
        <p:nvSpPr>
          <p:cNvPr id="876" name="Google Shape;876;p21"/>
          <p:cNvSpPr/>
          <p:nvPr/>
        </p:nvSpPr>
        <p:spPr>
          <a:xfrm>
            <a:off x="9985248" y="3657600"/>
            <a:ext cx="1883664" cy="237744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SAST (CodeQL) on every PR + weekly</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Container/secret scanning (Trivy)</a:t>
            </a:r>
            <a:endParaRPr b="0" i="0" sz="1000" u="none" cap="none" strike="noStrike">
              <a:solidFill>
                <a:schemeClr val="dk1"/>
              </a:solidFill>
              <a:latin typeface="Calibri"/>
              <a:ea typeface="Calibri"/>
              <a:cs typeface="Calibri"/>
              <a:sym typeface="Calibri"/>
            </a:endParaRPr>
          </a:p>
          <a:p>
            <a:pPr indent="-101600" lvl="0" marL="101600" marR="0" rtl="0" algn="l">
              <a:spcBef>
                <a:spcPts val="800"/>
              </a:spcBef>
              <a:spcAft>
                <a:spcPts val="0"/>
              </a:spcAft>
              <a:buClr>
                <a:srgbClr val="1E2761"/>
              </a:buClr>
              <a:buSzPts val="1000"/>
              <a:buFont typeface="Calibri"/>
              <a:buChar char="•"/>
            </a:pPr>
            <a:r>
              <a:rPr b="0" i="0" lang="en-US" sz="1000" u="none" cap="none" strike="noStrike">
                <a:solidFill>
                  <a:srgbClr val="1E2761"/>
                </a:solidFill>
                <a:latin typeface="Calibri"/>
                <a:ea typeface="Calibri"/>
                <a:cs typeface="Calibri"/>
                <a:sym typeface="Calibri"/>
              </a:rPr>
              <a:t>DAST (OWASP ZAP) against the running AI service</a:t>
            </a:r>
            <a:endParaRPr b="0" i="0" sz="1000" u="none" cap="none" strike="noStrike">
              <a:solidFill>
                <a:schemeClr val="dk1"/>
              </a:solidFill>
              <a:latin typeface="Calibri"/>
              <a:ea typeface="Calibri"/>
              <a:cs typeface="Calibri"/>
              <a:sym typeface="Calibri"/>
            </a:endParaRPr>
          </a:p>
        </p:txBody>
      </p:sp>
      <p:sp>
        <p:nvSpPr>
          <p:cNvPr id="877" name="Google Shape;877;p21"/>
          <p:cNvSpPr/>
          <p:nvPr/>
        </p:nvSpPr>
        <p:spPr>
          <a:xfrm>
            <a:off x="548640" y="6263640"/>
            <a:ext cx="110916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1" lang="en-US" sz="950" u="none" cap="none" strike="noStrike">
                <a:solidFill>
                  <a:srgbClr val="5B6B8C"/>
                </a:solidFill>
                <a:latin typeface="Calibri"/>
                <a:ea typeface="Calibri"/>
                <a:cs typeface="Calibri"/>
                <a:sym typeface="Calibri"/>
              </a:rPr>
              <a:t>Layer 1: Who are you?  -&gt;  Layer 2: What are you allowed to send?  -&gt;  Layer 3: Is your data protected at rest?  -&gt;  Layer 4: Can attackers reach internal services?  -&gt;  Layer 5: Are we still secure as code changes?</a:t>
            </a:r>
            <a:endParaRPr b="0" i="0" sz="950" u="none" cap="none" strike="noStrike">
              <a:solidFill>
                <a:schemeClr val="dk1"/>
              </a:solidFill>
              <a:latin typeface="Calibri"/>
              <a:ea typeface="Calibri"/>
              <a:cs typeface="Calibri"/>
              <a:sym typeface="Calibri"/>
            </a:endParaRPr>
          </a:p>
        </p:txBody>
      </p:sp>
      <p:pic>
        <p:nvPicPr>
          <p:cNvPr descr="/home/claude/slides/logo.png" id="878" name="Google Shape;878;p21"/>
          <p:cNvPicPr preferRelativeResize="0"/>
          <p:nvPr/>
        </p:nvPicPr>
        <p:blipFill rotWithShape="1">
          <a:blip r:embed="rId9">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3" name="Shape 883"/>
        <p:cNvGrpSpPr/>
        <p:nvPr/>
      </p:nvGrpSpPr>
      <p:grpSpPr>
        <a:xfrm>
          <a:off x="0" y="0"/>
          <a:ext cx="0" cy="0"/>
          <a:chOff x="0" y="0"/>
          <a:chExt cx="0" cy="0"/>
        </a:xfrm>
      </p:grpSpPr>
      <p:sp>
        <p:nvSpPr>
          <p:cNvPr id="884" name="Google Shape;884;p22"/>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SECURITY - THREAT MODELING</a:t>
            </a:r>
            <a:endParaRPr b="0" i="0" sz="1200" u="none" cap="none" strike="noStrike">
              <a:solidFill>
                <a:schemeClr val="dk1"/>
              </a:solidFill>
              <a:latin typeface="Calibri"/>
              <a:ea typeface="Calibri"/>
              <a:cs typeface="Calibri"/>
              <a:sym typeface="Calibri"/>
            </a:endParaRPr>
          </a:p>
        </p:txBody>
      </p:sp>
      <p:sp>
        <p:nvSpPr>
          <p:cNvPr id="885" name="Google Shape;885;p22"/>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Threat Model: Key Risks &amp; Mitigations</a:t>
            </a:r>
            <a:endParaRPr b="0" i="0" sz="3200" u="none" cap="none" strike="noStrike">
              <a:solidFill>
                <a:schemeClr val="dk1"/>
              </a:solidFill>
              <a:latin typeface="Calibri"/>
              <a:ea typeface="Calibri"/>
              <a:cs typeface="Calibri"/>
              <a:sym typeface="Calibri"/>
            </a:endParaRPr>
          </a:p>
        </p:txBody>
      </p:sp>
      <p:sp>
        <p:nvSpPr>
          <p:cNvPr id="886" name="Google Shape;886;p22"/>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887" name="Google Shape;887;p22"/>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888" name="Google Shape;888;p22"/>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
        <p:nvSpPr>
          <p:cNvPr id="889" name="Google Shape;889;p22"/>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STRIDE-informed review of the patient data and AI chat flows - the highest-value targets given the PHI involved.</a:t>
            </a:r>
            <a:endParaRPr b="0" i="0" sz="1300" u="none" cap="none" strike="noStrike">
              <a:solidFill>
                <a:schemeClr val="dk1"/>
              </a:solidFill>
              <a:latin typeface="Calibri"/>
              <a:ea typeface="Calibri"/>
              <a:cs typeface="Calibri"/>
              <a:sym typeface="Calibri"/>
            </a:endParaRPr>
          </a:p>
        </p:txBody>
      </p:sp>
      <p:graphicFrame>
        <p:nvGraphicFramePr>
          <p:cNvPr id="890" name="Google Shape;890;p22"/>
          <p:cNvGraphicFramePr/>
          <p:nvPr/>
        </p:nvGraphicFramePr>
        <p:xfrm>
          <a:off x="548640" y="1783080"/>
          <a:ext cx="3000000" cy="3000000"/>
        </p:xfrm>
        <a:graphic>
          <a:graphicData uri="http://schemas.openxmlformats.org/drawingml/2006/table">
            <a:tbl>
              <a:tblPr>
                <a:noFill/>
                <a:tableStyleId>{955ED656-998D-43FE-8ED1-5B3E3F8F77ED}</a:tableStyleId>
              </a:tblPr>
              <a:tblGrid>
                <a:gridCol w="1554475"/>
                <a:gridCol w="3840475"/>
                <a:gridCol w="4114800"/>
                <a:gridCol w="1581900"/>
              </a:tblGrid>
              <a:tr h="5669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STRIDE Category</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Risk Scenario</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Mitigation</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Status</a:t>
                      </a:r>
                      <a:endParaRPr sz="11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E2761"/>
                    </a:solidFill>
                  </a:tcPr>
                </a:tc>
              </a:tr>
              <a:tr h="566925">
                <a:tc>
                  <a:txBody>
                    <a:bodyPr/>
                    <a:lstStyle/>
                    <a:p>
                      <a:pPr indent="0" lvl="0" marL="0" marR="0" rtl="0" algn="l">
                        <a:spcBef>
                          <a:spcPts val="0"/>
                        </a:spcBef>
                        <a:spcAft>
                          <a:spcPts val="0"/>
                        </a:spcAft>
                        <a:buClr>
                          <a:srgbClr val="1E2761"/>
                        </a:buClr>
                        <a:buSzPts val="950"/>
                        <a:buFont typeface="Calibri"/>
                        <a:buNone/>
                      </a:pPr>
                      <a:r>
                        <a:rPr b="1" lang="en-US" sz="950" u="none" cap="none" strike="noStrike">
                          <a:solidFill>
                            <a:srgbClr val="1E2761"/>
                          </a:solidFill>
                          <a:latin typeface="Calibri"/>
                          <a:ea typeface="Calibri"/>
                          <a:cs typeface="Calibri"/>
                          <a:sym typeface="Calibri"/>
                        </a:rPr>
                        <a:t>Spoofing</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An attacker impersonates a patient or coordinator to access records they shouldn't see.</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Firebase ID tokens (signed JWTs) verified server-side on every request; no client-trusted role claims.</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C9F45"/>
                        </a:buClr>
                        <a:buSzPts val="950"/>
                        <a:buFont typeface="Calibri"/>
                        <a:buNone/>
                      </a:pPr>
                      <a:r>
                        <a:rPr b="1" lang="en-US" sz="950" u="none" cap="none" strike="noStrike">
                          <a:solidFill>
                            <a:srgbClr val="2C9F45"/>
                          </a:solidFill>
                          <a:latin typeface="Calibri"/>
                          <a:ea typeface="Calibri"/>
                          <a:cs typeface="Calibri"/>
                          <a:sym typeface="Calibri"/>
                        </a:rPr>
                        <a:t>Mitigated</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566925">
                <a:tc>
                  <a:txBody>
                    <a:bodyPr/>
                    <a:lstStyle/>
                    <a:p>
                      <a:pPr indent="0" lvl="0" marL="0" marR="0" rtl="0" algn="l">
                        <a:spcBef>
                          <a:spcPts val="0"/>
                        </a:spcBef>
                        <a:spcAft>
                          <a:spcPts val="0"/>
                        </a:spcAft>
                        <a:buClr>
                          <a:srgbClr val="1E2761"/>
                        </a:buClr>
                        <a:buSzPts val="950"/>
                        <a:buFont typeface="Calibri"/>
                        <a:buNone/>
                      </a:pPr>
                      <a:r>
                        <a:rPr b="1" lang="en-US" sz="950" u="none" cap="none" strike="noStrike">
                          <a:solidFill>
                            <a:srgbClr val="1E2761"/>
                          </a:solidFill>
                          <a:latin typeface="Calibri"/>
                          <a:ea typeface="Calibri"/>
                          <a:cs typeface="Calibri"/>
                          <a:sym typeface="Calibri"/>
                        </a:rPr>
                        <a:t>Tampering</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 user modifies request payloads to alter another patient's clinical/insurance data.</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Server-side RBAC + Prisma ownership checks; all writes go through verifyAuth before reaching routes.</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C9F45"/>
                        </a:buClr>
                        <a:buSzPts val="950"/>
                        <a:buFont typeface="Calibri"/>
                        <a:buNone/>
                      </a:pPr>
                      <a:r>
                        <a:rPr b="1" lang="en-US" sz="950" u="none" cap="none" strike="noStrike">
                          <a:solidFill>
                            <a:srgbClr val="2C9F45"/>
                          </a:solidFill>
                          <a:latin typeface="Calibri"/>
                          <a:ea typeface="Calibri"/>
                          <a:cs typeface="Calibri"/>
                          <a:sym typeface="Calibri"/>
                        </a:rPr>
                        <a:t>Mitigated</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566925">
                <a:tc>
                  <a:txBody>
                    <a:bodyPr/>
                    <a:lstStyle/>
                    <a:p>
                      <a:pPr indent="0" lvl="0" marL="0" marR="0" rtl="0" algn="l">
                        <a:spcBef>
                          <a:spcPts val="0"/>
                        </a:spcBef>
                        <a:spcAft>
                          <a:spcPts val="0"/>
                        </a:spcAft>
                        <a:buClr>
                          <a:srgbClr val="1E2761"/>
                        </a:buClr>
                        <a:buSzPts val="950"/>
                        <a:buFont typeface="Calibri"/>
                        <a:buNone/>
                      </a:pPr>
                      <a:r>
                        <a:rPr b="1" lang="en-US" sz="950" u="none" cap="none" strike="noStrike">
                          <a:solidFill>
                            <a:srgbClr val="1E2761"/>
                          </a:solidFill>
                          <a:latin typeface="Calibri"/>
                          <a:ea typeface="Calibri"/>
                          <a:cs typeface="Calibri"/>
                          <a:sym typeface="Calibri"/>
                        </a:rPr>
                        <a:t>Repudiation</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 coordinator denies making a status change that affected a patient's care pathway.</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Append-only AuditLog records who, what, old/new value, and timestamp for every change - immutable.</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C9F45"/>
                        </a:buClr>
                        <a:buSzPts val="950"/>
                        <a:buFont typeface="Calibri"/>
                        <a:buNone/>
                      </a:pPr>
                      <a:r>
                        <a:rPr b="1" lang="en-US" sz="950" u="none" cap="none" strike="noStrike">
                          <a:solidFill>
                            <a:srgbClr val="2C9F45"/>
                          </a:solidFill>
                          <a:latin typeface="Calibri"/>
                          <a:ea typeface="Calibri"/>
                          <a:cs typeface="Calibri"/>
                          <a:sym typeface="Calibri"/>
                        </a:rPr>
                        <a:t>Mitigated</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566925">
                <a:tc>
                  <a:txBody>
                    <a:bodyPr/>
                    <a:lstStyle/>
                    <a:p>
                      <a:pPr indent="0" lvl="0" marL="0" marR="0" rtl="0" algn="l">
                        <a:spcBef>
                          <a:spcPts val="0"/>
                        </a:spcBef>
                        <a:spcAft>
                          <a:spcPts val="0"/>
                        </a:spcAft>
                        <a:buClr>
                          <a:srgbClr val="1E2761"/>
                        </a:buClr>
                        <a:buSzPts val="950"/>
                        <a:buFont typeface="Calibri"/>
                        <a:buNone/>
                      </a:pPr>
                      <a:r>
                        <a:rPr b="1" lang="en-US" sz="950" u="none" cap="none" strike="noStrike">
                          <a:solidFill>
                            <a:srgbClr val="1E2761"/>
                          </a:solidFill>
                          <a:latin typeface="Calibri"/>
                          <a:ea typeface="Calibri"/>
                          <a:cs typeface="Calibri"/>
                          <a:sym typeface="Calibri"/>
                        </a:rPr>
                        <a:t>Information Disclosure (IDOR)</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Object-level access control gap - could a user fetch another user's patient record by guessing an ID?</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Documented gap owned by Security Lead; ownership checks added to patient routes; tracked for Iteration 3 hardening.</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D9822B"/>
                        </a:buClr>
                        <a:buSzPts val="950"/>
                        <a:buFont typeface="Calibri"/>
                        <a:buNone/>
                      </a:pPr>
                      <a:r>
                        <a:rPr b="1" lang="en-US" sz="950" u="none" cap="none" strike="noStrike">
                          <a:solidFill>
                            <a:srgbClr val="D9822B"/>
                          </a:solidFill>
                          <a:latin typeface="Calibri"/>
                          <a:ea typeface="Calibri"/>
                          <a:cs typeface="Calibri"/>
                          <a:sym typeface="Calibri"/>
                        </a:rPr>
                        <a:t>Tracked</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566925">
                <a:tc>
                  <a:txBody>
                    <a:bodyPr/>
                    <a:lstStyle/>
                    <a:p>
                      <a:pPr indent="0" lvl="0" marL="0" marR="0" rtl="0" algn="l">
                        <a:spcBef>
                          <a:spcPts val="0"/>
                        </a:spcBef>
                        <a:spcAft>
                          <a:spcPts val="0"/>
                        </a:spcAft>
                        <a:buClr>
                          <a:srgbClr val="1E2761"/>
                        </a:buClr>
                        <a:buSzPts val="950"/>
                        <a:buFont typeface="Calibri"/>
                        <a:buNone/>
                      </a:pPr>
                      <a:r>
                        <a:rPr b="1" lang="en-US" sz="950" u="none" cap="none" strike="noStrike">
                          <a:solidFill>
                            <a:srgbClr val="1E2761"/>
                          </a:solidFill>
                          <a:latin typeface="Calibri"/>
                          <a:ea typeface="Calibri"/>
                          <a:cs typeface="Calibri"/>
                          <a:sym typeface="Calibri"/>
                        </a:rPr>
                        <a:t>Denial of Service</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AI service or DB overwhelmed by repeated chatbot requests.</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AI service isolated on internal network (not internet-facing); rate-limiting identified as a future hardening item.</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D9822B"/>
                        </a:buClr>
                        <a:buSzPts val="950"/>
                        <a:buFont typeface="Calibri"/>
                        <a:buNone/>
                      </a:pPr>
                      <a:r>
                        <a:rPr b="1" lang="en-US" sz="950" u="none" cap="none" strike="noStrike">
                          <a:solidFill>
                            <a:srgbClr val="D9822B"/>
                          </a:solidFill>
                          <a:latin typeface="Calibri"/>
                          <a:ea typeface="Calibri"/>
                          <a:cs typeface="Calibri"/>
                          <a:sym typeface="Calibri"/>
                        </a:rPr>
                        <a:t>Tracked</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566925">
                <a:tc>
                  <a:txBody>
                    <a:bodyPr/>
                    <a:lstStyle/>
                    <a:p>
                      <a:pPr indent="0" lvl="0" marL="0" marR="0" rtl="0" algn="l">
                        <a:spcBef>
                          <a:spcPts val="0"/>
                        </a:spcBef>
                        <a:spcAft>
                          <a:spcPts val="0"/>
                        </a:spcAft>
                        <a:buClr>
                          <a:srgbClr val="1E2761"/>
                        </a:buClr>
                        <a:buSzPts val="950"/>
                        <a:buFont typeface="Calibri"/>
                        <a:buNone/>
                      </a:pPr>
                      <a:r>
                        <a:rPr b="1" lang="en-US" sz="950" u="none" cap="none" strike="noStrike">
                          <a:solidFill>
                            <a:srgbClr val="1E2761"/>
                          </a:solidFill>
                          <a:latin typeface="Calibri"/>
                          <a:ea typeface="Calibri"/>
                          <a:cs typeface="Calibri"/>
                          <a:sym typeface="Calibri"/>
                        </a:rPr>
                        <a:t>Elevation of Privilege</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A patient-role user attempts to call coordinator/director-only endpoints or AI prompts.</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900"/>
                        <a:buFont typeface="Calibri"/>
                        <a:buNone/>
                      </a:pPr>
                      <a:r>
                        <a:rPr lang="en-US" sz="900" u="none" cap="none" strike="noStrike">
                          <a:solidFill>
                            <a:srgbClr val="1E2761"/>
                          </a:solidFill>
                          <a:latin typeface="Calibri"/>
                          <a:ea typeface="Calibri"/>
                          <a:cs typeface="Calibri"/>
                          <a:sym typeface="Calibri"/>
                        </a:rPr>
                        <a:t>Role passed server-side from verified token (not client input); role-based prompt templates enforced in rag.py.</a:t>
                      </a:r>
                      <a:endParaRPr sz="9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ctr">
                        <a:spcBef>
                          <a:spcPts val="0"/>
                        </a:spcBef>
                        <a:spcAft>
                          <a:spcPts val="0"/>
                        </a:spcAft>
                        <a:buClr>
                          <a:srgbClr val="2C9F45"/>
                        </a:buClr>
                        <a:buSzPts val="950"/>
                        <a:buFont typeface="Calibri"/>
                        <a:buNone/>
                      </a:pPr>
                      <a:r>
                        <a:rPr b="1" lang="en-US" sz="950" u="none" cap="none" strike="noStrike">
                          <a:solidFill>
                            <a:srgbClr val="2C9F45"/>
                          </a:solidFill>
                          <a:latin typeface="Calibri"/>
                          <a:ea typeface="Calibri"/>
                          <a:cs typeface="Calibri"/>
                          <a:sym typeface="Calibri"/>
                        </a:rPr>
                        <a:t>Mitigated</a:t>
                      </a:r>
                      <a:endParaRPr sz="95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sp>
        <p:nvSpPr>
          <p:cNvPr id="891" name="Google Shape;891;p22"/>
          <p:cNvSpPr/>
          <p:nvPr/>
        </p:nvSpPr>
        <p:spPr>
          <a:xfrm>
            <a:off x="548640" y="6199632"/>
            <a:ext cx="11091672" cy="365760"/>
          </a:xfrm>
          <a:prstGeom prst="roundRect">
            <a:avLst>
              <a:gd fmla="val 15000"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658368" y="6236208"/>
            <a:ext cx="292608" cy="29260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shield_navy.png" id="893" name="Google Shape;893;p22"/>
          <p:cNvPicPr preferRelativeResize="0"/>
          <p:nvPr/>
        </p:nvPicPr>
        <p:blipFill rotWithShape="1">
          <a:blip r:embed="rId3">
            <a:alphaModFix/>
          </a:blip>
          <a:srcRect b="0" l="0" r="0" t="0"/>
          <a:stretch/>
        </p:blipFill>
        <p:spPr>
          <a:xfrm>
            <a:off x="716890" y="6294730"/>
            <a:ext cx="175565" cy="175565"/>
          </a:xfrm>
          <a:prstGeom prst="rect">
            <a:avLst/>
          </a:prstGeom>
          <a:noFill/>
          <a:ln>
            <a:noFill/>
          </a:ln>
        </p:spPr>
      </p:pic>
      <p:sp>
        <p:nvSpPr>
          <p:cNvPr id="894" name="Google Shape;894;p22"/>
          <p:cNvSpPr/>
          <p:nvPr/>
        </p:nvSpPr>
        <p:spPr>
          <a:xfrm>
            <a:off x="1051560" y="6199632"/>
            <a:ext cx="10424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b="0" i="1" lang="en-US" sz="1000" u="none" cap="none" strike="noStrike">
                <a:solidFill>
                  <a:srgbClr val="1E2761"/>
                </a:solidFill>
                <a:latin typeface="Calibri"/>
                <a:ea typeface="Calibri"/>
                <a:cs typeface="Calibri"/>
                <a:sym typeface="Calibri"/>
              </a:rPr>
              <a:t>IDOR (object-level access control) is our most actively tracked gap - owned by the Security Lead and on the Iteration 3 hardening backlog.</a:t>
            </a:r>
            <a:endParaRPr b="0" i="0" sz="1000" u="none" cap="none" strike="noStrike">
              <a:solidFill>
                <a:schemeClr val="dk1"/>
              </a:solidFill>
              <a:latin typeface="Calibri"/>
              <a:ea typeface="Calibri"/>
              <a:cs typeface="Calibri"/>
              <a:sym typeface="Calibri"/>
            </a:endParaRPr>
          </a:p>
        </p:txBody>
      </p:sp>
      <p:pic>
        <p:nvPicPr>
          <p:cNvPr descr="/home/claude/slides/logo.png" id="895" name="Google Shape;895;p22"/>
          <p:cNvPicPr preferRelativeResize="0"/>
          <p:nvPr/>
        </p:nvPicPr>
        <p:blipFill rotWithShape="1">
          <a:blip r:embed="rId4">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Google Shape;901;p23"/>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SECURITY - DYNAMIC APPLICATION SECURITY TESTING</a:t>
            </a:r>
            <a:endParaRPr b="0" i="0" sz="1200" u="none" cap="none" strike="noStrike">
              <a:solidFill>
                <a:schemeClr val="dk1"/>
              </a:solidFill>
              <a:latin typeface="Calibri"/>
              <a:ea typeface="Calibri"/>
              <a:cs typeface="Calibri"/>
              <a:sym typeface="Calibri"/>
            </a:endParaRPr>
          </a:p>
        </p:txBody>
      </p:sp>
      <p:sp>
        <p:nvSpPr>
          <p:cNvPr id="902" name="Google Shape;902;p23"/>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OWASP ZAP: Live Attack Simulation Results</a:t>
            </a:r>
            <a:endParaRPr b="0" i="0" sz="3200" u="none" cap="none" strike="noStrike">
              <a:solidFill>
                <a:schemeClr val="dk1"/>
              </a:solidFill>
              <a:latin typeface="Calibri"/>
              <a:ea typeface="Calibri"/>
              <a:cs typeface="Calibri"/>
              <a:sym typeface="Calibri"/>
            </a:endParaRPr>
          </a:p>
        </p:txBody>
      </p:sp>
      <p:sp>
        <p:nvSpPr>
          <p:cNvPr id="903" name="Google Shape;903;p23"/>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904" name="Google Shape;904;p23"/>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905" name="Google Shape;905;p23"/>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
        <p:nvSpPr>
          <p:cNvPr id="906" name="Google Shape;906;p23"/>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ZAP (Zed Attack Proxy) runs an automated baseline scan against the live AI service before every merge - simulating real attacker reconnaissance.</a:t>
            </a:r>
            <a:endParaRPr b="0" i="0" sz="1300" u="none" cap="none" strike="noStrike">
              <a:solidFill>
                <a:schemeClr val="dk1"/>
              </a:solidFill>
              <a:latin typeface="Calibri"/>
              <a:ea typeface="Calibri"/>
              <a:cs typeface="Calibri"/>
              <a:sym typeface="Calibri"/>
            </a:endParaRPr>
          </a:p>
        </p:txBody>
      </p:sp>
      <p:sp>
        <p:nvSpPr>
          <p:cNvPr id="907" name="Google Shape;907;p23"/>
          <p:cNvSpPr/>
          <p:nvPr/>
        </p:nvSpPr>
        <p:spPr>
          <a:xfrm>
            <a:off x="548640" y="18288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Risk Summary</a:t>
            </a:r>
            <a:endParaRPr b="0" i="0" sz="1600" u="none" cap="none" strike="noStrike">
              <a:solidFill>
                <a:schemeClr val="dk1"/>
              </a:solidFill>
              <a:latin typeface="Calibri"/>
              <a:ea typeface="Calibri"/>
              <a:cs typeface="Calibri"/>
              <a:sym typeface="Calibri"/>
            </a:endParaRPr>
          </a:p>
        </p:txBody>
      </p:sp>
      <p:sp>
        <p:nvSpPr>
          <p:cNvPr id="908" name="Google Shape;908;p23"/>
          <p:cNvSpPr/>
          <p:nvPr/>
        </p:nvSpPr>
        <p:spPr>
          <a:xfrm>
            <a:off x="548640" y="2240280"/>
            <a:ext cx="3931920" cy="603504"/>
          </a:xfrm>
          <a:prstGeom prst="roundRect">
            <a:avLst>
              <a:gd fmla="val 9091"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3"/>
          <p:cNvSpPr/>
          <p:nvPr/>
        </p:nvSpPr>
        <p:spPr>
          <a:xfrm>
            <a:off x="713232" y="2359152"/>
            <a:ext cx="365760" cy="365760"/>
          </a:xfrm>
          <a:prstGeom prst="ellipse">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a:off x="1234440" y="2240280"/>
            <a:ext cx="20116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High</a:t>
            </a:r>
            <a:endParaRPr b="0" i="0" sz="1400" u="none" cap="none" strike="noStrike">
              <a:solidFill>
                <a:schemeClr val="dk1"/>
              </a:solidFill>
              <a:latin typeface="Calibri"/>
              <a:ea typeface="Calibri"/>
              <a:cs typeface="Calibri"/>
              <a:sym typeface="Calibri"/>
            </a:endParaRPr>
          </a:p>
        </p:txBody>
      </p:sp>
      <p:sp>
        <p:nvSpPr>
          <p:cNvPr id="911" name="Google Shape;911;p23"/>
          <p:cNvSpPr/>
          <p:nvPr/>
        </p:nvSpPr>
        <p:spPr>
          <a:xfrm>
            <a:off x="3108960" y="2240280"/>
            <a:ext cx="12801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2200"/>
              <a:buFont typeface="Cambria"/>
              <a:buNone/>
            </a:pPr>
            <a:r>
              <a:rPr b="1" i="0" lang="en-US" sz="2200" u="none" cap="none" strike="noStrike">
                <a:solidFill>
                  <a:srgbClr val="C0392B"/>
                </a:solidFill>
                <a:latin typeface="Cambria"/>
                <a:ea typeface="Cambria"/>
                <a:cs typeface="Cambria"/>
                <a:sym typeface="Cambria"/>
              </a:rPr>
              <a:t>0</a:t>
            </a:r>
            <a:endParaRPr b="0" i="0" sz="2200" u="none" cap="none" strike="noStrike">
              <a:solidFill>
                <a:schemeClr val="dk1"/>
              </a:solidFill>
              <a:latin typeface="Calibri"/>
              <a:ea typeface="Calibri"/>
              <a:cs typeface="Calibri"/>
              <a:sym typeface="Calibri"/>
            </a:endParaRPr>
          </a:p>
        </p:txBody>
      </p:sp>
      <p:sp>
        <p:nvSpPr>
          <p:cNvPr id="912" name="Google Shape;912;p23"/>
          <p:cNvSpPr/>
          <p:nvPr/>
        </p:nvSpPr>
        <p:spPr>
          <a:xfrm>
            <a:off x="548640" y="2953512"/>
            <a:ext cx="3931920" cy="603504"/>
          </a:xfrm>
          <a:prstGeom prst="roundRect">
            <a:avLst>
              <a:gd fmla="val 9091"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3"/>
          <p:cNvSpPr/>
          <p:nvPr/>
        </p:nvSpPr>
        <p:spPr>
          <a:xfrm>
            <a:off x="713232" y="3072384"/>
            <a:ext cx="365760" cy="365760"/>
          </a:xfrm>
          <a:prstGeom prst="ellipse">
            <a:avLst/>
          </a:prstGeom>
          <a:solidFill>
            <a:srgbClr val="D98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3"/>
          <p:cNvSpPr/>
          <p:nvPr/>
        </p:nvSpPr>
        <p:spPr>
          <a:xfrm>
            <a:off x="1234440" y="2953512"/>
            <a:ext cx="20116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Medium</a:t>
            </a:r>
            <a:endParaRPr b="0" i="0" sz="1400" u="none" cap="none" strike="noStrike">
              <a:solidFill>
                <a:schemeClr val="dk1"/>
              </a:solidFill>
              <a:latin typeface="Calibri"/>
              <a:ea typeface="Calibri"/>
              <a:cs typeface="Calibri"/>
              <a:sym typeface="Calibri"/>
            </a:endParaRPr>
          </a:p>
        </p:txBody>
      </p:sp>
      <p:sp>
        <p:nvSpPr>
          <p:cNvPr id="915" name="Google Shape;915;p23"/>
          <p:cNvSpPr/>
          <p:nvPr/>
        </p:nvSpPr>
        <p:spPr>
          <a:xfrm>
            <a:off x="3108960" y="2953512"/>
            <a:ext cx="12801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9822B"/>
              </a:buClr>
              <a:buSzPts val="2200"/>
              <a:buFont typeface="Cambria"/>
              <a:buNone/>
            </a:pPr>
            <a:r>
              <a:rPr b="1" i="0" lang="en-US" sz="2200" u="none" cap="none" strike="noStrike">
                <a:solidFill>
                  <a:srgbClr val="D9822B"/>
                </a:solidFill>
                <a:latin typeface="Cambria"/>
                <a:ea typeface="Cambria"/>
                <a:cs typeface="Cambria"/>
                <a:sym typeface="Cambria"/>
              </a:rPr>
              <a:t>0</a:t>
            </a:r>
            <a:endParaRPr b="0" i="0" sz="2200" u="none" cap="none" strike="noStrike">
              <a:solidFill>
                <a:schemeClr val="dk1"/>
              </a:solidFill>
              <a:latin typeface="Calibri"/>
              <a:ea typeface="Calibri"/>
              <a:cs typeface="Calibri"/>
              <a:sym typeface="Calibri"/>
            </a:endParaRPr>
          </a:p>
        </p:txBody>
      </p:sp>
      <p:sp>
        <p:nvSpPr>
          <p:cNvPr id="916" name="Google Shape;916;p23"/>
          <p:cNvSpPr/>
          <p:nvPr/>
        </p:nvSpPr>
        <p:spPr>
          <a:xfrm>
            <a:off x="548640" y="3666744"/>
            <a:ext cx="3931920" cy="603504"/>
          </a:xfrm>
          <a:prstGeom prst="roundRect">
            <a:avLst>
              <a:gd fmla="val 9091"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3"/>
          <p:cNvSpPr/>
          <p:nvPr/>
        </p:nvSpPr>
        <p:spPr>
          <a:xfrm>
            <a:off x="713232" y="3785616"/>
            <a:ext cx="365760" cy="365760"/>
          </a:xfrm>
          <a:prstGeom prst="ellipse">
            <a:avLst/>
          </a:prstGeom>
          <a:solidFill>
            <a:srgbClr val="E0C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3"/>
          <p:cNvSpPr/>
          <p:nvPr/>
        </p:nvSpPr>
        <p:spPr>
          <a:xfrm>
            <a:off x="1234440" y="3666744"/>
            <a:ext cx="20116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Low</a:t>
            </a:r>
            <a:endParaRPr b="0" i="0" sz="1400" u="none" cap="none" strike="noStrike">
              <a:solidFill>
                <a:schemeClr val="dk1"/>
              </a:solidFill>
              <a:latin typeface="Calibri"/>
              <a:ea typeface="Calibri"/>
              <a:cs typeface="Calibri"/>
              <a:sym typeface="Calibri"/>
            </a:endParaRPr>
          </a:p>
        </p:txBody>
      </p:sp>
      <p:sp>
        <p:nvSpPr>
          <p:cNvPr id="919" name="Google Shape;919;p23"/>
          <p:cNvSpPr/>
          <p:nvPr/>
        </p:nvSpPr>
        <p:spPr>
          <a:xfrm>
            <a:off x="3108960" y="3666744"/>
            <a:ext cx="12801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0</a:t>
            </a:r>
            <a:endParaRPr b="0" i="0" sz="2200" u="none" cap="none" strike="noStrike">
              <a:solidFill>
                <a:schemeClr val="dk1"/>
              </a:solidFill>
              <a:latin typeface="Calibri"/>
              <a:ea typeface="Calibri"/>
              <a:cs typeface="Calibri"/>
              <a:sym typeface="Calibri"/>
            </a:endParaRPr>
          </a:p>
        </p:txBody>
      </p:sp>
      <p:sp>
        <p:nvSpPr>
          <p:cNvPr id="920" name="Google Shape;920;p23"/>
          <p:cNvSpPr/>
          <p:nvPr/>
        </p:nvSpPr>
        <p:spPr>
          <a:xfrm>
            <a:off x="548640" y="4379976"/>
            <a:ext cx="3931920" cy="603504"/>
          </a:xfrm>
          <a:prstGeom prst="roundRect">
            <a:avLst>
              <a:gd fmla="val 9091"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3"/>
          <p:cNvSpPr/>
          <p:nvPr/>
        </p:nvSpPr>
        <p:spPr>
          <a:xfrm>
            <a:off x="713232" y="4498848"/>
            <a:ext cx="365760" cy="36576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3"/>
          <p:cNvSpPr/>
          <p:nvPr/>
        </p:nvSpPr>
        <p:spPr>
          <a:xfrm>
            <a:off x="1234440" y="4379976"/>
            <a:ext cx="201168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Informational</a:t>
            </a:r>
            <a:endParaRPr b="0" i="0" sz="1400" u="none" cap="none" strike="noStrike">
              <a:solidFill>
                <a:schemeClr val="dk1"/>
              </a:solidFill>
              <a:latin typeface="Calibri"/>
              <a:ea typeface="Calibri"/>
              <a:cs typeface="Calibri"/>
              <a:sym typeface="Calibri"/>
            </a:endParaRPr>
          </a:p>
        </p:txBody>
      </p:sp>
      <p:sp>
        <p:nvSpPr>
          <p:cNvPr id="923" name="Google Shape;923;p23"/>
          <p:cNvSpPr/>
          <p:nvPr/>
        </p:nvSpPr>
        <p:spPr>
          <a:xfrm>
            <a:off x="3108960" y="4379976"/>
            <a:ext cx="1280160" cy="6035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5</a:t>
            </a:r>
            <a:endParaRPr b="0" i="0" sz="2200" u="none" cap="none" strike="noStrike">
              <a:solidFill>
                <a:schemeClr val="dk1"/>
              </a:solidFill>
              <a:latin typeface="Calibri"/>
              <a:ea typeface="Calibri"/>
              <a:cs typeface="Calibri"/>
              <a:sym typeface="Calibri"/>
            </a:endParaRPr>
          </a:p>
        </p:txBody>
      </p:sp>
      <p:sp>
        <p:nvSpPr>
          <p:cNvPr id="924" name="Google Shape;924;p23"/>
          <p:cNvSpPr/>
          <p:nvPr/>
        </p:nvSpPr>
        <p:spPr>
          <a:xfrm>
            <a:off x="548640" y="5166360"/>
            <a:ext cx="3931920" cy="1417320"/>
          </a:xfrm>
          <a:prstGeom prst="roundRect">
            <a:avLst>
              <a:gd fmla="val 4516"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3"/>
          <p:cNvSpPr/>
          <p:nvPr/>
        </p:nvSpPr>
        <p:spPr>
          <a:xfrm>
            <a:off x="777240" y="5349240"/>
            <a:ext cx="640080" cy="64008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ert_gold.png" id="926" name="Google Shape;926;p23"/>
          <p:cNvPicPr preferRelativeResize="0"/>
          <p:nvPr/>
        </p:nvPicPr>
        <p:blipFill rotWithShape="1">
          <a:blip r:embed="rId3">
            <a:alphaModFix/>
          </a:blip>
          <a:srcRect b="0" l="0" r="0" t="0"/>
          <a:stretch/>
        </p:blipFill>
        <p:spPr>
          <a:xfrm>
            <a:off x="921258" y="5493258"/>
            <a:ext cx="352044" cy="352044"/>
          </a:xfrm>
          <a:prstGeom prst="rect">
            <a:avLst/>
          </a:prstGeom>
          <a:noFill/>
          <a:ln>
            <a:noFill/>
          </a:ln>
        </p:spPr>
      </p:pic>
      <p:sp>
        <p:nvSpPr>
          <p:cNvPr id="927" name="Google Shape;927;p23"/>
          <p:cNvSpPr/>
          <p:nvPr/>
        </p:nvSpPr>
        <p:spPr>
          <a:xfrm>
            <a:off x="1554480" y="5285232"/>
            <a:ext cx="27889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Zero High, Medium, or Low</a:t>
            </a:r>
            <a:endParaRPr b="0" i="0" sz="14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risk findings on the AI</a:t>
            </a:r>
            <a:endParaRPr b="0" i="0" sz="14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microservice endpoint</a:t>
            </a:r>
            <a:endParaRPr b="0" i="0" sz="1400" u="none" cap="none" strike="noStrike">
              <a:solidFill>
                <a:schemeClr val="dk1"/>
              </a:solidFill>
              <a:latin typeface="Calibri"/>
              <a:ea typeface="Calibri"/>
              <a:cs typeface="Calibri"/>
              <a:sym typeface="Calibri"/>
            </a:endParaRPr>
          </a:p>
        </p:txBody>
      </p:sp>
      <p:sp>
        <p:nvSpPr>
          <p:cNvPr id="928" name="Google Shape;928;p23"/>
          <p:cNvSpPr/>
          <p:nvPr/>
        </p:nvSpPr>
        <p:spPr>
          <a:xfrm>
            <a:off x="4754880" y="182880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The 5 Informational Findings - Explained</a:t>
            </a:r>
            <a:endParaRPr b="0" i="0" sz="1600" u="none" cap="none" strike="noStrike">
              <a:solidFill>
                <a:schemeClr val="dk1"/>
              </a:solidFill>
              <a:latin typeface="Calibri"/>
              <a:ea typeface="Calibri"/>
              <a:cs typeface="Calibri"/>
              <a:sym typeface="Calibri"/>
            </a:endParaRPr>
          </a:p>
        </p:txBody>
      </p:sp>
      <p:sp>
        <p:nvSpPr>
          <p:cNvPr id="929" name="Google Shape;929;p23"/>
          <p:cNvSpPr/>
          <p:nvPr/>
        </p:nvSpPr>
        <p:spPr>
          <a:xfrm>
            <a:off x="4754880" y="2286000"/>
            <a:ext cx="6885432" cy="1280160"/>
          </a:xfrm>
          <a:prstGeom prst="roundRect">
            <a:avLst>
              <a:gd fmla="val 5714"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3"/>
          <p:cNvSpPr/>
          <p:nvPr/>
        </p:nvSpPr>
        <p:spPr>
          <a:xfrm>
            <a:off x="4937760" y="2468880"/>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warning_navy.png" id="931" name="Google Shape;931;p23"/>
          <p:cNvPicPr preferRelativeResize="0"/>
          <p:nvPr/>
        </p:nvPicPr>
        <p:blipFill rotWithShape="1">
          <a:blip r:embed="rId4">
            <a:alphaModFix/>
          </a:blip>
          <a:srcRect b="0" l="0" r="0" t="0"/>
          <a:stretch/>
        </p:blipFill>
        <p:spPr>
          <a:xfrm>
            <a:off x="5050917" y="2582037"/>
            <a:ext cx="276606" cy="276606"/>
          </a:xfrm>
          <a:prstGeom prst="rect">
            <a:avLst/>
          </a:prstGeom>
          <a:noFill/>
          <a:ln>
            <a:noFill/>
          </a:ln>
        </p:spPr>
      </p:pic>
      <p:sp>
        <p:nvSpPr>
          <p:cNvPr id="932" name="Google Shape;932;p23"/>
          <p:cNvSpPr/>
          <p:nvPr/>
        </p:nvSpPr>
        <p:spPr>
          <a:xfrm>
            <a:off x="5577840" y="2377440"/>
            <a:ext cx="5852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Sec-Fetch-Dest / Mode / Site / User headers missing</a:t>
            </a:r>
            <a:endParaRPr b="0" i="0" sz="1250" u="none" cap="none" strike="noStrike">
              <a:solidFill>
                <a:schemeClr val="dk1"/>
              </a:solidFill>
              <a:latin typeface="Calibri"/>
              <a:ea typeface="Calibri"/>
              <a:cs typeface="Calibri"/>
              <a:sym typeface="Calibri"/>
            </a:endParaRPr>
          </a:p>
        </p:txBody>
      </p:sp>
      <p:sp>
        <p:nvSpPr>
          <p:cNvPr id="933" name="Google Shape;933;p23"/>
          <p:cNvSpPr/>
          <p:nvPr/>
        </p:nvSpPr>
        <p:spPr>
          <a:xfrm>
            <a:off x="5577840" y="2788920"/>
            <a:ext cx="5852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50"/>
              <a:buFont typeface="Calibri"/>
              <a:buNone/>
            </a:pPr>
            <a:r>
              <a:rPr b="0" i="0" lang="en-US" sz="1050" u="none" cap="none" strike="noStrike">
                <a:solidFill>
                  <a:srgbClr val="5B6B8C"/>
                </a:solidFill>
                <a:latin typeface="Calibri"/>
                <a:ea typeface="Calibri"/>
                <a:cs typeface="Calibri"/>
                <a:sym typeface="Calibri"/>
              </a:rPr>
              <a:t>Modern browser "fetch metadata" headers - informational hardening signal, not exploitable on a non-public, internal-only API.</a:t>
            </a:r>
            <a:endParaRPr b="0" i="0" sz="1050" u="none" cap="none" strike="noStrike">
              <a:solidFill>
                <a:schemeClr val="dk1"/>
              </a:solidFill>
              <a:latin typeface="Calibri"/>
              <a:ea typeface="Calibri"/>
              <a:cs typeface="Calibri"/>
              <a:sym typeface="Calibri"/>
            </a:endParaRPr>
          </a:p>
        </p:txBody>
      </p:sp>
      <p:sp>
        <p:nvSpPr>
          <p:cNvPr id="934" name="Google Shape;934;p23"/>
          <p:cNvSpPr/>
          <p:nvPr/>
        </p:nvSpPr>
        <p:spPr>
          <a:xfrm>
            <a:off x="10698480" y="2423160"/>
            <a:ext cx="777240" cy="320040"/>
          </a:xfrm>
          <a:prstGeom prst="roundRect">
            <a:avLst>
              <a:gd fmla="val 5142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3"/>
          <p:cNvSpPr/>
          <p:nvPr/>
        </p:nvSpPr>
        <p:spPr>
          <a:xfrm>
            <a:off x="10698480" y="2423160"/>
            <a:ext cx="777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 instances</a:t>
            </a:r>
            <a:endParaRPr b="0" i="0" sz="900" u="none" cap="none" strike="noStrike">
              <a:solidFill>
                <a:schemeClr val="dk1"/>
              </a:solidFill>
              <a:latin typeface="Calibri"/>
              <a:ea typeface="Calibri"/>
              <a:cs typeface="Calibri"/>
              <a:sym typeface="Calibri"/>
            </a:endParaRPr>
          </a:p>
        </p:txBody>
      </p:sp>
      <p:sp>
        <p:nvSpPr>
          <p:cNvPr id="936" name="Google Shape;936;p23"/>
          <p:cNvSpPr/>
          <p:nvPr/>
        </p:nvSpPr>
        <p:spPr>
          <a:xfrm>
            <a:off x="4754880" y="3703320"/>
            <a:ext cx="6885432" cy="1280160"/>
          </a:xfrm>
          <a:prstGeom prst="roundRect">
            <a:avLst>
              <a:gd fmla="val 5714"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3"/>
          <p:cNvSpPr/>
          <p:nvPr/>
        </p:nvSpPr>
        <p:spPr>
          <a:xfrm>
            <a:off x="4937760" y="3886200"/>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warning_navy.png" id="938" name="Google Shape;938;p23"/>
          <p:cNvPicPr preferRelativeResize="0"/>
          <p:nvPr/>
        </p:nvPicPr>
        <p:blipFill rotWithShape="1">
          <a:blip r:embed="rId4">
            <a:alphaModFix/>
          </a:blip>
          <a:srcRect b="0" l="0" r="0" t="0"/>
          <a:stretch/>
        </p:blipFill>
        <p:spPr>
          <a:xfrm>
            <a:off x="5050917" y="3999357"/>
            <a:ext cx="276606" cy="276606"/>
          </a:xfrm>
          <a:prstGeom prst="rect">
            <a:avLst/>
          </a:prstGeom>
          <a:noFill/>
          <a:ln>
            <a:noFill/>
          </a:ln>
        </p:spPr>
      </p:pic>
      <p:sp>
        <p:nvSpPr>
          <p:cNvPr id="939" name="Google Shape;939;p23"/>
          <p:cNvSpPr/>
          <p:nvPr/>
        </p:nvSpPr>
        <p:spPr>
          <a:xfrm>
            <a:off x="5577840" y="3794760"/>
            <a:ext cx="5852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Storable and Cacheable Content</a:t>
            </a:r>
            <a:endParaRPr b="0" i="0" sz="1250" u="none" cap="none" strike="noStrike">
              <a:solidFill>
                <a:schemeClr val="dk1"/>
              </a:solidFill>
              <a:latin typeface="Calibri"/>
              <a:ea typeface="Calibri"/>
              <a:cs typeface="Calibri"/>
              <a:sym typeface="Calibri"/>
            </a:endParaRPr>
          </a:p>
        </p:txBody>
      </p:sp>
      <p:sp>
        <p:nvSpPr>
          <p:cNvPr id="940" name="Google Shape;940;p23"/>
          <p:cNvSpPr/>
          <p:nvPr/>
        </p:nvSpPr>
        <p:spPr>
          <a:xfrm>
            <a:off x="5577840" y="4206240"/>
            <a:ext cx="5852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050"/>
              <a:buFont typeface="Calibri"/>
              <a:buNone/>
            </a:pPr>
            <a:r>
              <a:rPr b="0" i="0" lang="en-US" sz="1050" u="none" cap="none" strike="noStrike">
                <a:solidFill>
                  <a:srgbClr val="5B6B8C"/>
                </a:solidFill>
                <a:latin typeface="Calibri"/>
                <a:ea typeface="Calibri"/>
                <a:cs typeface="Calibri"/>
                <a:sym typeface="Calibri"/>
              </a:rPr>
              <a:t>JSON API responses are cacheable by default; recommendation is to set explicit Cache-Control headers on sensitive endpoints.</a:t>
            </a:r>
            <a:endParaRPr b="0" i="0" sz="1050" u="none" cap="none" strike="noStrike">
              <a:solidFill>
                <a:schemeClr val="dk1"/>
              </a:solidFill>
              <a:latin typeface="Calibri"/>
              <a:ea typeface="Calibri"/>
              <a:cs typeface="Calibri"/>
              <a:sym typeface="Calibri"/>
            </a:endParaRPr>
          </a:p>
        </p:txBody>
      </p:sp>
      <p:sp>
        <p:nvSpPr>
          <p:cNvPr id="941" name="Google Shape;941;p23"/>
          <p:cNvSpPr/>
          <p:nvPr/>
        </p:nvSpPr>
        <p:spPr>
          <a:xfrm>
            <a:off x="10698480" y="3840480"/>
            <a:ext cx="777240" cy="320040"/>
          </a:xfrm>
          <a:prstGeom prst="roundRect">
            <a:avLst>
              <a:gd fmla="val 5142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3"/>
          <p:cNvSpPr/>
          <p:nvPr/>
        </p:nvSpPr>
        <p:spPr>
          <a:xfrm>
            <a:off x="10698480" y="3840480"/>
            <a:ext cx="777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 instances</a:t>
            </a:r>
            <a:endParaRPr b="0" i="0" sz="900" u="none" cap="none" strike="noStrike">
              <a:solidFill>
                <a:schemeClr val="dk1"/>
              </a:solidFill>
              <a:latin typeface="Calibri"/>
              <a:ea typeface="Calibri"/>
              <a:cs typeface="Calibri"/>
              <a:sym typeface="Calibri"/>
            </a:endParaRPr>
          </a:p>
        </p:txBody>
      </p:sp>
      <p:sp>
        <p:nvSpPr>
          <p:cNvPr id="943" name="Google Shape;943;p23"/>
          <p:cNvSpPr/>
          <p:nvPr/>
        </p:nvSpPr>
        <p:spPr>
          <a:xfrm>
            <a:off x="4754880" y="516636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mbria"/>
              <a:buNone/>
            </a:pPr>
            <a:r>
              <a:rPr b="1" i="0" lang="en-US" sz="1300" u="none" cap="none" strike="noStrike">
                <a:solidFill>
                  <a:srgbClr val="1E2761"/>
                </a:solidFill>
                <a:latin typeface="Cambria"/>
                <a:ea typeface="Cambria"/>
                <a:cs typeface="Cambria"/>
                <a:sym typeface="Cambria"/>
              </a:rPr>
              <a:t>Scan Insights (127.0.0.1:8000 - 2 endpoints)</a:t>
            </a:r>
            <a:endParaRPr b="0" i="0" sz="1300" u="none" cap="none" strike="noStrike">
              <a:solidFill>
                <a:schemeClr val="dk1"/>
              </a:solidFill>
              <a:latin typeface="Calibri"/>
              <a:ea typeface="Calibri"/>
              <a:cs typeface="Calibri"/>
              <a:sym typeface="Calibri"/>
            </a:endParaRPr>
          </a:p>
        </p:txBody>
      </p:sp>
      <p:sp>
        <p:nvSpPr>
          <p:cNvPr id="944" name="Google Shape;944;p23"/>
          <p:cNvSpPr/>
          <p:nvPr/>
        </p:nvSpPr>
        <p:spPr>
          <a:xfrm>
            <a:off x="4754880" y="5532120"/>
            <a:ext cx="2194560" cy="960120"/>
          </a:xfrm>
          <a:prstGeom prst="roundRect">
            <a:avLst>
              <a:gd fmla="val 7619"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3"/>
          <p:cNvSpPr/>
          <p:nvPr/>
        </p:nvSpPr>
        <p:spPr>
          <a:xfrm>
            <a:off x="4754880" y="5596128"/>
            <a:ext cx="21945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100%</a:t>
            </a:r>
            <a:endParaRPr b="0" i="0" sz="2200" u="none" cap="none" strike="noStrike">
              <a:solidFill>
                <a:schemeClr val="dk1"/>
              </a:solidFill>
              <a:latin typeface="Calibri"/>
              <a:ea typeface="Calibri"/>
              <a:cs typeface="Calibri"/>
              <a:sym typeface="Calibri"/>
            </a:endParaRPr>
          </a:p>
        </p:txBody>
      </p:sp>
      <p:sp>
        <p:nvSpPr>
          <p:cNvPr id="946" name="Google Shape;946;p23"/>
          <p:cNvSpPr/>
          <p:nvPr/>
        </p:nvSpPr>
        <p:spPr>
          <a:xfrm>
            <a:off x="4846320" y="603504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00"/>
              <a:buFont typeface="Calibri"/>
              <a:buNone/>
            </a:pPr>
            <a:r>
              <a:rPr b="0" i="0" lang="en-US" sz="900" u="none" cap="none" strike="noStrike">
                <a:solidFill>
                  <a:srgbClr val="5B6B8C"/>
                </a:solidFill>
                <a:latin typeface="Calibri"/>
                <a:ea typeface="Calibri"/>
                <a:cs typeface="Calibri"/>
                <a:sym typeface="Calibri"/>
              </a:rPr>
              <a:t>responses w/ status 4xx on unauth probes</a:t>
            </a:r>
            <a:endParaRPr b="0" i="0" sz="900" u="none" cap="none" strike="noStrike">
              <a:solidFill>
                <a:schemeClr val="dk1"/>
              </a:solidFill>
              <a:latin typeface="Calibri"/>
              <a:ea typeface="Calibri"/>
              <a:cs typeface="Calibri"/>
              <a:sym typeface="Calibri"/>
            </a:endParaRPr>
          </a:p>
        </p:txBody>
      </p:sp>
      <p:sp>
        <p:nvSpPr>
          <p:cNvPr id="947" name="Google Shape;947;p23"/>
          <p:cNvSpPr/>
          <p:nvPr/>
        </p:nvSpPr>
        <p:spPr>
          <a:xfrm>
            <a:off x="7086600" y="5532120"/>
            <a:ext cx="2194560" cy="960120"/>
          </a:xfrm>
          <a:prstGeom prst="roundRect">
            <a:avLst>
              <a:gd fmla="val 7619"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3"/>
          <p:cNvSpPr/>
          <p:nvPr/>
        </p:nvSpPr>
        <p:spPr>
          <a:xfrm>
            <a:off x="7086600" y="5596128"/>
            <a:ext cx="21945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100%</a:t>
            </a:r>
            <a:endParaRPr b="0" i="0" sz="2200" u="none" cap="none" strike="noStrike">
              <a:solidFill>
                <a:schemeClr val="dk1"/>
              </a:solidFill>
              <a:latin typeface="Calibri"/>
              <a:ea typeface="Calibri"/>
              <a:cs typeface="Calibri"/>
              <a:sym typeface="Calibri"/>
            </a:endParaRPr>
          </a:p>
        </p:txBody>
      </p:sp>
      <p:sp>
        <p:nvSpPr>
          <p:cNvPr id="949" name="Google Shape;949;p23"/>
          <p:cNvSpPr/>
          <p:nvPr/>
        </p:nvSpPr>
        <p:spPr>
          <a:xfrm>
            <a:off x="7178040" y="603504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00"/>
              <a:buFont typeface="Calibri"/>
              <a:buNone/>
            </a:pPr>
            <a:r>
              <a:rPr b="0" i="0" lang="en-US" sz="900" u="none" cap="none" strike="noStrike">
                <a:solidFill>
                  <a:srgbClr val="5B6B8C"/>
                </a:solidFill>
                <a:latin typeface="Calibri"/>
                <a:ea typeface="Calibri"/>
                <a:cs typeface="Calibri"/>
                <a:sym typeface="Calibri"/>
              </a:rPr>
              <a:t>endpoints return application/json</a:t>
            </a:r>
            <a:endParaRPr b="0" i="0" sz="900" u="none" cap="none" strike="noStrike">
              <a:solidFill>
                <a:schemeClr val="dk1"/>
              </a:solidFill>
              <a:latin typeface="Calibri"/>
              <a:ea typeface="Calibri"/>
              <a:cs typeface="Calibri"/>
              <a:sym typeface="Calibri"/>
            </a:endParaRPr>
          </a:p>
        </p:txBody>
      </p:sp>
      <p:sp>
        <p:nvSpPr>
          <p:cNvPr id="950" name="Google Shape;950;p23"/>
          <p:cNvSpPr/>
          <p:nvPr/>
        </p:nvSpPr>
        <p:spPr>
          <a:xfrm>
            <a:off x="9418320" y="5532120"/>
            <a:ext cx="2194560" cy="960120"/>
          </a:xfrm>
          <a:prstGeom prst="roundRect">
            <a:avLst>
              <a:gd fmla="val 7619"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3"/>
          <p:cNvSpPr/>
          <p:nvPr/>
        </p:nvSpPr>
        <p:spPr>
          <a:xfrm>
            <a:off x="9418320" y="5596128"/>
            <a:ext cx="21945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100%</a:t>
            </a:r>
            <a:endParaRPr b="0" i="0" sz="2200" u="none" cap="none" strike="noStrike">
              <a:solidFill>
                <a:schemeClr val="dk1"/>
              </a:solidFill>
              <a:latin typeface="Calibri"/>
              <a:ea typeface="Calibri"/>
              <a:cs typeface="Calibri"/>
              <a:sym typeface="Calibri"/>
            </a:endParaRPr>
          </a:p>
        </p:txBody>
      </p:sp>
      <p:sp>
        <p:nvSpPr>
          <p:cNvPr id="952" name="Google Shape;952;p23"/>
          <p:cNvSpPr/>
          <p:nvPr/>
        </p:nvSpPr>
        <p:spPr>
          <a:xfrm>
            <a:off x="9509760" y="603504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00"/>
              <a:buFont typeface="Calibri"/>
              <a:buNone/>
            </a:pPr>
            <a:r>
              <a:rPr b="0" i="0" lang="en-US" sz="900" u="none" cap="none" strike="noStrike">
                <a:solidFill>
                  <a:srgbClr val="5B6B8C"/>
                </a:solidFill>
                <a:latin typeface="Calibri"/>
                <a:ea typeface="Calibri"/>
                <a:cs typeface="Calibri"/>
                <a:sym typeface="Calibri"/>
              </a:rPr>
              <a:t>endpoints accessed via GET (no risky verbs)</a:t>
            </a:r>
            <a:endParaRPr b="0" i="0" sz="900" u="none" cap="none" strike="noStrike">
              <a:solidFill>
                <a:schemeClr val="dk1"/>
              </a:solidFill>
              <a:latin typeface="Calibri"/>
              <a:ea typeface="Calibri"/>
              <a:cs typeface="Calibri"/>
              <a:sym typeface="Calibri"/>
            </a:endParaRPr>
          </a:p>
        </p:txBody>
      </p:sp>
      <p:sp>
        <p:nvSpPr>
          <p:cNvPr id="953" name="Google Shape;953;p23"/>
          <p:cNvSpPr/>
          <p:nvPr/>
        </p:nvSpPr>
        <p:spPr>
          <a:xfrm>
            <a:off x="4754880" y="651052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00"/>
              <a:buFont typeface="Calibri"/>
              <a:buNone/>
            </a:pPr>
            <a:r>
              <a:rPr b="0" i="1" lang="en-US" sz="900" u="none" cap="none" strike="noStrike">
                <a:solidFill>
                  <a:srgbClr val="5B6B8C"/>
                </a:solidFill>
                <a:latin typeface="Calibri"/>
                <a:ea typeface="Calibri"/>
                <a:cs typeface="Calibri"/>
                <a:sym typeface="Calibri"/>
              </a:rPr>
              <a:t>Full report: BariatricPath_ZAP_report.html (CI artifact, generated Jun 12 2026, ZAP 2.17.0)</a:t>
            </a:r>
            <a:endParaRPr b="0" i="0" sz="900" u="none" cap="none" strike="noStrike">
              <a:solidFill>
                <a:schemeClr val="dk1"/>
              </a:solidFill>
              <a:latin typeface="Calibri"/>
              <a:ea typeface="Calibri"/>
              <a:cs typeface="Calibri"/>
              <a:sym typeface="Calibri"/>
            </a:endParaRPr>
          </a:p>
        </p:txBody>
      </p:sp>
      <p:pic>
        <p:nvPicPr>
          <p:cNvPr descr="/home/claude/slides/logo.png" id="954" name="Google Shape;954;p23"/>
          <p:cNvPicPr preferRelativeResize="0"/>
          <p:nvPr/>
        </p:nvPicPr>
        <p:blipFill rotWithShape="1">
          <a:blip r:embed="rId5">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9" name="Shape 959"/>
        <p:cNvGrpSpPr/>
        <p:nvPr/>
      </p:nvGrpSpPr>
      <p:grpSpPr>
        <a:xfrm>
          <a:off x="0" y="0"/>
          <a:ext cx="0" cy="0"/>
          <a:chOff x="0" y="0"/>
          <a:chExt cx="0" cy="0"/>
        </a:xfrm>
      </p:grpSpPr>
      <p:sp>
        <p:nvSpPr>
          <p:cNvPr id="960" name="Google Shape;960;g3ec1cabf127_0_5"/>
          <p:cNvSpPr/>
          <p:nvPr/>
        </p:nvSpPr>
        <p:spPr>
          <a:xfrm>
            <a:off x="548640" y="292608"/>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SECURITY - DYNAMIC APPLICATION SECURITY TESTING</a:t>
            </a:r>
            <a:endParaRPr b="0" i="0" sz="1200" u="none" cap="none" strike="noStrike">
              <a:solidFill>
                <a:schemeClr val="dk1"/>
              </a:solidFill>
              <a:latin typeface="Calibri"/>
              <a:ea typeface="Calibri"/>
              <a:cs typeface="Calibri"/>
              <a:sym typeface="Calibri"/>
            </a:endParaRPr>
          </a:p>
        </p:txBody>
      </p:sp>
      <p:sp>
        <p:nvSpPr>
          <p:cNvPr id="961" name="Google Shape;961;g3ec1cabf127_0_5"/>
          <p:cNvSpPr/>
          <p:nvPr/>
        </p:nvSpPr>
        <p:spPr>
          <a:xfrm>
            <a:off x="548651" y="566925"/>
            <a:ext cx="101535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OWASP ZAP: Live Attack Simulation Results and the CI</a:t>
            </a:r>
            <a:endParaRPr b="0" i="0" sz="3200" u="none" cap="none" strike="noStrike">
              <a:solidFill>
                <a:schemeClr val="dk1"/>
              </a:solidFill>
              <a:latin typeface="Calibri"/>
              <a:ea typeface="Calibri"/>
              <a:cs typeface="Calibri"/>
              <a:sym typeface="Calibri"/>
            </a:endParaRPr>
          </a:p>
        </p:txBody>
      </p:sp>
      <p:sp>
        <p:nvSpPr>
          <p:cNvPr id="962" name="Google Shape;962;g3ec1cabf127_0_5"/>
          <p:cNvSpPr/>
          <p:nvPr/>
        </p:nvSpPr>
        <p:spPr>
          <a:xfrm>
            <a:off x="9859975" y="256032"/>
            <a:ext cx="2103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963" name="Google Shape;963;g3ec1cabf127_0_5"/>
          <p:cNvSpPr/>
          <p:nvPr/>
        </p:nvSpPr>
        <p:spPr>
          <a:xfrm>
            <a:off x="457200" y="6510528"/>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964" name="Google Shape;964;g3ec1cabf127_0_5"/>
          <p:cNvSpPr/>
          <p:nvPr/>
        </p:nvSpPr>
        <p:spPr>
          <a:xfrm>
            <a:off x="11368735" y="6510528"/>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
        <p:nvSpPr>
          <p:cNvPr id="965" name="Google Shape;965;g3ec1cabf127_0_5"/>
          <p:cNvSpPr/>
          <p:nvPr/>
        </p:nvSpPr>
        <p:spPr>
          <a:xfrm>
            <a:off x="548640" y="132588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ZAP (Zed Attack Proxy) runs an automated baseline scan against the live AI service before every merge - simulating real attacker reconnaissance.</a:t>
            </a:r>
            <a:endParaRPr b="0" i="0" sz="1300" u="none" cap="none" strike="noStrike">
              <a:solidFill>
                <a:schemeClr val="dk1"/>
              </a:solidFill>
              <a:latin typeface="Calibri"/>
              <a:ea typeface="Calibri"/>
              <a:cs typeface="Calibri"/>
              <a:sym typeface="Calibri"/>
            </a:endParaRPr>
          </a:p>
        </p:txBody>
      </p:sp>
      <p:sp>
        <p:nvSpPr>
          <p:cNvPr id="966" name="Google Shape;966;g3ec1cabf127_0_5"/>
          <p:cNvSpPr/>
          <p:nvPr/>
        </p:nvSpPr>
        <p:spPr>
          <a:xfrm>
            <a:off x="548640" y="1828800"/>
            <a:ext cx="3657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Risk Summary</a:t>
            </a:r>
            <a:endParaRPr b="0" i="0" sz="1600" u="none" cap="none" strike="noStrike">
              <a:solidFill>
                <a:schemeClr val="dk1"/>
              </a:solidFill>
              <a:latin typeface="Calibri"/>
              <a:ea typeface="Calibri"/>
              <a:cs typeface="Calibri"/>
              <a:sym typeface="Calibri"/>
            </a:endParaRPr>
          </a:p>
        </p:txBody>
      </p:sp>
      <p:sp>
        <p:nvSpPr>
          <p:cNvPr id="967" name="Google Shape;967;g3ec1cabf127_0_5"/>
          <p:cNvSpPr/>
          <p:nvPr/>
        </p:nvSpPr>
        <p:spPr>
          <a:xfrm>
            <a:off x="548640" y="5166360"/>
            <a:ext cx="3931800" cy="1417200"/>
          </a:xfrm>
          <a:prstGeom prst="roundRect">
            <a:avLst>
              <a:gd fmla="val 4516"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g3ec1cabf127_0_5"/>
          <p:cNvSpPr/>
          <p:nvPr/>
        </p:nvSpPr>
        <p:spPr>
          <a:xfrm>
            <a:off x="777240" y="5349240"/>
            <a:ext cx="640200" cy="64020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ert_gold.png" id="969" name="Google Shape;969;g3ec1cabf127_0_5"/>
          <p:cNvPicPr preferRelativeResize="0"/>
          <p:nvPr/>
        </p:nvPicPr>
        <p:blipFill rotWithShape="1">
          <a:blip r:embed="rId3">
            <a:alphaModFix/>
          </a:blip>
          <a:srcRect b="0" l="0" r="0" t="0"/>
          <a:stretch/>
        </p:blipFill>
        <p:spPr>
          <a:xfrm>
            <a:off x="921258" y="5493258"/>
            <a:ext cx="352044" cy="352044"/>
          </a:xfrm>
          <a:prstGeom prst="rect">
            <a:avLst/>
          </a:prstGeom>
          <a:noFill/>
          <a:ln>
            <a:noFill/>
          </a:ln>
        </p:spPr>
      </p:pic>
      <p:sp>
        <p:nvSpPr>
          <p:cNvPr id="970" name="Google Shape;970;g3ec1cabf127_0_5"/>
          <p:cNvSpPr/>
          <p:nvPr/>
        </p:nvSpPr>
        <p:spPr>
          <a:xfrm>
            <a:off x="1554480" y="5285232"/>
            <a:ext cx="27888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Zero High, Medium, or Low</a:t>
            </a:r>
            <a:endParaRPr b="0" i="0" sz="14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risk findings on the AI</a:t>
            </a:r>
            <a:endParaRPr b="0" i="0" sz="14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microservice endpoint</a:t>
            </a:r>
            <a:endParaRPr b="0" i="0" sz="1400" u="none" cap="none" strike="noStrike">
              <a:solidFill>
                <a:schemeClr val="dk1"/>
              </a:solidFill>
              <a:latin typeface="Calibri"/>
              <a:ea typeface="Calibri"/>
              <a:cs typeface="Calibri"/>
              <a:sym typeface="Calibri"/>
            </a:endParaRPr>
          </a:p>
        </p:txBody>
      </p:sp>
      <p:sp>
        <p:nvSpPr>
          <p:cNvPr id="971" name="Google Shape;971;g3ec1cabf127_0_5"/>
          <p:cNvSpPr/>
          <p:nvPr/>
        </p:nvSpPr>
        <p:spPr>
          <a:xfrm>
            <a:off x="4754880" y="5166360"/>
            <a:ext cx="6858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mbria"/>
              <a:buNone/>
            </a:pPr>
            <a:r>
              <a:rPr b="1" i="0" lang="en-US" sz="1300" u="none" cap="none" strike="noStrike">
                <a:solidFill>
                  <a:srgbClr val="1E2761"/>
                </a:solidFill>
                <a:latin typeface="Cambria"/>
                <a:ea typeface="Cambria"/>
                <a:cs typeface="Cambria"/>
                <a:sym typeface="Cambria"/>
              </a:rPr>
              <a:t>Scan Insights (127.0.0.1:8000 - 2 endpoints)</a:t>
            </a:r>
            <a:endParaRPr b="0" i="0" sz="1300" u="none" cap="none" strike="noStrike">
              <a:solidFill>
                <a:schemeClr val="dk1"/>
              </a:solidFill>
              <a:latin typeface="Calibri"/>
              <a:ea typeface="Calibri"/>
              <a:cs typeface="Calibri"/>
              <a:sym typeface="Calibri"/>
            </a:endParaRPr>
          </a:p>
        </p:txBody>
      </p:sp>
      <p:sp>
        <p:nvSpPr>
          <p:cNvPr id="972" name="Google Shape;972;g3ec1cabf127_0_5"/>
          <p:cNvSpPr/>
          <p:nvPr/>
        </p:nvSpPr>
        <p:spPr>
          <a:xfrm>
            <a:off x="4754880" y="5532120"/>
            <a:ext cx="2194500" cy="960000"/>
          </a:xfrm>
          <a:prstGeom prst="roundRect">
            <a:avLst>
              <a:gd fmla="val 7619" name="adj"/>
            </a:avLst>
          </a:prstGeom>
          <a:solidFill>
            <a:srgbClr val="FFF8E6"/>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3ec1cabf127_0_5"/>
          <p:cNvSpPr/>
          <p:nvPr/>
        </p:nvSpPr>
        <p:spPr>
          <a:xfrm>
            <a:off x="4754880" y="5596128"/>
            <a:ext cx="2194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100%</a:t>
            </a:r>
            <a:endParaRPr b="0" i="0" sz="2200" u="none" cap="none" strike="noStrike">
              <a:solidFill>
                <a:schemeClr val="dk1"/>
              </a:solidFill>
              <a:latin typeface="Calibri"/>
              <a:ea typeface="Calibri"/>
              <a:cs typeface="Calibri"/>
              <a:sym typeface="Calibri"/>
            </a:endParaRPr>
          </a:p>
        </p:txBody>
      </p:sp>
      <p:sp>
        <p:nvSpPr>
          <p:cNvPr id="974" name="Google Shape;974;g3ec1cabf127_0_5"/>
          <p:cNvSpPr/>
          <p:nvPr/>
        </p:nvSpPr>
        <p:spPr>
          <a:xfrm>
            <a:off x="4846320" y="603504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00"/>
              <a:buFont typeface="Calibri"/>
              <a:buNone/>
            </a:pPr>
            <a:r>
              <a:rPr b="0" i="0" lang="en-US" sz="900" u="none" cap="none" strike="noStrike">
                <a:solidFill>
                  <a:srgbClr val="5B6B8C"/>
                </a:solidFill>
                <a:latin typeface="Calibri"/>
                <a:ea typeface="Calibri"/>
                <a:cs typeface="Calibri"/>
                <a:sym typeface="Calibri"/>
              </a:rPr>
              <a:t>responses w/ status 4xx on unauth probes</a:t>
            </a:r>
            <a:endParaRPr b="0" i="0" sz="900" u="none" cap="none" strike="noStrike">
              <a:solidFill>
                <a:schemeClr val="dk1"/>
              </a:solidFill>
              <a:latin typeface="Calibri"/>
              <a:ea typeface="Calibri"/>
              <a:cs typeface="Calibri"/>
              <a:sym typeface="Calibri"/>
            </a:endParaRPr>
          </a:p>
        </p:txBody>
      </p:sp>
      <p:sp>
        <p:nvSpPr>
          <p:cNvPr id="975" name="Google Shape;975;g3ec1cabf127_0_5"/>
          <p:cNvSpPr/>
          <p:nvPr/>
        </p:nvSpPr>
        <p:spPr>
          <a:xfrm>
            <a:off x="7086600" y="5532120"/>
            <a:ext cx="2194500" cy="960000"/>
          </a:xfrm>
          <a:prstGeom prst="roundRect">
            <a:avLst>
              <a:gd fmla="val 7619" name="adj"/>
            </a:avLst>
          </a:prstGeom>
          <a:solidFill>
            <a:srgbClr val="FFF8E6"/>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g3ec1cabf127_0_5"/>
          <p:cNvSpPr/>
          <p:nvPr/>
        </p:nvSpPr>
        <p:spPr>
          <a:xfrm>
            <a:off x="7086600" y="5596128"/>
            <a:ext cx="2194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100%</a:t>
            </a:r>
            <a:endParaRPr b="0" i="0" sz="2200" u="none" cap="none" strike="noStrike">
              <a:solidFill>
                <a:schemeClr val="dk1"/>
              </a:solidFill>
              <a:latin typeface="Calibri"/>
              <a:ea typeface="Calibri"/>
              <a:cs typeface="Calibri"/>
              <a:sym typeface="Calibri"/>
            </a:endParaRPr>
          </a:p>
        </p:txBody>
      </p:sp>
      <p:sp>
        <p:nvSpPr>
          <p:cNvPr id="977" name="Google Shape;977;g3ec1cabf127_0_5"/>
          <p:cNvSpPr/>
          <p:nvPr/>
        </p:nvSpPr>
        <p:spPr>
          <a:xfrm>
            <a:off x="7178040" y="603504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00"/>
              <a:buFont typeface="Calibri"/>
              <a:buNone/>
            </a:pPr>
            <a:r>
              <a:rPr b="0" i="0" lang="en-US" sz="900" u="none" cap="none" strike="noStrike">
                <a:solidFill>
                  <a:srgbClr val="5B6B8C"/>
                </a:solidFill>
                <a:latin typeface="Calibri"/>
                <a:ea typeface="Calibri"/>
                <a:cs typeface="Calibri"/>
                <a:sym typeface="Calibri"/>
              </a:rPr>
              <a:t>endpoints return application/json</a:t>
            </a:r>
            <a:endParaRPr b="0" i="0" sz="900" u="none" cap="none" strike="noStrike">
              <a:solidFill>
                <a:schemeClr val="dk1"/>
              </a:solidFill>
              <a:latin typeface="Calibri"/>
              <a:ea typeface="Calibri"/>
              <a:cs typeface="Calibri"/>
              <a:sym typeface="Calibri"/>
            </a:endParaRPr>
          </a:p>
        </p:txBody>
      </p:sp>
      <p:sp>
        <p:nvSpPr>
          <p:cNvPr id="978" name="Google Shape;978;g3ec1cabf127_0_5"/>
          <p:cNvSpPr/>
          <p:nvPr/>
        </p:nvSpPr>
        <p:spPr>
          <a:xfrm>
            <a:off x="9418320" y="5532120"/>
            <a:ext cx="2194500" cy="960000"/>
          </a:xfrm>
          <a:prstGeom prst="roundRect">
            <a:avLst>
              <a:gd fmla="val 7619" name="adj"/>
            </a:avLst>
          </a:prstGeom>
          <a:solidFill>
            <a:srgbClr val="FFF8E6"/>
          </a:solidFill>
          <a:ln>
            <a:noFill/>
          </a:ln>
          <a:effectLst>
            <a:outerShdw blurRad="101600" rotWithShape="0" algn="bl" dir="2700000" dist="38100">
              <a:srgbClr val="1E2761">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g3ec1cabf127_0_5"/>
          <p:cNvSpPr/>
          <p:nvPr/>
        </p:nvSpPr>
        <p:spPr>
          <a:xfrm>
            <a:off x="9418320" y="5596128"/>
            <a:ext cx="2194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100%</a:t>
            </a:r>
            <a:endParaRPr b="0" i="0" sz="2200" u="none" cap="none" strike="noStrike">
              <a:solidFill>
                <a:schemeClr val="dk1"/>
              </a:solidFill>
              <a:latin typeface="Calibri"/>
              <a:ea typeface="Calibri"/>
              <a:cs typeface="Calibri"/>
              <a:sym typeface="Calibri"/>
            </a:endParaRPr>
          </a:p>
        </p:txBody>
      </p:sp>
      <p:sp>
        <p:nvSpPr>
          <p:cNvPr id="980" name="Google Shape;980;g3ec1cabf127_0_5"/>
          <p:cNvSpPr/>
          <p:nvPr/>
        </p:nvSpPr>
        <p:spPr>
          <a:xfrm>
            <a:off x="9509760" y="603504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00"/>
              <a:buFont typeface="Calibri"/>
              <a:buNone/>
            </a:pPr>
            <a:r>
              <a:rPr b="0" i="0" lang="en-US" sz="900" u="none" cap="none" strike="noStrike">
                <a:solidFill>
                  <a:srgbClr val="5B6B8C"/>
                </a:solidFill>
                <a:latin typeface="Calibri"/>
                <a:ea typeface="Calibri"/>
                <a:cs typeface="Calibri"/>
                <a:sym typeface="Calibri"/>
              </a:rPr>
              <a:t>endpoints accessed via GET (no risky verbs)</a:t>
            </a:r>
            <a:endParaRPr b="0" i="0" sz="900" u="none" cap="none" strike="noStrike">
              <a:solidFill>
                <a:schemeClr val="dk1"/>
              </a:solidFill>
              <a:latin typeface="Calibri"/>
              <a:ea typeface="Calibri"/>
              <a:cs typeface="Calibri"/>
              <a:sym typeface="Calibri"/>
            </a:endParaRPr>
          </a:p>
        </p:txBody>
      </p:sp>
      <p:sp>
        <p:nvSpPr>
          <p:cNvPr id="981" name="Google Shape;981;g3ec1cabf127_0_5"/>
          <p:cNvSpPr/>
          <p:nvPr/>
        </p:nvSpPr>
        <p:spPr>
          <a:xfrm>
            <a:off x="4754880" y="6510528"/>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00"/>
              <a:buFont typeface="Calibri"/>
              <a:buNone/>
            </a:pPr>
            <a:r>
              <a:rPr b="0" i="1" lang="en-US" sz="900" u="none" cap="none" strike="noStrike">
                <a:solidFill>
                  <a:srgbClr val="5B6B8C"/>
                </a:solidFill>
                <a:latin typeface="Calibri"/>
                <a:ea typeface="Calibri"/>
                <a:cs typeface="Calibri"/>
                <a:sym typeface="Calibri"/>
              </a:rPr>
              <a:t>Full report: BariatricPath_ZAP_report.html (CI artifact, generated Jun 12 2026, ZAP 2.17.0)</a:t>
            </a:r>
            <a:endParaRPr b="0" i="0" sz="900" u="none" cap="none" strike="noStrike">
              <a:solidFill>
                <a:schemeClr val="dk1"/>
              </a:solidFill>
              <a:latin typeface="Calibri"/>
              <a:ea typeface="Calibri"/>
              <a:cs typeface="Calibri"/>
              <a:sym typeface="Calibri"/>
            </a:endParaRPr>
          </a:p>
        </p:txBody>
      </p:sp>
      <p:pic>
        <p:nvPicPr>
          <p:cNvPr id="982" name="Google Shape;982;g3ec1cabf127_0_5" title="Baritric_ZAP_report _preview.png"/>
          <p:cNvPicPr preferRelativeResize="0"/>
          <p:nvPr/>
        </p:nvPicPr>
        <p:blipFill>
          <a:blip r:embed="rId4">
            <a:alphaModFix/>
          </a:blip>
          <a:stretch>
            <a:fillRect/>
          </a:stretch>
        </p:blipFill>
        <p:spPr>
          <a:xfrm>
            <a:off x="220925" y="1691575"/>
            <a:ext cx="4779790" cy="3315976"/>
          </a:xfrm>
          <a:prstGeom prst="rect">
            <a:avLst/>
          </a:prstGeom>
          <a:noFill/>
          <a:ln>
            <a:noFill/>
          </a:ln>
        </p:spPr>
      </p:pic>
      <p:pic>
        <p:nvPicPr>
          <p:cNvPr id="983" name="Google Shape;983;g3ec1cabf127_0_5" title="Screenshot 2026-06-15 at 10.34.51 AM.png"/>
          <p:cNvPicPr preferRelativeResize="0"/>
          <p:nvPr/>
        </p:nvPicPr>
        <p:blipFill>
          <a:blip r:embed="rId5">
            <a:alphaModFix/>
          </a:blip>
          <a:stretch>
            <a:fillRect/>
          </a:stretch>
        </p:blipFill>
        <p:spPr>
          <a:xfrm>
            <a:off x="5934275" y="1408925"/>
            <a:ext cx="6167526" cy="3605025"/>
          </a:xfrm>
          <a:prstGeom prst="rect">
            <a:avLst/>
          </a:prstGeom>
          <a:noFill/>
          <a:ln>
            <a:noFill/>
          </a:ln>
        </p:spPr>
      </p:pic>
      <p:pic>
        <p:nvPicPr>
          <p:cNvPr descr="/home/claude/slides/logo.png" id="984" name="Google Shape;984;g3ec1cabf127_0_5"/>
          <p:cNvPicPr preferRelativeResize="0"/>
          <p:nvPr/>
        </p:nvPicPr>
        <p:blipFill rotWithShape="1">
          <a:blip r:embed="rId6">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989" name="Shape 989"/>
        <p:cNvGrpSpPr/>
        <p:nvPr/>
      </p:nvGrpSpPr>
      <p:grpSpPr>
        <a:xfrm>
          <a:off x="0" y="0"/>
          <a:ext cx="0" cy="0"/>
          <a:chOff x="0" y="0"/>
          <a:chExt cx="0" cy="0"/>
        </a:xfrm>
      </p:grpSpPr>
      <p:sp>
        <p:nvSpPr>
          <p:cNvPr id="990" name="Google Shape;990;p24"/>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991" name="Google Shape;991;p24"/>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992" name="Google Shape;992;p24"/>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
        <p:nvSpPr>
          <p:cNvPr id="993" name="Google Shape;993;p24"/>
          <p:cNvSpPr/>
          <p:nvPr/>
        </p:nvSpPr>
        <p:spPr>
          <a:xfrm>
            <a:off x="9052560" y="1188720"/>
            <a:ext cx="3931920" cy="393192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4"/>
          <p:cNvSpPr/>
          <p:nvPr/>
        </p:nvSpPr>
        <p:spPr>
          <a:xfrm>
            <a:off x="9692640" y="1828800"/>
            <a:ext cx="2651760" cy="265176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4"/>
          <p:cNvSpPr/>
          <p:nvPr/>
        </p:nvSpPr>
        <p:spPr>
          <a:xfrm>
            <a:off x="10607040" y="2697480"/>
            <a:ext cx="914400" cy="91440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loud_white.png" id="996" name="Google Shape;996;p24"/>
          <p:cNvPicPr preferRelativeResize="0"/>
          <p:nvPr/>
        </p:nvPicPr>
        <p:blipFill rotWithShape="1">
          <a:blip r:embed="rId3">
            <a:alphaModFix/>
          </a:blip>
          <a:srcRect b="0" l="0" r="0" t="0"/>
          <a:stretch/>
        </p:blipFill>
        <p:spPr>
          <a:xfrm>
            <a:off x="10812780" y="2903220"/>
            <a:ext cx="502920" cy="502920"/>
          </a:xfrm>
          <a:prstGeom prst="rect">
            <a:avLst/>
          </a:prstGeom>
          <a:noFill/>
          <a:ln>
            <a:noFill/>
          </a:ln>
        </p:spPr>
      </p:pic>
      <p:sp>
        <p:nvSpPr>
          <p:cNvPr id="997" name="Google Shape;997;p24"/>
          <p:cNvSpPr/>
          <p:nvPr/>
        </p:nvSpPr>
        <p:spPr>
          <a:xfrm>
            <a:off x="548640" y="1280160"/>
            <a:ext cx="36576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58C"/>
              </a:buClr>
              <a:buSzPts val="11000"/>
              <a:buFont typeface="Cambria"/>
              <a:buNone/>
            </a:pPr>
            <a:r>
              <a:rPr b="1" i="0" lang="en-US" sz="11000" u="none" cap="none" strike="noStrike">
                <a:solidFill>
                  <a:srgbClr val="37458C"/>
                </a:solidFill>
                <a:latin typeface="Cambria"/>
                <a:ea typeface="Cambria"/>
                <a:cs typeface="Cambria"/>
                <a:sym typeface="Cambria"/>
              </a:rPr>
              <a:t>06</a:t>
            </a:r>
            <a:endParaRPr b="0" i="0" sz="11000" u="none" cap="none" strike="noStrike">
              <a:solidFill>
                <a:schemeClr val="dk1"/>
              </a:solidFill>
              <a:latin typeface="Calibri"/>
              <a:ea typeface="Calibri"/>
              <a:cs typeface="Calibri"/>
              <a:sym typeface="Calibri"/>
            </a:endParaRPr>
          </a:p>
        </p:txBody>
      </p:sp>
      <p:sp>
        <p:nvSpPr>
          <p:cNvPr id="998" name="Google Shape;998;p24"/>
          <p:cNvSpPr/>
          <p:nvPr/>
        </p:nvSpPr>
        <p:spPr>
          <a:xfrm>
            <a:off x="594360" y="3017520"/>
            <a:ext cx="7315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Deployment</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A800"/>
              </a:buClr>
              <a:buSzPts val="4800"/>
              <a:buFont typeface="Cambria"/>
              <a:buNone/>
            </a:pPr>
            <a:r>
              <a:rPr b="1" i="0" lang="en-US" sz="4800" u="none" cap="none" strike="noStrike">
                <a:solidFill>
                  <a:srgbClr val="F4A800"/>
                </a:solidFill>
                <a:latin typeface="Cambria"/>
                <a:ea typeface="Cambria"/>
                <a:cs typeface="Cambria"/>
                <a:sym typeface="Cambria"/>
              </a:rPr>
              <a:t>&amp; Operations</a:t>
            </a:r>
            <a:endParaRPr b="0" i="0" sz="4800" u="none" cap="none" strike="noStrike">
              <a:solidFill>
                <a:schemeClr val="dk1"/>
              </a:solidFill>
              <a:latin typeface="Calibri"/>
              <a:ea typeface="Calibri"/>
              <a:cs typeface="Calibri"/>
              <a:sym typeface="Calibri"/>
            </a:endParaRPr>
          </a:p>
        </p:txBody>
      </p:sp>
      <p:sp>
        <p:nvSpPr>
          <p:cNvPr id="999" name="Google Shape;999;p24"/>
          <p:cNvSpPr/>
          <p:nvPr/>
        </p:nvSpPr>
        <p:spPr>
          <a:xfrm>
            <a:off x="612648" y="443484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Containerized deployment, HTTPS, and known limitations.</a:t>
            </a:r>
            <a:endParaRPr b="0" i="0" sz="1600" u="none" cap="none" strike="noStrike">
              <a:solidFill>
                <a:schemeClr val="dk1"/>
              </a:solidFill>
              <a:latin typeface="Calibri"/>
              <a:ea typeface="Calibri"/>
              <a:cs typeface="Calibri"/>
              <a:sym typeface="Calibri"/>
            </a:endParaRPr>
          </a:p>
        </p:txBody>
      </p:sp>
      <p:pic>
        <p:nvPicPr>
          <p:cNvPr descr="/home/claude/slides/logo_light.png" id="1000" name="Google Shape;1000;p24"/>
          <p:cNvPicPr preferRelativeResize="0"/>
          <p:nvPr/>
        </p:nvPicPr>
        <p:blipFill rotWithShape="1">
          <a:blip r:embed="rId4">
            <a:alphaModFix/>
          </a:blip>
          <a:srcRect b="0" l="0" r="0" t="0"/>
          <a:stretch/>
        </p:blipFill>
        <p:spPr>
          <a:xfrm>
            <a:off x="10896600" y="353568"/>
            <a:ext cx="1005840" cy="457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5" name="Shape 1005"/>
        <p:cNvGrpSpPr/>
        <p:nvPr/>
      </p:nvGrpSpPr>
      <p:grpSpPr>
        <a:xfrm>
          <a:off x="0" y="0"/>
          <a:ext cx="0" cy="0"/>
          <a:chOff x="0" y="0"/>
          <a:chExt cx="0" cy="0"/>
        </a:xfrm>
      </p:grpSpPr>
      <p:sp>
        <p:nvSpPr>
          <p:cNvPr id="1006" name="Google Shape;1006;p25"/>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DEPLOYMENT</a:t>
            </a:r>
            <a:endParaRPr b="0" i="0" sz="1200" u="none" cap="none" strike="noStrike">
              <a:solidFill>
                <a:schemeClr val="dk1"/>
              </a:solidFill>
              <a:latin typeface="Calibri"/>
              <a:ea typeface="Calibri"/>
              <a:cs typeface="Calibri"/>
              <a:sym typeface="Calibri"/>
            </a:endParaRPr>
          </a:p>
        </p:txBody>
      </p:sp>
      <p:sp>
        <p:nvSpPr>
          <p:cNvPr id="1007" name="Google Shape;1007;p25"/>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Deployment Architecture - DigitalOcean</a:t>
            </a:r>
            <a:endParaRPr b="0" i="0" sz="3200" u="none" cap="none" strike="noStrike">
              <a:solidFill>
                <a:schemeClr val="dk1"/>
              </a:solidFill>
              <a:latin typeface="Calibri"/>
              <a:ea typeface="Calibri"/>
              <a:cs typeface="Calibri"/>
              <a:sym typeface="Calibri"/>
            </a:endParaRPr>
          </a:p>
        </p:txBody>
      </p:sp>
      <p:sp>
        <p:nvSpPr>
          <p:cNvPr id="1008" name="Google Shape;1008;p25"/>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1009" name="Google Shape;1009;p25"/>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1010" name="Google Shape;1010;p25"/>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sp>
        <p:nvSpPr>
          <p:cNvPr id="1011" name="Google Shape;1011;p25"/>
          <p:cNvSpPr/>
          <p:nvPr/>
        </p:nvSpPr>
        <p:spPr>
          <a:xfrm>
            <a:off x="548640" y="1325880"/>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All </a:t>
            </a:r>
            <a:r>
              <a:rPr i="1" lang="en-US" sz="1300">
                <a:solidFill>
                  <a:srgbClr val="5B6B8C"/>
                </a:solidFill>
                <a:latin typeface="Calibri"/>
                <a:ea typeface="Calibri"/>
                <a:cs typeface="Calibri"/>
                <a:sym typeface="Calibri"/>
              </a:rPr>
              <a:t>five</a:t>
            </a:r>
            <a:r>
              <a:rPr b="0" i="1" lang="en-US" sz="1300" u="none" cap="none" strike="noStrike">
                <a:solidFill>
                  <a:srgbClr val="5B6B8C"/>
                </a:solidFill>
                <a:latin typeface="Calibri"/>
                <a:ea typeface="Calibri"/>
                <a:cs typeface="Calibri"/>
                <a:sym typeface="Calibri"/>
              </a:rPr>
              <a:t> services run as Docker containers on a single DigitalOcean droplet, orchestrated via Docker Compose, behind an Nginx reverse proxy with HTTPS.</a:t>
            </a:r>
            <a:endParaRPr b="0" i="0" sz="1300" u="none" cap="none" strike="noStrike">
              <a:solidFill>
                <a:schemeClr val="dk1"/>
              </a:solidFill>
              <a:latin typeface="Calibri"/>
              <a:ea typeface="Calibri"/>
              <a:cs typeface="Calibri"/>
              <a:sym typeface="Calibri"/>
            </a:endParaRPr>
          </a:p>
        </p:txBody>
      </p:sp>
      <p:sp>
        <p:nvSpPr>
          <p:cNvPr id="1012" name="Google Shape;1012;p25"/>
          <p:cNvSpPr/>
          <p:nvPr/>
        </p:nvSpPr>
        <p:spPr>
          <a:xfrm>
            <a:off x="548640" y="2011680"/>
            <a:ext cx="7955280" cy="4114800"/>
          </a:xfrm>
          <a:prstGeom prst="roundRect">
            <a:avLst>
              <a:gd fmla="val 1333" name="adj"/>
            </a:avLst>
          </a:prstGeom>
          <a:solidFill>
            <a:srgbClr val="F4F6FB"/>
          </a:solidFill>
          <a:ln cap="flat" cmpd="sng" w="19050">
            <a:solidFill>
              <a:srgbClr val="CADCF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5"/>
          <p:cNvSpPr/>
          <p:nvPr/>
        </p:nvSpPr>
        <p:spPr>
          <a:xfrm>
            <a:off x="777240" y="210312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DigitalOcean Droplet (Ubuntu)</a:t>
            </a:r>
            <a:endParaRPr b="0" i="0" sz="1200" u="none" cap="none" strike="noStrike">
              <a:solidFill>
                <a:schemeClr val="dk1"/>
              </a:solidFill>
              <a:latin typeface="Calibri"/>
              <a:ea typeface="Calibri"/>
              <a:cs typeface="Calibri"/>
              <a:sym typeface="Calibri"/>
            </a:endParaRPr>
          </a:p>
        </p:txBody>
      </p:sp>
      <p:sp>
        <p:nvSpPr>
          <p:cNvPr id="1014" name="Google Shape;1014;p25"/>
          <p:cNvSpPr/>
          <p:nvPr/>
        </p:nvSpPr>
        <p:spPr>
          <a:xfrm>
            <a:off x="868680" y="2514600"/>
            <a:ext cx="7360920" cy="594360"/>
          </a:xfrm>
          <a:prstGeom prst="roundRect">
            <a:avLst>
              <a:gd fmla="val 7692"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5"/>
          <p:cNvSpPr/>
          <p:nvPr/>
        </p:nvSpPr>
        <p:spPr>
          <a:xfrm>
            <a:off x="1005840" y="2587752"/>
            <a:ext cx="457200" cy="45720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network_white.png" id="1016" name="Google Shape;1016;p25"/>
          <p:cNvPicPr preferRelativeResize="0"/>
          <p:nvPr/>
        </p:nvPicPr>
        <p:blipFill rotWithShape="1">
          <a:blip r:embed="rId3">
            <a:alphaModFix/>
          </a:blip>
          <a:srcRect b="0" l="0" r="0" t="0"/>
          <a:stretch/>
        </p:blipFill>
        <p:spPr>
          <a:xfrm>
            <a:off x="1108710" y="2690622"/>
            <a:ext cx="251460" cy="251460"/>
          </a:xfrm>
          <a:prstGeom prst="rect">
            <a:avLst/>
          </a:prstGeom>
          <a:noFill/>
          <a:ln>
            <a:noFill/>
          </a:ln>
        </p:spPr>
      </p:pic>
      <p:sp>
        <p:nvSpPr>
          <p:cNvPr id="1017" name="Google Shape;1017;p25"/>
          <p:cNvSpPr/>
          <p:nvPr/>
        </p:nvSpPr>
        <p:spPr>
          <a:xfrm>
            <a:off x="1600200" y="2514600"/>
            <a:ext cx="64922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Nginx Reverse Proxy - HTTPS (TLS termination, port 443)</a:t>
            </a:r>
            <a:endParaRPr b="0" i="0" sz="1250" u="none" cap="none" strike="noStrike">
              <a:solidFill>
                <a:schemeClr val="dk1"/>
              </a:solidFill>
              <a:latin typeface="Calibri"/>
              <a:ea typeface="Calibri"/>
              <a:cs typeface="Calibri"/>
              <a:sym typeface="Calibri"/>
            </a:endParaRPr>
          </a:p>
        </p:txBody>
      </p:sp>
      <p:sp>
        <p:nvSpPr>
          <p:cNvPr id="1018" name="Google Shape;1018;p25"/>
          <p:cNvSpPr/>
          <p:nvPr/>
        </p:nvSpPr>
        <p:spPr>
          <a:xfrm>
            <a:off x="868680" y="3337560"/>
            <a:ext cx="1755648" cy="2606040"/>
          </a:xfrm>
          <a:prstGeom prst="roundRect">
            <a:avLst>
              <a:gd fmla="val 4167"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5"/>
          <p:cNvSpPr/>
          <p:nvPr/>
        </p:nvSpPr>
        <p:spPr>
          <a:xfrm>
            <a:off x="1495044" y="352044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eact_navy.png" id="1020" name="Google Shape;1020;p25"/>
          <p:cNvPicPr preferRelativeResize="0"/>
          <p:nvPr/>
        </p:nvPicPr>
        <p:blipFill rotWithShape="1">
          <a:blip r:embed="rId4">
            <a:alphaModFix/>
          </a:blip>
          <a:srcRect b="0" l="0" r="0" t="0"/>
          <a:stretch/>
        </p:blipFill>
        <p:spPr>
          <a:xfrm>
            <a:off x="1608201" y="3633597"/>
            <a:ext cx="276606" cy="276606"/>
          </a:xfrm>
          <a:prstGeom prst="rect">
            <a:avLst/>
          </a:prstGeom>
          <a:noFill/>
          <a:ln>
            <a:noFill/>
          </a:ln>
        </p:spPr>
      </p:pic>
      <p:sp>
        <p:nvSpPr>
          <p:cNvPr id="1021" name="Google Shape;1021;p25"/>
          <p:cNvSpPr/>
          <p:nvPr/>
        </p:nvSpPr>
        <p:spPr>
          <a:xfrm>
            <a:off x="868680" y="4114800"/>
            <a:ext cx="17556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Client</a:t>
            </a:r>
            <a:endParaRPr b="0" i="0" sz="1250" u="none" cap="none" strike="noStrike">
              <a:solidFill>
                <a:schemeClr val="dk1"/>
              </a:solidFill>
              <a:latin typeface="Calibri"/>
              <a:ea typeface="Calibri"/>
              <a:cs typeface="Calibri"/>
              <a:sym typeface="Calibri"/>
            </a:endParaRPr>
          </a:p>
        </p:txBody>
      </p:sp>
      <p:sp>
        <p:nvSpPr>
          <p:cNvPr id="1022" name="Google Shape;1022;p25"/>
          <p:cNvSpPr/>
          <p:nvPr/>
        </p:nvSpPr>
        <p:spPr>
          <a:xfrm>
            <a:off x="941832" y="4480560"/>
            <a:ext cx="160934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Vite dev server</a:t>
            </a:r>
            <a:endParaRPr sz="950">
              <a:solidFill>
                <a:srgbClr val="5B6B8C"/>
              </a:solidFill>
              <a:latin typeface="Calibri"/>
              <a:ea typeface="Calibri"/>
              <a:cs typeface="Calibri"/>
              <a:sym typeface="Calibri"/>
            </a:endParaRPr>
          </a:p>
          <a:p>
            <a:pPr indent="0" lvl="0" marL="0" marR="0" rtl="0" algn="ctr">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port 5173"</a:t>
            </a:r>
            <a:endParaRPr b="0" i="0" sz="950" u="none" cap="none" strike="noStrike">
              <a:solidFill>
                <a:schemeClr val="dk1"/>
              </a:solidFill>
              <a:latin typeface="Calibri"/>
              <a:ea typeface="Calibri"/>
              <a:cs typeface="Calibri"/>
              <a:sym typeface="Calibri"/>
            </a:endParaRPr>
          </a:p>
        </p:txBody>
      </p:sp>
      <p:sp>
        <p:nvSpPr>
          <p:cNvPr id="1023" name="Google Shape;1023;p25"/>
          <p:cNvSpPr/>
          <p:nvPr/>
        </p:nvSpPr>
        <p:spPr>
          <a:xfrm>
            <a:off x="1005840" y="5212080"/>
            <a:ext cx="1481328" cy="502920"/>
          </a:xfrm>
          <a:prstGeom prst="roundRect">
            <a:avLst>
              <a:gd fmla="val 36364" name="adj"/>
            </a:avLst>
          </a:prstGeom>
          <a:solidFill>
            <a:srgbClr val="E1F5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5"/>
          <p:cNvSpPr/>
          <p:nvPr/>
        </p:nvSpPr>
        <p:spPr>
          <a:xfrm>
            <a:off x="1005840" y="5212080"/>
            <a:ext cx="1481328"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9F45"/>
              </a:buClr>
              <a:buSzPts val="900"/>
              <a:buFont typeface="Calibri"/>
              <a:buNone/>
            </a:pPr>
            <a:r>
              <a:rPr b="1" i="0" lang="en-US" sz="900" u="none" cap="none" strike="noStrike">
                <a:solidFill>
                  <a:srgbClr val="2C9F45"/>
                </a:solidFill>
                <a:latin typeface="Calibri"/>
                <a:ea typeface="Calibri"/>
                <a:cs typeface="Calibri"/>
                <a:sym typeface="Calibri"/>
              </a:rPr>
              <a:t>Docker container</a:t>
            </a:r>
            <a:endParaRPr b="0" i="0" sz="900" u="none" cap="none" strike="noStrike">
              <a:solidFill>
                <a:schemeClr val="dk1"/>
              </a:solidFill>
              <a:latin typeface="Calibri"/>
              <a:ea typeface="Calibri"/>
              <a:cs typeface="Calibri"/>
              <a:sym typeface="Calibri"/>
            </a:endParaRPr>
          </a:p>
        </p:txBody>
      </p:sp>
      <p:sp>
        <p:nvSpPr>
          <p:cNvPr id="1025" name="Google Shape;1025;p25"/>
          <p:cNvSpPr/>
          <p:nvPr/>
        </p:nvSpPr>
        <p:spPr>
          <a:xfrm>
            <a:off x="2743200" y="3337560"/>
            <a:ext cx="1755648" cy="2606040"/>
          </a:xfrm>
          <a:prstGeom prst="roundRect">
            <a:avLst>
              <a:gd fmla="val 4167"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5"/>
          <p:cNvSpPr/>
          <p:nvPr/>
        </p:nvSpPr>
        <p:spPr>
          <a:xfrm>
            <a:off x="3369564" y="352044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erver_navy.png" id="1027" name="Google Shape;1027;p25"/>
          <p:cNvPicPr preferRelativeResize="0"/>
          <p:nvPr/>
        </p:nvPicPr>
        <p:blipFill rotWithShape="1">
          <a:blip r:embed="rId5">
            <a:alphaModFix/>
          </a:blip>
          <a:srcRect b="0" l="0" r="0" t="0"/>
          <a:stretch/>
        </p:blipFill>
        <p:spPr>
          <a:xfrm>
            <a:off x="3482721" y="3633597"/>
            <a:ext cx="276606" cy="276606"/>
          </a:xfrm>
          <a:prstGeom prst="rect">
            <a:avLst/>
          </a:prstGeom>
          <a:noFill/>
          <a:ln>
            <a:noFill/>
          </a:ln>
        </p:spPr>
      </p:pic>
      <p:sp>
        <p:nvSpPr>
          <p:cNvPr id="1028" name="Google Shape;1028;p25"/>
          <p:cNvSpPr/>
          <p:nvPr/>
        </p:nvSpPr>
        <p:spPr>
          <a:xfrm>
            <a:off x="2743200" y="4114800"/>
            <a:ext cx="17556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Server</a:t>
            </a:r>
            <a:endParaRPr b="0" i="0" sz="1250" u="none" cap="none" strike="noStrike">
              <a:solidFill>
                <a:schemeClr val="dk1"/>
              </a:solidFill>
              <a:latin typeface="Calibri"/>
              <a:ea typeface="Calibri"/>
              <a:cs typeface="Calibri"/>
              <a:sym typeface="Calibri"/>
            </a:endParaRPr>
          </a:p>
        </p:txBody>
      </p:sp>
      <p:sp>
        <p:nvSpPr>
          <p:cNvPr id="1029" name="Google Shape;1029;p25"/>
          <p:cNvSpPr/>
          <p:nvPr/>
        </p:nvSpPr>
        <p:spPr>
          <a:xfrm>
            <a:off x="2816352" y="4480560"/>
            <a:ext cx="160934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Express API</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port 500</a:t>
            </a:r>
            <a:r>
              <a:rPr lang="en-US" sz="950">
                <a:solidFill>
                  <a:srgbClr val="5B6B8C"/>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1030" name="Google Shape;1030;p25"/>
          <p:cNvSpPr/>
          <p:nvPr/>
        </p:nvSpPr>
        <p:spPr>
          <a:xfrm>
            <a:off x="2880360" y="5212080"/>
            <a:ext cx="1481328" cy="502920"/>
          </a:xfrm>
          <a:prstGeom prst="roundRect">
            <a:avLst>
              <a:gd fmla="val 36364" name="adj"/>
            </a:avLst>
          </a:prstGeom>
          <a:solidFill>
            <a:srgbClr val="E1F5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5"/>
          <p:cNvSpPr/>
          <p:nvPr/>
        </p:nvSpPr>
        <p:spPr>
          <a:xfrm>
            <a:off x="2880360" y="5212080"/>
            <a:ext cx="1481328"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9F45"/>
              </a:buClr>
              <a:buSzPts val="900"/>
              <a:buFont typeface="Calibri"/>
              <a:buNone/>
            </a:pPr>
            <a:r>
              <a:rPr b="1" i="0" lang="en-US" sz="900" u="none" cap="none" strike="noStrike">
                <a:solidFill>
                  <a:srgbClr val="2C9F45"/>
                </a:solidFill>
                <a:latin typeface="Calibri"/>
                <a:ea typeface="Calibri"/>
                <a:cs typeface="Calibri"/>
                <a:sym typeface="Calibri"/>
              </a:rPr>
              <a:t>Docker container</a:t>
            </a:r>
            <a:endParaRPr b="0" i="0" sz="900" u="none" cap="none" strike="noStrike">
              <a:solidFill>
                <a:schemeClr val="dk1"/>
              </a:solidFill>
              <a:latin typeface="Calibri"/>
              <a:ea typeface="Calibri"/>
              <a:cs typeface="Calibri"/>
              <a:sym typeface="Calibri"/>
            </a:endParaRPr>
          </a:p>
        </p:txBody>
      </p:sp>
      <p:sp>
        <p:nvSpPr>
          <p:cNvPr id="1032" name="Google Shape;1032;p25"/>
          <p:cNvSpPr/>
          <p:nvPr/>
        </p:nvSpPr>
        <p:spPr>
          <a:xfrm>
            <a:off x="4617720" y="3337560"/>
            <a:ext cx="1755648" cy="2606040"/>
          </a:xfrm>
          <a:prstGeom prst="roundRect">
            <a:avLst>
              <a:gd fmla="val 4167"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5"/>
          <p:cNvSpPr/>
          <p:nvPr/>
        </p:nvSpPr>
        <p:spPr>
          <a:xfrm>
            <a:off x="5244084" y="352044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navy.png" id="1034" name="Google Shape;1034;p25"/>
          <p:cNvPicPr preferRelativeResize="0"/>
          <p:nvPr/>
        </p:nvPicPr>
        <p:blipFill rotWithShape="1">
          <a:blip r:embed="rId6">
            <a:alphaModFix/>
          </a:blip>
          <a:srcRect b="0" l="0" r="0" t="0"/>
          <a:stretch/>
        </p:blipFill>
        <p:spPr>
          <a:xfrm>
            <a:off x="5357241" y="3633597"/>
            <a:ext cx="276606" cy="276606"/>
          </a:xfrm>
          <a:prstGeom prst="rect">
            <a:avLst/>
          </a:prstGeom>
          <a:noFill/>
          <a:ln>
            <a:noFill/>
          </a:ln>
        </p:spPr>
      </p:pic>
      <p:sp>
        <p:nvSpPr>
          <p:cNvPr id="1035" name="Google Shape;1035;p25"/>
          <p:cNvSpPr/>
          <p:nvPr/>
        </p:nvSpPr>
        <p:spPr>
          <a:xfrm>
            <a:off x="4617720" y="4114800"/>
            <a:ext cx="17556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AI Service</a:t>
            </a:r>
            <a:endParaRPr b="0" i="0" sz="1250" u="none" cap="none" strike="noStrike">
              <a:solidFill>
                <a:schemeClr val="dk1"/>
              </a:solidFill>
              <a:latin typeface="Calibri"/>
              <a:ea typeface="Calibri"/>
              <a:cs typeface="Calibri"/>
              <a:sym typeface="Calibri"/>
            </a:endParaRPr>
          </a:p>
        </p:txBody>
      </p:sp>
      <p:sp>
        <p:nvSpPr>
          <p:cNvPr id="1036" name="Google Shape;1036;p25"/>
          <p:cNvSpPr/>
          <p:nvPr/>
        </p:nvSpPr>
        <p:spPr>
          <a:xfrm>
            <a:off x="4690872" y="4480560"/>
            <a:ext cx="160934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FastAPI</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port 8000 (internal)</a:t>
            </a:r>
            <a:endParaRPr b="0" i="0" sz="950" u="none" cap="none" strike="noStrike">
              <a:solidFill>
                <a:srgbClr val="5B6B8C"/>
              </a:solidFill>
              <a:latin typeface="Calibri"/>
              <a:ea typeface="Calibri"/>
              <a:cs typeface="Calibri"/>
              <a:sym typeface="Calibri"/>
            </a:endParaRPr>
          </a:p>
          <a:p>
            <a:pPr indent="0" lvl="0" marL="0" rtl="0" algn="ctr">
              <a:spcBef>
                <a:spcPts val="0"/>
              </a:spcBef>
              <a:spcAft>
                <a:spcPts val="0"/>
              </a:spcAft>
              <a:buClr>
                <a:srgbClr val="5B6B8C"/>
              </a:buClr>
              <a:buSzPts val="950"/>
              <a:buFont typeface="Calibri"/>
              <a:buNone/>
            </a:pPr>
            <a:r>
              <a:rPr lang="en-US" sz="950">
                <a:solidFill>
                  <a:srgbClr val="5B6B8C"/>
                </a:solidFill>
                <a:latin typeface="Calibri"/>
                <a:ea typeface="Calibri"/>
                <a:cs typeface="Calibri"/>
                <a:sym typeface="Calibri"/>
              </a:rPr>
              <a:t>+ ChromaDB</a:t>
            </a:r>
            <a:endParaRPr sz="950">
              <a:solidFill>
                <a:srgbClr val="5B6B8C"/>
              </a:solidFill>
              <a:latin typeface="Calibri"/>
              <a:ea typeface="Calibri"/>
              <a:cs typeface="Calibri"/>
              <a:sym typeface="Calibri"/>
            </a:endParaRPr>
          </a:p>
        </p:txBody>
      </p:sp>
      <p:sp>
        <p:nvSpPr>
          <p:cNvPr id="1037" name="Google Shape;1037;p25"/>
          <p:cNvSpPr/>
          <p:nvPr/>
        </p:nvSpPr>
        <p:spPr>
          <a:xfrm>
            <a:off x="4754880" y="5212080"/>
            <a:ext cx="1481328" cy="502920"/>
          </a:xfrm>
          <a:prstGeom prst="roundRect">
            <a:avLst>
              <a:gd fmla="val 36364" name="adj"/>
            </a:avLst>
          </a:prstGeom>
          <a:solidFill>
            <a:srgbClr val="E1F5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5"/>
          <p:cNvSpPr/>
          <p:nvPr/>
        </p:nvSpPr>
        <p:spPr>
          <a:xfrm>
            <a:off x="4754880" y="5212080"/>
            <a:ext cx="1481328"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9F45"/>
              </a:buClr>
              <a:buSzPts val="900"/>
              <a:buFont typeface="Calibri"/>
              <a:buNone/>
            </a:pPr>
            <a:r>
              <a:rPr b="1" i="0" lang="en-US" sz="900" u="none" cap="none" strike="noStrike">
                <a:solidFill>
                  <a:srgbClr val="2C9F45"/>
                </a:solidFill>
                <a:latin typeface="Calibri"/>
                <a:ea typeface="Calibri"/>
                <a:cs typeface="Calibri"/>
                <a:sym typeface="Calibri"/>
              </a:rPr>
              <a:t>Docker container</a:t>
            </a:r>
            <a:endParaRPr b="0" i="0" sz="900" u="none" cap="none" strike="noStrike">
              <a:solidFill>
                <a:schemeClr val="dk1"/>
              </a:solidFill>
              <a:latin typeface="Calibri"/>
              <a:ea typeface="Calibri"/>
              <a:cs typeface="Calibri"/>
              <a:sym typeface="Calibri"/>
            </a:endParaRPr>
          </a:p>
        </p:txBody>
      </p:sp>
      <p:sp>
        <p:nvSpPr>
          <p:cNvPr id="1039" name="Google Shape;1039;p25"/>
          <p:cNvSpPr/>
          <p:nvPr/>
        </p:nvSpPr>
        <p:spPr>
          <a:xfrm>
            <a:off x="6492240" y="3337560"/>
            <a:ext cx="1755648" cy="2606040"/>
          </a:xfrm>
          <a:prstGeom prst="roundRect">
            <a:avLst>
              <a:gd fmla="val 4167" name="adj"/>
            </a:avLst>
          </a:prstGeom>
          <a:solidFill>
            <a:srgbClr val="FFFFFF"/>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5"/>
          <p:cNvSpPr/>
          <p:nvPr/>
        </p:nvSpPr>
        <p:spPr>
          <a:xfrm>
            <a:off x="7118604" y="3520440"/>
            <a:ext cx="502920" cy="502920"/>
          </a:xfrm>
          <a:prstGeom prst="ellipse">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database_navy.png" id="1041" name="Google Shape;1041;p25"/>
          <p:cNvPicPr preferRelativeResize="0"/>
          <p:nvPr/>
        </p:nvPicPr>
        <p:blipFill rotWithShape="1">
          <a:blip r:embed="rId7">
            <a:alphaModFix/>
          </a:blip>
          <a:srcRect b="0" l="0" r="0" t="0"/>
          <a:stretch/>
        </p:blipFill>
        <p:spPr>
          <a:xfrm>
            <a:off x="7231761" y="3633597"/>
            <a:ext cx="276606" cy="276606"/>
          </a:xfrm>
          <a:prstGeom prst="rect">
            <a:avLst/>
          </a:prstGeom>
          <a:noFill/>
          <a:ln>
            <a:noFill/>
          </a:ln>
        </p:spPr>
      </p:pic>
      <p:sp>
        <p:nvSpPr>
          <p:cNvPr id="1042" name="Google Shape;1042;p25"/>
          <p:cNvSpPr/>
          <p:nvPr/>
        </p:nvSpPr>
        <p:spPr>
          <a:xfrm>
            <a:off x="6492240" y="4114800"/>
            <a:ext cx="17556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mbria"/>
              <a:buNone/>
            </a:pPr>
            <a:r>
              <a:rPr b="1" i="0" lang="en-US" sz="1250" u="none" cap="none" strike="noStrike">
                <a:solidFill>
                  <a:srgbClr val="1E2761"/>
                </a:solidFill>
                <a:latin typeface="Cambria"/>
                <a:ea typeface="Cambria"/>
                <a:cs typeface="Cambria"/>
                <a:sym typeface="Cambria"/>
              </a:rPr>
              <a:t>PostgreSQL</a:t>
            </a:r>
            <a:endParaRPr b="0" i="0" sz="1250" u="none" cap="none" strike="noStrike">
              <a:solidFill>
                <a:schemeClr val="dk1"/>
              </a:solidFill>
              <a:latin typeface="Calibri"/>
              <a:ea typeface="Calibri"/>
              <a:cs typeface="Calibri"/>
              <a:sym typeface="Calibri"/>
            </a:endParaRPr>
          </a:p>
        </p:txBody>
      </p:sp>
      <p:sp>
        <p:nvSpPr>
          <p:cNvPr id="1043" name="Google Shape;1043;p25"/>
          <p:cNvSpPr/>
          <p:nvPr/>
        </p:nvSpPr>
        <p:spPr>
          <a:xfrm>
            <a:off x="6565392" y="4503423"/>
            <a:ext cx="1609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Persistent volume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for data </a:t>
            </a:r>
            <a:endParaRPr b="0" i="0" sz="950" u="none" cap="none" strike="noStrike">
              <a:solidFill>
                <a:schemeClr val="dk1"/>
              </a:solidFill>
              <a:latin typeface="Calibri"/>
              <a:ea typeface="Calibri"/>
              <a:cs typeface="Calibri"/>
              <a:sym typeface="Calibri"/>
            </a:endParaRPr>
          </a:p>
        </p:txBody>
      </p:sp>
      <p:sp>
        <p:nvSpPr>
          <p:cNvPr id="1044" name="Google Shape;1044;p25"/>
          <p:cNvSpPr/>
          <p:nvPr/>
        </p:nvSpPr>
        <p:spPr>
          <a:xfrm>
            <a:off x="6629400" y="5212080"/>
            <a:ext cx="1481328" cy="502920"/>
          </a:xfrm>
          <a:prstGeom prst="roundRect">
            <a:avLst>
              <a:gd fmla="val 36364" name="adj"/>
            </a:avLst>
          </a:prstGeom>
          <a:solidFill>
            <a:srgbClr val="E1F5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5"/>
          <p:cNvSpPr/>
          <p:nvPr/>
        </p:nvSpPr>
        <p:spPr>
          <a:xfrm>
            <a:off x="6629400" y="5212080"/>
            <a:ext cx="1481328"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9F45"/>
              </a:buClr>
              <a:buSzPts val="900"/>
              <a:buFont typeface="Calibri"/>
              <a:buNone/>
            </a:pPr>
            <a:r>
              <a:rPr b="1" i="0" lang="en-US" sz="900" u="none" cap="none" strike="noStrike">
                <a:solidFill>
                  <a:srgbClr val="2C9F45"/>
                </a:solidFill>
                <a:latin typeface="Calibri"/>
                <a:ea typeface="Calibri"/>
                <a:cs typeface="Calibri"/>
                <a:sym typeface="Calibri"/>
              </a:rPr>
              <a:t>Docker container</a:t>
            </a:r>
            <a:endParaRPr b="0" i="0" sz="900" u="none" cap="none" strike="noStrike">
              <a:solidFill>
                <a:schemeClr val="dk1"/>
              </a:solidFill>
              <a:latin typeface="Calibri"/>
              <a:ea typeface="Calibri"/>
              <a:cs typeface="Calibri"/>
              <a:sym typeface="Calibri"/>
            </a:endParaRPr>
          </a:p>
        </p:txBody>
      </p:sp>
      <p:sp>
        <p:nvSpPr>
          <p:cNvPr id="1046" name="Google Shape;1046;p25"/>
          <p:cNvSpPr/>
          <p:nvPr/>
        </p:nvSpPr>
        <p:spPr>
          <a:xfrm>
            <a:off x="777240" y="5852160"/>
            <a:ext cx="7589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00"/>
              <a:buFont typeface="Calibri"/>
              <a:buNone/>
            </a:pPr>
            <a:r>
              <a:rPr b="0" i="1" lang="en-US" sz="900" u="none" cap="none" strike="noStrike">
                <a:solidFill>
                  <a:srgbClr val="5B6B8C"/>
                </a:solidFill>
                <a:latin typeface="Calibri"/>
                <a:ea typeface="Calibri"/>
                <a:cs typeface="Calibri"/>
                <a:sym typeface="Calibri"/>
              </a:rPr>
              <a:t>docker-compose.yml orchestrates all </a:t>
            </a:r>
            <a:r>
              <a:rPr i="1" lang="en-US" sz="900">
                <a:solidFill>
                  <a:srgbClr val="5B6B8C"/>
                </a:solidFill>
                <a:latin typeface="Calibri"/>
                <a:ea typeface="Calibri"/>
                <a:cs typeface="Calibri"/>
                <a:sym typeface="Calibri"/>
              </a:rPr>
              <a:t>5 </a:t>
            </a:r>
            <a:r>
              <a:rPr b="0" i="1" lang="en-US" sz="900" u="none" cap="none" strike="noStrike">
                <a:solidFill>
                  <a:srgbClr val="5B6B8C"/>
                </a:solidFill>
                <a:latin typeface="Calibri"/>
                <a:ea typeface="Calibri"/>
                <a:cs typeface="Calibri"/>
                <a:sym typeface="Calibri"/>
              </a:rPr>
              <a:t>containers - AI service joins the internal Docker network only (no public port)</a:t>
            </a:r>
            <a:endParaRPr b="0" i="0" sz="900" u="none" cap="none" strike="noStrike">
              <a:solidFill>
                <a:schemeClr val="dk1"/>
              </a:solidFill>
              <a:latin typeface="Calibri"/>
              <a:ea typeface="Calibri"/>
              <a:cs typeface="Calibri"/>
              <a:sym typeface="Calibri"/>
            </a:endParaRPr>
          </a:p>
        </p:txBody>
      </p:sp>
      <p:sp>
        <p:nvSpPr>
          <p:cNvPr id="1047" name="Google Shape;1047;p25"/>
          <p:cNvSpPr/>
          <p:nvPr/>
        </p:nvSpPr>
        <p:spPr>
          <a:xfrm>
            <a:off x="8686800" y="201168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Operational Notes</a:t>
            </a:r>
            <a:endParaRPr b="0" i="0" sz="1400" u="none" cap="none" strike="noStrike">
              <a:solidFill>
                <a:schemeClr val="dk1"/>
              </a:solidFill>
              <a:latin typeface="Calibri"/>
              <a:ea typeface="Calibri"/>
              <a:cs typeface="Calibri"/>
              <a:sym typeface="Calibri"/>
            </a:endParaRPr>
          </a:p>
        </p:txBody>
      </p:sp>
      <p:sp>
        <p:nvSpPr>
          <p:cNvPr id="1048" name="Google Shape;1048;p25"/>
          <p:cNvSpPr/>
          <p:nvPr/>
        </p:nvSpPr>
        <p:spPr>
          <a:xfrm>
            <a:off x="8686800" y="2423160"/>
            <a:ext cx="2953512" cy="3703320"/>
          </a:xfrm>
          <a:prstGeom prst="roundRect">
            <a:avLst>
              <a:gd fmla="val 2477"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5"/>
          <p:cNvSpPr/>
          <p:nvPr/>
        </p:nvSpPr>
        <p:spPr>
          <a:xfrm>
            <a:off x="8749250" y="2560325"/>
            <a:ext cx="2772300" cy="347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Known Limitation: Email</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000"/>
              <a:buFont typeface="Calibri"/>
              <a:buNone/>
            </a:pPr>
            <a:r>
              <a:rPr lang="en-US" sz="1000">
                <a:latin typeface="Calibri"/>
                <a:ea typeface="Calibri"/>
                <a:cs typeface="Calibri"/>
                <a:sym typeface="Calibri"/>
              </a:rPr>
              <a:t>Confirmation emails use Nodemailer with Gmail. Emails do not send on the deployed droplet because DigitalOcean blocks outbound SMTP. The app skips the email silently and the submission completes normally.</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5B6B8C"/>
              </a:buClr>
              <a:buSzPts val="1000"/>
              <a:buFont typeface="Calibri"/>
              <a:buNone/>
            </a:pPr>
            <a:r>
              <a:rPr b="0" i="1" lang="en-US" sz="1000" u="none" cap="none" strike="noStrike">
                <a:solidFill>
                  <a:srgbClr val="5B6B8C"/>
                </a:solidFill>
                <a:latin typeface="Calibri"/>
                <a:ea typeface="Calibri"/>
                <a:cs typeface="Calibri"/>
                <a:sym typeface="Calibri"/>
              </a:rPr>
              <a:t>Production fix: verify a custom domain in Firebase or use SendGrid/Postmark.</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400"/>
              <a:buFont typeface="Calibri"/>
              <a:buNone/>
            </a:pPr>
            <a:r>
              <a:rPr b="0" i="0" lang="en-US" sz="400" u="none" cap="none" strike="noStrike">
                <a:solidFill>
                  <a:srgbClr val="000000"/>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Secrets</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All Firebase service-account keys, DB URLs, and API keys are injected via environment variables - never committed to the repo.</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400"/>
              <a:buFont typeface="Calibri"/>
              <a:buNone/>
            </a:pPr>
            <a:r>
              <a:rPr b="0" i="0" lang="en-US" sz="400" u="none" cap="none" strike="noStrike">
                <a:solidFill>
                  <a:srgbClr val="000000"/>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CI/CD to Deploy</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GitHub Actions runs all test + security workflows on PR to dev; deployment to the droplet is a manual pull + compose up for this iteration.</a:t>
            </a:r>
            <a:endParaRPr b="0" i="0" sz="1200" u="none" cap="none" strike="noStrike">
              <a:solidFill>
                <a:schemeClr val="dk1"/>
              </a:solidFill>
              <a:latin typeface="Calibri"/>
              <a:ea typeface="Calibri"/>
              <a:cs typeface="Calibri"/>
              <a:sym typeface="Calibri"/>
            </a:endParaRPr>
          </a:p>
        </p:txBody>
      </p:sp>
      <p:pic>
        <p:nvPicPr>
          <p:cNvPr descr="/home/claude/slides/logo.png" id="1050" name="Google Shape;1050;p25"/>
          <p:cNvPicPr preferRelativeResize="0"/>
          <p:nvPr/>
        </p:nvPicPr>
        <p:blipFill rotWithShape="1">
          <a:blip r:embed="rId8">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055" name="Shape 1055"/>
        <p:cNvGrpSpPr/>
        <p:nvPr/>
      </p:nvGrpSpPr>
      <p:grpSpPr>
        <a:xfrm>
          <a:off x="0" y="0"/>
          <a:ext cx="0" cy="0"/>
          <a:chOff x="0" y="0"/>
          <a:chExt cx="0" cy="0"/>
        </a:xfrm>
      </p:grpSpPr>
      <p:sp>
        <p:nvSpPr>
          <p:cNvPr id="1056" name="Google Shape;1056;p27"/>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1057" name="Google Shape;1057;p27"/>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1058" name="Google Shape;1058;p27"/>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7C4"/>
              </a:buClr>
              <a:buSzPts val="900"/>
              <a:buFont typeface="Calibri"/>
              <a:buNone/>
            </a:pPr>
            <a:r>
              <a:rPr b="0" i="0" lang="en-US" sz="900" u="none" cap="none" strike="noStrike">
                <a:solidFill>
                  <a:srgbClr val="8B97C4"/>
                </a:solidFill>
                <a:latin typeface="Calibri"/>
                <a:ea typeface="Calibri"/>
                <a:cs typeface="Calibri"/>
                <a:sym typeface="Calibri"/>
              </a:rPr>
              <a:t>27</a:t>
            </a:r>
            <a:endParaRPr b="0" i="0" sz="900" u="none" cap="none" strike="noStrike">
              <a:solidFill>
                <a:schemeClr val="dk1"/>
              </a:solidFill>
              <a:latin typeface="Calibri"/>
              <a:ea typeface="Calibri"/>
              <a:cs typeface="Calibri"/>
              <a:sym typeface="Calibri"/>
            </a:endParaRPr>
          </a:p>
        </p:txBody>
      </p:sp>
      <p:sp>
        <p:nvSpPr>
          <p:cNvPr id="1059" name="Google Shape;1059;p27"/>
          <p:cNvSpPr/>
          <p:nvPr/>
        </p:nvSpPr>
        <p:spPr>
          <a:xfrm>
            <a:off x="548640" y="502920"/>
            <a:ext cx="7315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Live Demo </a:t>
            </a:r>
            <a:endParaRPr b="0" i="0" sz="3600" u="none" cap="none" strike="noStrike">
              <a:solidFill>
                <a:schemeClr val="dk1"/>
              </a:solidFill>
              <a:latin typeface="Calibri"/>
              <a:ea typeface="Calibri"/>
              <a:cs typeface="Calibri"/>
              <a:sym typeface="Calibri"/>
            </a:endParaRPr>
          </a:p>
        </p:txBody>
      </p:sp>
      <p:sp>
        <p:nvSpPr>
          <p:cNvPr id="1060" name="Google Shape;1060;p27"/>
          <p:cNvSpPr/>
          <p:nvPr/>
        </p:nvSpPr>
        <p:spPr>
          <a:xfrm>
            <a:off x="566924" y="1234450"/>
            <a:ext cx="11443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1" lang="en-US" sz="1400" u="none" cap="none" strike="noStrike">
                <a:solidFill>
                  <a:srgbClr val="CADCFC"/>
                </a:solidFill>
                <a:latin typeface="Calibri"/>
                <a:ea typeface="Calibri"/>
                <a:cs typeface="Calibri"/>
                <a:sym typeface="Calibri"/>
              </a:rPr>
              <a:t>Walking through the patient, coordinator, director, and AI assistant flows: </a:t>
            </a:r>
            <a:r>
              <a:rPr i="1" lang="en-US" u="sng">
                <a:solidFill>
                  <a:schemeClr val="hlink"/>
                </a:solidFill>
                <a:latin typeface="Calibri"/>
                <a:ea typeface="Calibri"/>
                <a:cs typeface="Calibri"/>
                <a:sym typeface="Calibri"/>
                <a:hlinkClick r:id="rId3"/>
              </a:rPr>
              <a:t>Link to video in Drive</a:t>
            </a:r>
            <a:endParaRPr b="0" i="0" sz="1400" u="none" cap="none" strike="noStrike">
              <a:solidFill>
                <a:schemeClr val="dk1"/>
              </a:solidFill>
              <a:latin typeface="Calibri"/>
              <a:ea typeface="Calibri"/>
              <a:cs typeface="Calibri"/>
              <a:sym typeface="Calibri"/>
            </a:endParaRPr>
          </a:p>
        </p:txBody>
      </p:sp>
      <p:sp>
        <p:nvSpPr>
          <p:cNvPr id="1061" name="Google Shape;1061;p27"/>
          <p:cNvSpPr/>
          <p:nvPr/>
        </p:nvSpPr>
        <p:spPr>
          <a:xfrm>
            <a:off x="548640" y="1874520"/>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7"/>
          <p:cNvSpPr/>
          <p:nvPr/>
        </p:nvSpPr>
        <p:spPr>
          <a:xfrm>
            <a:off x="713232" y="2020824"/>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7"/>
          <p:cNvSpPr/>
          <p:nvPr/>
        </p:nvSpPr>
        <p:spPr>
          <a:xfrm>
            <a:off x="713232" y="202082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1064" name="Google Shape;1064;p27"/>
          <p:cNvSpPr/>
          <p:nvPr/>
        </p:nvSpPr>
        <p:spPr>
          <a:xfrm>
            <a:off x="5212080" y="2020824"/>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md_white.png" id="1065" name="Google Shape;1065;p27"/>
          <p:cNvPicPr preferRelativeResize="0"/>
          <p:nvPr/>
        </p:nvPicPr>
        <p:blipFill rotWithShape="1">
          <a:blip r:embed="rId4">
            <a:alphaModFix/>
          </a:blip>
          <a:srcRect b="0" l="0" r="0" t="0"/>
          <a:stretch/>
        </p:blipFill>
        <p:spPr>
          <a:xfrm>
            <a:off x="5319065" y="2127809"/>
            <a:ext cx="261518" cy="261518"/>
          </a:xfrm>
          <a:prstGeom prst="rect">
            <a:avLst/>
          </a:prstGeom>
          <a:noFill/>
          <a:ln>
            <a:noFill/>
          </a:ln>
        </p:spPr>
      </p:pic>
      <p:sp>
        <p:nvSpPr>
          <p:cNvPr id="1066" name="Google Shape;1066;p27"/>
          <p:cNvSpPr/>
          <p:nvPr/>
        </p:nvSpPr>
        <p:spPr>
          <a:xfrm>
            <a:off x="1325880" y="1874520"/>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Privacy Policy &amp; Registration</a:t>
            </a:r>
            <a:endParaRPr b="0" i="0" sz="1450" u="none" cap="none" strike="noStrike">
              <a:solidFill>
                <a:schemeClr val="dk1"/>
              </a:solidFill>
              <a:latin typeface="Calibri"/>
              <a:ea typeface="Calibri"/>
              <a:cs typeface="Calibri"/>
              <a:sym typeface="Calibri"/>
            </a:endParaRPr>
          </a:p>
        </p:txBody>
      </p:sp>
      <p:sp>
        <p:nvSpPr>
          <p:cNvPr id="1067" name="Google Shape;1067;p27"/>
          <p:cNvSpPr/>
          <p:nvPr/>
        </p:nvSpPr>
        <p:spPr>
          <a:xfrm>
            <a:off x="548640" y="2816352"/>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7"/>
          <p:cNvSpPr/>
          <p:nvPr/>
        </p:nvSpPr>
        <p:spPr>
          <a:xfrm>
            <a:off x="713232" y="2962656"/>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7"/>
          <p:cNvSpPr/>
          <p:nvPr/>
        </p:nvSpPr>
        <p:spPr>
          <a:xfrm>
            <a:off x="713232" y="2962656"/>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1070" name="Google Shape;1070;p27"/>
          <p:cNvSpPr/>
          <p:nvPr/>
        </p:nvSpPr>
        <p:spPr>
          <a:xfrm>
            <a:off x="5212080" y="2962656"/>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clipboardlist_white.png" id="1071" name="Google Shape;1071;p27"/>
          <p:cNvPicPr preferRelativeResize="0"/>
          <p:nvPr/>
        </p:nvPicPr>
        <p:blipFill rotWithShape="1">
          <a:blip r:embed="rId5">
            <a:alphaModFix/>
          </a:blip>
          <a:srcRect b="0" l="0" r="0" t="0"/>
          <a:stretch/>
        </p:blipFill>
        <p:spPr>
          <a:xfrm>
            <a:off x="5319065" y="3069641"/>
            <a:ext cx="261518" cy="261518"/>
          </a:xfrm>
          <a:prstGeom prst="rect">
            <a:avLst/>
          </a:prstGeom>
          <a:noFill/>
          <a:ln>
            <a:noFill/>
          </a:ln>
        </p:spPr>
      </p:pic>
      <p:sp>
        <p:nvSpPr>
          <p:cNvPr id="1072" name="Google Shape;1072;p27"/>
          <p:cNvSpPr/>
          <p:nvPr/>
        </p:nvSpPr>
        <p:spPr>
          <a:xfrm>
            <a:off x="1325880" y="2816352"/>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Appointment Checklist</a:t>
            </a:r>
            <a:endParaRPr b="0" i="0" sz="1450" u="none" cap="none" strike="noStrike">
              <a:solidFill>
                <a:schemeClr val="dk1"/>
              </a:solidFill>
              <a:latin typeface="Calibri"/>
              <a:ea typeface="Calibri"/>
              <a:cs typeface="Calibri"/>
              <a:sym typeface="Calibri"/>
            </a:endParaRPr>
          </a:p>
        </p:txBody>
      </p:sp>
      <p:sp>
        <p:nvSpPr>
          <p:cNvPr id="1073" name="Google Shape;1073;p27"/>
          <p:cNvSpPr/>
          <p:nvPr/>
        </p:nvSpPr>
        <p:spPr>
          <a:xfrm>
            <a:off x="548640" y="3758184"/>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7"/>
          <p:cNvSpPr/>
          <p:nvPr/>
        </p:nvSpPr>
        <p:spPr>
          <a:xfrm>
            <a:off x="713232" y="3904488"/>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7"/>
          <p:cNvSpPr/>
          <p:nvPr/>
        </p:nvSpPr>
        <p:spPr>
          <a:xfrm>
            <a:off x="713232" y="390448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1076" name="Google Shape;1076;p27"/>
          <p:cNvSpPr/>
          <p:nvPr/>
        </p:nvSpPr>
        <p:spPr>
          <a:xfrm>
            <a:off x="5212080" y="3904488"/>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bell_white.png" id="1077" name="Google Shape;1077;p27"/>
          <p:cNvPicPr preferRelativeResize="0"/>
          <p:nvPr/>
        </p:nvPicPr>
        <p:blipFill rotWithShape="1">
          <a:blip r:embed="rId6">
            <a:alphaModFix/>
          </a:blip>
          <a:srcRect b="0" l="0" r="0" t="0"/>
          <a:stretch/>
        </p:blipFill>
        <p:spPr>
          <a:xfrm>
            <a:off x="5319065" y="4011473"/>
            <a:ext cx="261518" cy="261518"/>
          </a:xfrm>
          <a:prstGeom prst="rect">
            <a:avLst/>
          </a:prstGeom>
          <a:noFill/>
          <a:ln>
            <a:noFill/>
          </a:ln>
        </p:spPr>
      </p:pic>
      <p:sp>
        <p:nvSpPr>
          <p:cNvPr id="1078" name="Google Shape;1078;p27"/>
          <p:cNvSpPr/>
          <p:nvPr/>
        </p:nvSpPr>
        <p:spPr>
          <a:xfrm>
            <a:off x="1325880" y="3758184"/>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Notifications (real-time)</a:t>
            </a:r>
            <a:endParaRPr b="0" i="0" sz="1450" u="none" cap="none" strike="noStrike">
              <a:solidFill>
                <a:schemeClr val="dk1"/>
              </a:solidFill>
              <a:latin typeface="Calibri"/>
              <a:ea typeface="Calibri"/>
              <a:cs typeface="Calibri"/>
              <a:sym typeface="Calibri"/>
            </a:endParaRPr>
          </a:p>
        </p:txBody>
      </p:sp>
      <p:sp>
        <p:nvSpPr>
          <p:cNvPr id="1079" name="Google Shape;1079;p27"/>
          <p:cNvSpPr/>
          <p:nvPr/>
        </p:nvSpPr>
        <p:spPr>
          <a:xfrm>
            <a:off x="548640" y="4700016"/>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7"/>
          <p:cNvSpPr/>
          <p:nvPr/>
        </p:nvSpPr>
        <p:spPr>
          <a:xfrm>
            <a:off x="713232" y="4846320"/>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7"/>
          <p:cNvSpPr/>
          <p:nvPr/>
        </p:nvSpPr>
        <p:spPr>
          <a:xfrm>
            <a:off x="713232" y="484632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4</a:t>
            </a:r>
            <a:endParaRPr b="0" i="0" sz="1600" u="none" cap="none" strike="noStrike">
              <a:solidFill>
                <a:schemeClr val="dk1"/>
              </a:solidFill>
              <a:latin typeface="Calibri"/>
              <a:ea typeface="Calibri"/>
              <a:cs typeface="Calibri"/>
              <a:sym typeface="Calibri"/>
            </a:endParaRPr>
          </a:p>
        </p:txBody>
      </p:sp>
      <p:sp>
        <p:nvSpPr>
          <p:cNvPr id="1082" name="Google Shape;1082;p27"/>
          <p:cNvSpPr/>
          <p:nvPr/>
        </p:nvSpPr>
        <p:spPr>
          <a:xfrm>
            <a:off x="5212080" y="4846320"/>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cog_white.png" id="1083" name="Google Shape;1083;p27"/>
          <p:cNvPicPr preferRelativeResize="0"/>
          <p:nvPr/>
        </p:nvPicPr>
        <p:blipFill rotWithShape="1">
          <a:blip r:embed="rId7">
            <a:alphaModFix/>
          </a:blip>
          <a:srcRect b="0" l="0" r="0" t="0"/>
          <a:stretch/>
        </p:blipFill>
        <p:spPr>
          <a:xfrm>
            <a:off x="5319065" y="4953305"/>
            <a:ext cx="261518" cy="261518"/>
          </a:xfrm>
          <a:prstGeom prst="rect">
            <a:avLst/>
          </a:prstGeom>
          <a:noFill/>
          <a:ln>
            <a:noFill/>
          </a:ln>
        </p:spPr>
      </p:pic>
      <p:sp>
        <p:nvSpPr>
          <p:cNvPr id="1084" name="Google Shape;1084;p27"/>
          <p:cNvSpPr/>
          <p:nvPr/>
        </p:nvSpPr>
        <p:spPr>
          <a:xfrm>
            <a:off x="1325880" y="4700016"/>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Coordinator Dashboard</a:t>
            </a:r>
            <a:endParaRPr b="0" i="0" sz="1450" u="none" cap="none" strike="noStrike">
              <a:solidFill>
                <a:schemeClr val="dk1"/>
              </a:solidFill>
              <a:latin typeface="Calibri"/>
              <a:ea typeface="Calibri"/>
              <a:cs typeface="Calibri"/>
              <a:sym typeface="Calibri"/>
            </a:endParaRPr>
          </a:p>
        </p:txBody>
      </p:sp>
      <p:sp>
        <p:nvSpPr>
          <p:cNvPr id="1085" name="Google Shape;1085;p27"/>
          <p:cNvSpPr/>
          <p:nvPr/>
        </p:nvSpPr>
        <p:spPr>
          <a:xfrm>
            <a:off x="548640" y="5641848"/>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7"/>
          <p:cNvSpPr/>
          <p:nvPr/>
        </p:nvSpPr>
        <p:spPr>
          <a:xfrm>
            <a:off x="713232" y="5788152"/>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7"/>
          <p:cNvSpPr/>
          <p:nvPr/>
        </p:nvSpPr>
        <p:spPr>
          <a:xfrm>
            <a:off x="713232" y="5788152"/>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5</a:t>
            </a:r>
            <a:endParaRPr b="0" i="0" sz="1600" u="none" cap="none" strike="noStrike">
              <a:solidFill>
                <a:schemeClr val="dk1"/>
              </a:solidFill>
              <a:latin typeface="Calibri"/>
              <a:ea typeface="Calibri"/>
              <a:cs typeface="Calibri"/>
              <a:sym typeface="Calibri"/>
            </a:endParaRPr>
          </a:p>
        </p:txBody>
      </p:sp>
      <p:sp>
        <p:nvSpPr>
          <p:cNvPr id="1088" name="Google Shape;1088;p27"/>
          <p:cNvSpPr/>
          <p:nvPr/>
        </p:nvSpPr>
        <p:spPr>
          <a:xfrm>
            <a:off x="5212080" y="5788152"/>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ile_white.png" id="1089" name="Google Shape;1089;p27"/>
          <p:cNvPicPr preferRelativeResize="0"/>
          <p:nvPr/>
        </p:nvPicPr>
        <p:blipFill rotWithShape="1">
          <a:blip r:embed="rId8">
            <a:alphaModFix/>
          </a:blip>
          <a:srcRect b="0" l="0" r="0" t="0"/>
          <a:stretch/>
        </p:blipFill>
        <p:spPr>
          <a:xfrm>
            <a:off x="5319065" y="5895137"/>
            <a:ext cx="261518" cy="261518"/>
          </a:xfrm>
          <a:prstGeom prst="rect">
            <a:avLst/>
          </a:prstGeom>
          <a:noFill/>
          <a:ln>
            <a:noFill/>
          </a:ln>
        </p:spPr>
      </p:pic>
      <p:sp>
        <p:nvSpPr>
          <p:cNvPr id="1090" name="Google Shape;1090;p27"/>
          <p:cNvSpPr/>
          <p:nvPr/>
        </p:nvSpPr>
        <p:spPr>
          <a:xfrm>
            <a:off x="1325880" y="5641848"/>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Patient Detail &amp; Status Update</a:t>
            </a:r>
            <a:endParaRPr b="0" i="0" sz="1450" u="none" cap="none" strike="noStrike">
              <a:solidFill>
                <a:schemeClr val="dk1"/>
              </a:solidFill>
              <a:latin typeface="Calibri"/>
              <a:ea typeface="Calibri"/>
              <a:cs typeface="Calibri"/>
              <a:sym typeface="Calibri"/>
            </a:endParaRPr>
          </a:p>
        </p:txBody>
      </p:sp>
      <p:sp>
        <p:nvSpPr>
          <p:cNvPr id="1091" name="Google Shape;1091;p27"/>
          <p:cNvSpPr/>
          <p:nvPr/>
        </p:nvSpPr>
        <p:spPr>
          <a:xfrm>
            <a:off x="6355080" y="1874520"/>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7"/>
          <p:cNvSpPr/>
          <p:nvPr/>
        </p:nvSpPr>
        <p:spPr>
          <a:xfrm>
            <a:off x="6519672" y="2020824"/>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7"/>
          <p:cNvSpPr/>
          <p:nvPr/>
        </p:nvSpPr>
        <p:spPr>
          <a:xfrm>
            <a:off x="6519672" y="202082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6</a:t>
            </a:r>
            <a:endParaRPr b="0" i="0" sz="1600" u="none" cap="none" strike="noStrike">
              <a:solidFill>
                <a:schemeClr val="dk1"/>
              </a:solidFill>
              <a:latin typeface="Calibri"/>
              <a:ea typeface="Calibri"/>
              <a:cs typeface="Calibri"/>
              <a:sym typeface="Calibri"/>
            </a:endParaRPr>
          </a:p>
        </p:txBody>
      </p:sp>
      <p:sp>
        <p:nvSpPr>
          <p:cNvPr id="1094" name="Google Shape;1094;p27"/>
          <p:cNvSpPr/>
          <p:nvPr/>
        </p:nvSpPr>
        <p:spPr>
          <a:xfrm>
            <a:off x="11018520" y="2020824"/>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ync_white.png" id="1095" name="Google Shape;1095;p27"/>
          <p:cNvPicPr preferRelativeResize="0"/>
          <p:nvPr/>
        </p:nvPicPr>
        <p:blipFill rotWithShape="1">
          <a:blip r:embed="rId9">
            <a:alphaModFix/>
          </a:blip>
          <a:srcRect b="0" l="0" r="0" t="0"/>
          <a:stretch/>
        </p:blipFill>
        <p:spPr>
          <a:xfrm>
            <a:off x="11125505" y="2127809"/>
            <a:ext cx="261518" cy="261518"/>
          </a:xfrm>
          <a:prstGeom prst="rect">
            <a:avLst/>
          </a:prstGeom>
          <a:noFill/>
          <a:ln>
            <a:noFill/>
          </a:ln>
        </p:spPr>
      </p:pic>
      <p:sp>
        <p:nvSpPr>
          <p:cNvPr id="1096" name="Google Shape;1096;p27"/>
          <p:cNvSpPr/>
          <p:nvPr/>
        </p:nvSpPr>
        <p:spPr>
          <a:xfrm>
            <a:off x="7132320" y="1874520"/>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30-Second Auto Update</a:t>
            </a:r>
            <a:endParaRPr b="0" i="0" sz="1450" u="none" cap="none" strike="noStrike">
              <a:solidFill>
                <a:schemeClr val="dk1"/>
              </a:solidFill>
              <a:latin typeface="Calibri"/>
              <a:ea typeface="Calibri"/>
              <a:cs typeface="Calibri"/>
              <a:sym typeface="Calibri"/>
            </a:endParaRPr>
          </a:p>
        </p:txBody>
      </p:sp>
      <p:sp>
        <p:nvSpPr>
          <p:cNvPr id="1097" name="Google Shape;1097;p27"/>
          <p:cNvSpPr/>
          <p:nvPr/>
        </p:nvSpPr>
        <p:spPr>
          <a:xfrm>
            <a:off x="6355080" y="2816352"/>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7"/>
          <p:cNvSpPr/>
          <p:nvPr/>
        </p:nvSpPr>
        <p:spPr>
          <a:xfrm>
            <a:off x="6519672" y="2962656"/>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7"/>
          <p:cNvSpPr/>
          <p:nvPr/>
        </p:nvSpPr>
        <p:spPr>
          <a:xfrm>
            <a:off x="6519672" y="2962656"/>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7</a:t>
            </a:r>
            <a:endParaRPr b="0" i="0" sz="1600" u="none" cap="none" strike="noStrike">
              <a:solidFill>
                <a:schemeClr val="dk1"/>
              </a:solidFill>
              <a:latin typeface="Calibri"/>
              <a:ea typeface="Calibri"/>
              <a:cs typeface="Calibri"/>
              <a:sym typeface="Calibri"/>
            </a:endParaRPr>
          </a:p>
        </p:txBody>
      </p:sp>
      <p:sp>
        <p:nvSpPr>
          <p:cNvPr id="1100" name="Google Shape;1100;p27"/>
          <p:cNvSpPr/>
          <p:nvPr/>
        </p:nvSpPr>
        <p:spPr>
          <a:xfrm>
            <a:off x="11018520" y="2962656"/>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heartbeat_white.png" id="1101" name="Google Shape;1101;p27"/>
          <p:cNvPicPr preferRelativeResize="0"/>
          <p:nvPr/>
        </p:nvPicPr>
        <p:blipFill rotWithShape="1">
          <a:blip r:embed="rId10">
            <a:alphaModFix/>
          </a:blip>
          <a:srcRect b="0" l="0" r="0" t="0"/>
          <a:stretch/>
        </p:blipFill>
        <p:spPr>
          <a:xfrm>
            <a:off x="11125505" y="3069641"/>
            <a:ext cx="261518" cy="261518"/>
          </a:xfrm>
          <a:prstGeom prst="rect">
            <a:avLst/>
          </a:prstGeom>
          <a:noFill/>
          <a:ln>
            <a:noFill/>
          </a:ln>
        </p:spPr>
      </p:pic>
      <p:sp>
        <p:nvSpPr>
          <p:cNvPr id="1102" name="Google Shape;1102;p27"/>
          <p:cNvSpPr/>
          <p:nvPr/>
        </p:nvSpPr>
        <p:spPr>
          <a:xfrm>
            <a:off x="7132320" y="2816352"/>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Surgery Cleared Banner</a:t>
            </a:r>
            <a:endParaRPr b="0" i="0" sz="1450" u="none" cap="none" strike="noStrike">
              <a:solidFill>
                <a:schemeClr val="dk1"/>
              </a:solidFill>
              <a:latin typeface="Calibri"/>
              <a:ea typeface="Calibri"/>
              <a:cs typeface="Calibri"/>
              <a:sym typeface="Calibri"/>
            </a:endParaRPr>
          </a:p>
        </p:txBody>
      </p:sp>
      <p:sp>
        <p:nvSpPr>
          <p:cNvPr id="1103" name="Google Shape;1103;p27"/>
          <p:cNvSpPr/>
          <p:nvPr/>
        </p:nvSpPr>
        <p:spPr>
          <a:xfrm>
            <a:off x="6355080" y="3758184"/>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7"/>
          <p:cNvSpPr/>
          <p:nvPr/>
        </p:nvSpPr>
        <p:spPr>
          <a:xfrm>
            <a:off x="6519672" y="3904488"/>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7"/>
          <p:cNvSpPr/>
          <p:nvPr/>
        </p:nvSpPr>
        <p:spPr>
          <a:xfrm>
            <a:off x="6519672" y="390448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8</a:t>
            </a:r>
            <a:endParaRPr b="0" i="0" sz="1600" u="none" cap="none" strike="noStrike">
              <a:solidFill>
                <a:schemeClr val="dk1"/>
              </a:solidFill>
              <a:latin typeface="Calibri"/>
              <a:ea typeface="Calibri"/>
              <a:cs typeface="Calibri"/>
              <a:sym typeface="Calibri"/>
            </a:endParaRPr>
          </a:p>
        </p:txBody>
      </p:sp>
      <p:sp>
        <p:nvSpPr>
          <p:cNvPr id="1106" name="Google Shape;1106;p27"/>
          <p:cNvSpPr/>
          <p:nvPr/>
        </p:nvSpPr>
        <p:spPr>
          <a:xfrm>
            <a:off x="11018520" y="3904488"/>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usertie_white.png" id="1107" name="Google Shape;1107;p27"/>
          <p:cNvPicPr preferRelativeResize="0"/>
          <p:nvPr/>
        </p:nvPicPr>
        <p:blipFill rotWithShape="1">
          <a:blip r:embed="rId11">
            <a:alphaModFix/>
          </a:blip>
          <a:srcRect b="0" l="0" r="0" t="0"/>
          <a:stretch/>
        </p:blipFill>
        <p:spPr>
          <a:xfrm>
            <a:off x="11125505" y="4011473"/>
            <a:ext cx="261518" cy="261518"/>
          </a:xfrm>
          <a:prstGeom prst="rect">
            <a:avLst/>
          </a:prstGeom>
          <a:noFill/>
          <a:ln>
            <a:noFill/>
          </a:ln>
        </p:spPr>
      </p:pic>
      <p:sp>
        <p:nvSpPr>
          <p:cNvPr id="1108" name="Google Shape;1108;p27"/>
          <p:cNvSpPr/>
          <p:nvPr/>
        </p:nvSpPr>
        <p:spPr>
          <a:xfrm>
            <a:off x="7132320" y="3758184"/>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Program Director Pipeline View</a:t>
            </a:r>
            <a:endParaRPr b="0" i="0" sz="1450" u="none" cap="none" strike="noStrike">
              <a:solidFill>
                <a:schemeClr val="dk1"/>
              </a:solidFill>
              <a:latin typeface="Calibri"/>
              <a:ea typeface="Calibri"/>
              <a:cs typeface="Calibri"/>
              <a:sym typeface="Calibri"/>
            </a:endParaRPr>
          </a:p>
        </p:txBody>
      </p:sp>
      <p:sp>
        <p:nvSpPr>
          <p:cNvPr id="1109" name="Google Shape;1109;p27"/>
          <p:cNvSpPr/>
          <p:nvPr/>
        </p:nvSpPr>
        <p:spPr>
          <a:xfrm>
            <a:off x="6355080" y="4700016"/>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7"/>
          <p:cNvSpPr/>
          <p:nvPr/>
        </p:nvSpPr>
        <p:spPr>
          <a:xfrm>
            <a:off x="6519672" y="4846320"/>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7"/>
          <p:cNvSpPr/>
          <p:nvPr/>
        </p:nvSpPr>
        <p:spPr>
          <a:xfrm>
            <a:off x="6519672" y="484632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9</a:t>
            </a:r>
            <a:endParaRPr b="0" i="0" sz="1600" u="none" cap="none" strike="noStrike">
              <a:solidFill>
                <a:schemeClr val="dk1"/>
              </a:solidFill>
              <a:latin typeface="Calibri"/>
              <a:ea typeface="Calibri"/>
              <a:cs typeface="Calibri"/>
              <a:sym typeface="Calibri"/>
            </a:endParaRPr>
          </a:p>
        </p:txBody>
      </p:sp>
      <p:sp>
        <p:nvSpPr>
          <p:cNvPr id="1112" name="Google Shape;1112;p27"/>
          <p:cNvSpPr/>
          <p:nvPr/>
        </p:nvSpPr>
        <p:spPr>
          <a:xfrm>
            <a:off x="11018520" y="4846320"/>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gold.png" id="1113" name="Google Shape;1113;p27"/>
          <p:cNvPicPr preferRelativeResize="0"/>
          <p:nvPr/>
        </p:nvPicPr>
        <p:blipFill rotWithShape="1">
          <a:blip r:embed="rId12">
            <a:alphaModFix/>
          </a:blip>
          <a:srcRect b="0" l="0" r="0" t="0"/>
          <a:stretch/>
        </p:blipFill>
        <p:spPr>
          <a:xfrm>
            <a:off x="11125505" y="4953305"/>
            <a:ext cx="261518" cy="261518"/>
          </a:xfrm>
          <a:prstGeom prst="rect">
            <a:avLst/>
          </a:prstGeom>
          <a:noFill/>
          <a:ln>
            <a:noFill/>
          </a:ln>
        </p:spPr>
      </p:pic>
      <p:sp>
        <p:nvSpPr>
          <p:cNvPr id="1114" name="Google Shape;1114;p27"/>
          <p:cNvSpPr/>
          <p:nvPr/>
        </p:nvSpPr>
        <p:spPr>
          <a:xfrm>
            <a:off x="7132320" y="4700016"/>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AI Assistant - all 3 roles</a:t>
            </a:r>
            <a:endParaRPr b="0" i="0" sz="1450" u="none" cap="none" strike="noStrike">
              <a:solidFill>
                <a:schemeClr val="dk1"/>
              </a:solidFill>
              <a:latin typeface="Calibri"/>
              <a:ea typeface="Calibri"/>
              <a:cs typeface="Calibri"/>
              <a:sym typeface="Calibri"/>
            </a:endParaRPr>
          </a:p>
        </p:txBody>
      </p:sp>
      <p:sp>
        <p:nvSpPr>
          <p:cNvPr id="1115" name="Google Shape;1115;p27"/>
          <p:cNvSpPr/>
          <p:nvPr/>
        </p:nvSpPr>
        <p:spPr>
          <a:xfrm>
            <a:off x="6355080" y="5641848"/>
            <a:ext cx="5349240" cy="777240"/>
          </a:xfrm>
          <a:prstGeom prst="roundRect">
            <a:avLst>
              <a:gd fmla="val 7059" name="adj"/>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7"/>
          <p:cNvSpPr/>
          <p:nvPr/>
        </p:nvSpPr>
        <p:spPr>
          <a:xfrm>
            <a:off x="6519672" y="5788152"/>
            <a:ext cx="475488" cy="475488"/>
          </a:xfrm>
          <a:prstGeom prst="ellipse">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7"/>
          <p:cNvSpPr/>
          <p:nvPr/>
        </p:nvSpPr>
        <p:spPr>
          <a:xfrm>
            <a:off x="6519672" y="5788152"/>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1A47"/>
              </a:buClr>
              <a:buSzPts val="1600"/>
              <a:buFont typeface="Cambria"/>
              <a:buNone/>
            </a:pPr>
            <a:r>
              <a:rPr b="1" i="0" lang="en-US" sz="1600" u="none" cap="none" strike="noStrike">
                <a:solidFill>
                  <a:srgbClr val="151A47"/>
                </a:solidFill>
                <a:latin typeface="Cambria"/>
                <a:ea typeface="Cambria"/>
                <a:cs typeface="Cambria"/>
                <a:sym typeface="Cambria"/>
              </a:rPr>
              <a:t>10</a:t>
            </a:r>
            <a:endParaRPr b="0" i="0" sz="1600" u="none" cap="none" strike="noStrike">
              <a:solidFill>
                <a:schemeClr val="dk1"/>
              </a:solidFill>
              <a:latin typeface="Calibri"/>
              <a:ea typeface="Calibri"/>
              <a:cs typeface="Calibri"/>
              <a:sym typeface="Calibri"/>
            </a:endParaRPr>
          </a:p>
        </p:txBody>
      </p:sp>
      <p:sp>
        <p:nvSpPr>
          <p:cNvPr id="1118" name="Google Shape;1118;p27"/>
          <p:cNvSpPr/>
          <p:nvPr/>
        </p:nvSpPr>
        <p:spPr>
          <a:xfrm>
            <a:off x="11018520" y="5788152"/>
            <a:ext cx="475488" cy="475488"/>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gold.png" id="1119" name="Google Shape;1119;p27"/>
          <p:cNvPicPr preferRelativeResize="0"/>
          <p:nvPr/>
        </p:nvPicPr>
        <p:blipFill rotWithShape="1">
          <a:blip r:embed="rId13">
            <a:alphaModFix/>
          </a:blip>
          <a:srcRect b="0" l="0" r="0" t="0"/>
          <a:stretch/>
        </p:blipFill>
        <p:spPr>
          <a:xfrm>
            <a:off x="11125505" y="5895137"/>
            <a:ext cx="261518" cy="261518"/>
          </a:xfrm>
          <a:prstGeom prst="rect">
            <a:avLst/>
          </a:prstGeom>
          <a:noFill/>
          <a:ln>
            <a:noFill/>
          </a:ln>
        </p:spPr>
      </p:pic>
      <p:sp>
        <p:nvSpPr>
          <p:cNvPr id="1120" name="Google Shape;1120;p27"/>
          <p:cNvSpPr/>
          <p:nvPr/>
        </p:nvSpPr>
        <p:spPr>
          <a:xfrm>
            <a:off x="7132320" y="5641848"/>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Security: CI/CD pipeline + ZAP report</a:t>
            </a:r>
            <a:endParaRPr b="0" i="0" sz="1450" u="none" cap="none" strike="noStrike">
              <a:solidFill>
                <a:schemeClr val="dk1"/>
              </a:solidFill>
              <a:latin typeface="Calibri"/>
              <a:ea typeface="Calibri"/>
              <a:cs typeface="Calibri"/>
              <a:sym typeface="Calibri"/>
            </a:endParaRPr>
          </a:p>
        </p:txBody>
      </p:sp>
      <p:pic>
        <p:nvPicPr>
          <p:cNvPr descr="/home/claude/slides/logo_light.png" id="1121" name="Google Shape;1121;p27"/>
          <p:cNvPicPr preferRelativeResize="0"/>
          <p:nvPr/>
        </p:nvPicPr>
        <p:blipFill rotWithShape="1">
          <a:blip r:embed="rId14">
            <a:alphaModFix/>
          </a:blip>
          <a:srcRect b="0" l="0" r="0" t="0"/>
          <a:stretch/>
        </p:blipFill>
        <p:spPr>
          <a:xfrm>
            <a:off x="10866100" y="164581"/>
            <a:ext cx="1005840" cy="457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6" name="Shape 1126"/>
        <p:cNvGrpSpPr/>
        <p:nvPr/>
      </p:nvGrpSpPr>
      <p:grpSpPr>
        <a:xfrm>
          <a:off x="0" y="0"/>
          <a:ext cx="0" cy="0"/>
          <a:chOff x="0" y="0"/>
          <a:chExt cx="0" cy="0"/>
        </a:xfrm>
      </p:grpSpPr>
      <p:sp>
        <p:nvSpPr>
          <p:cNvPr id="1127" name="Google Shape;1127;p26"/>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AI USAGE &amp; REFLECTIONS</a:t>
            </a:r>
            <a:endParaRPr b="0" i="0" sz="1200" u="none" cap="none" strike="noStrike">
              <a:solidFill>
                <a:schemeClr val="dk1"/>
              </a:solidFill>
              <a:latin typeface="Calibri"/>
              <a:ea typeface="Calibri"/>
              <a:cs typeface="Calibri"/>
              <a:sym typeface="Calibri"/>
            </a:endParaRPr>
          </a:p>
        </p:txBody>
      </p:sp>
      <p:sp>
        <p:nvSpPr>
          <p:cNvPr id="1128" name="Google Shape;1128;p26"/>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How We Used AI to Build BariatricPath</a:t>
            </a:r>
            <a:endParaRPr b="0" i="0" sz="3200" u="none" cap="none" strike="noStrike">
              <a:solidFill>
                <a:schemeClr val="dk1"/>
              </a:solidFill>
              <a:latin typeface="Calibri"/>
              <a:ea typeface="Calibri"/>
              <a:cs typeface="Calibri"/>
              <a:sym typeface="Calibri"/>
            </a:endParaRPr>
          </a:p>
        </p:txBody>
      </p:sp>
      <p:sp>
        <p:nvSpPr>
          <p:cNvPr id="1129" name="Google Shape;1129;p26"/>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1130" name="Google Shape;1130;p26"/>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1131" name="Google Shape;1131;p26"/>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sp>
        <p:nvSpPr>
          <p:cNvPr id="1132" name="Google Shape;1132;p26"/>
          <p:cNvSpPr/>
          <p:nvPr/>
        </p:nvSpPr>
        <p:spPr>
          <a:xfrm>
            <a:off x="548640" y="132588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300"/>
              <a:buFont typeface="Calibri"/>
              <a:buNone/>
            </a:pPr>
            <a:r>
              <a:rPr b="0" i="1" lang="en-US" sz="1300" u="none" cap="none" strike="noStrike">
                <a:solidFill>
                  <a:srgbClr val="5B6B8C"/>
                </a:solidFill>
                <a:latin typeface="Calibri"/>
                <a:ea typeface="Calibri"/>
                <a:cs typeface="Calibri"/>
                <a:sym typeface="Calibri"/>
              </a:rPr>
              <a:t>Every source file is tagged [AI] / [HYBRID] / [HUMAN] in its AI-Usage Summary header and commit messages (Conventional Commits).</a:t>
            </a:r>
            <a:endParaRPr b="0" i="0" sz="1300" u="none" cap="none" strike="noStrike">
              <a:solidFill>
                <a:schemeClr val="dk1"/>
              </a:solidFill>
              <a:latin typeface="Calibri"/>
              <a:ea typeface="Calibri"/>
              <a:cs typeface="Calibri"/>
              <a:sym typeface="Calibri"/>
            </a:endParaRPr>
          </a:p>
        </p:txBody>
      </p:sp>
      <p:graphicFrame>
        <p:nvGraphicFramePr>
          <p:cNvPr id="1133" name="Google Shape;1133;p26"/>
          <p:cNvGraphicFramePr/>
          <p:nvPr/>
        </p:nvGraphicFramePr>
        <p:xfrm>
          <a:off x="548640" y="1783080"/>
          <a:ext cx="5120640" cy="3931920"/>
        </p:xfrm>
        <a:graphic>
          <a:graphicData uri="http://schemas.openxmlformats.org/drawingml/2006/chart">
            <c:chart r:id="rId3"/>
          </a:graphicData>
        </a:graphic>
      </p:graphicFrame>
      <p:sp>
        <p:nvSpPr>
          <p:cNvPr id="1134" name="Google Shape;1134;p26"/>
          <p:cNvSpPr/>
          <p:nvPr/>
        </p:nvSpPr>
        <p:spPr>
          <a:xfrm>
            <a:off x="548640" y="5760720"/>
            <a:ext cx="5120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C"/>
              </a:buClr>
              <a:buSzPts val="1100"/>
              <a:buFont typeface="Calibri"/>
              <a:buNone/>
            </a:pPr>
            <a:r>
              <a:rPr b="0" i="1" lang="en-US" sz="1100" u="none" cap="none" strike="noStrike">
                <a:solidFill>
                  <a:srgbClr val="5B6B8C"/>
                </a:solidFill>
                <a:latin typeface="Calibri"/>
                <a:ea typeface="Calibri"/>
                <a:cs typeface="Calibri"/>
                <a:sym typeface="Calibri"/>
              </a:rPr>
              <a:t>Estimated overall AI contribution across code + documentation</a:t>
            </a:r>
            <a:endParaRPr b="0" i="0" sz="1100" u="none" cap="none" strike="noStrike">
              <a:solidFill>
                <a:schemeClr val="dk1"/>
              </a:solidFill>
              <a:latin typeface="Calibri"/>
              <a:ea typeface="Calibri"/>
              <a:cs typeface="Calibri"/>
              <a:sym typeface="Calibri"/>
            </a:endParaRPr>
          </a:p>
        </p:txBody>
      </p:sp>
      <p:sp>
        <p:nvSpPr>
          <p:cNvPr id="1135" name="Google Shape;1135;p26"/>
          <p:cNvSpPr/>
          <p:nvPr/>
        </p:nvSpPr>
        <p:spPr>
          <a:xfrm>
            <a:off x="5943600" y="17830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Where AI Helped Most</a:t>
            </a:r>
            <a:endParaRPr b="0" i="0" sz="1600" u="none" cap="none" strike="noStrike">
              <a:solidFill>
                <a:schemeClr val="dk1"/>
              </a:solidFill>
              <a:latin typeface="Calibri"/>
              <a:ea typeface="Calibri"/>
              <a:cs typeface="Calibri"/>
              <a:sym typeface="Calibri"/>
            </a:endParaRPr>
          </a:p>
        </p:txBody>
      </p:sp>
      <p:sp>
        <p:nvSpPr>
          <p:cNvPr id="1136" name="Google Shape;1136;p26"/>
          <p:cNvSpPr/>
          <p:nvPr/>
        </p:nvSpPr>
        <p:spPr>
          <a:xfrm>
            <a:off x="5943600" y="2240280"/>
            <a:ext cx="5696712" cy="841248"/>
          </a:xfrm>
          <a:prstGeom prst="roundRect">
            <a:avLst>
              <a:gd fmla="val 8696"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6108192" y="2404872"/>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robot_navy.png" id="1138" name="Google Shape;1138;p26"/>
          <p:cNvPicPr preferRelativeResize="0"/>
          <p:nvPr/>
        </p:nvPicPr>
        <p:blipFill rotWithShape="1">
          <a:blip r:embed="rId4">
            <a:alphaModFix/>
          </a:blip>
          <a:srcRect b="0" l="0" r="0" t="0"/>
          <a:stretch/>
        </p:blipFill>
        <p:spPr>
          <a:xfrm>
            <a:off x="6221349" y="2518029"/>
            <a:ext cx="276606" cy="276606"/>
          </a:xfrm>
          <a:prstGeom prst="rect">
            <a:avLst/>
          </a:prstGeom>
          <a:noFill/>
          <a:ln>
            <a:noFill/>
          </a:ln>
        </p:spPr>
      </p:pic>
      <p:sp>
        <p:nvSpPr>
          <p:cNvPr id="1139" name="Google Shape;1139;p26"/>
          <p:cNvSpPr/>
          <p:nvPr/>
        </p:nvSpPr>
        <p:spPr>
          <a:xfrm>
            <a:off x="6766560" y="2313432"/>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AI Microservice Scaffolding</a:t>
            </a:r>
            <a:endParaRPr b="0" i="0" sz="1250" u="none" cap="none" strike="noStrike">
              <a:solidFill>
                <a:schemeClr val="dk1"/>
              </a:solidFill>
              <a:latin typeface="Calibri"/>
              <a:ea typeface="Calibri"/>
              <a:cs typeface="Calibri"/>
              <a:sym typeface="Calibri"/>
            </a:endParaRPr>
          </a:p>
        </p:txBody>
      </p:sp>
      <p:sp>
        <p:nvSpPr>
          <p:cNvPr id="1140" name="Google Shape;1140;p26"/>
          <p:cNvSpPr/>
          <p:nvPr/>
        </p:nvSpPr>
        <p:spPr>
          <a:xfrm>
            <a:off x="6766560" y="2624328"/>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RAG pipeline structure, LangChain v0.3 LCEL patterns, ChromaDB integration - then hand-tuned prompts and role logic.</a:t>
            </a:r>
            <a:endParaRPr b="0" i="0" sz="950" u="none" cap="none" strike="noStrike">
              <a:solidFill>
                <a:schemeClr val="dk1"/>
              </a:solidFill>
              <a:latin typeface="Calibri"/>
              <a:ea typeface="Calibri"/>
              <a:cs typeface="Calibri"/>
              <a:sym typeface="Calibri"/>
            </a:endParaRPr>
          </a:p>
        </p:txBody>
      </p:sp>
      <p:sp>
        <p:nvSpPr>
          <p:cNvPr id="1141" name="Google Shape;1141;p26"/>
          <p:cNvSpPr/>
          <p:nvPr/>
        </p:nvSpPr>
        <p:spPr>
          <a:xfrm>
            <a:off x="5943600" y="3200400"/>
            <a:ext cx="5696712" cy="841248"/>
          </a:xfrm>
          <a:prstGeom prst="roundRect">
            <a:avLst>
              <a:gd fmla="val 8696"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6108192" y="3364992"/>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lask_navy.png" id="1143" name="Google Shape;1143;p26"/>
          <p:cNvPicPr preferRelativeResize="0"/>
          <p:nvPr/>
        </p:nvPicPr>
        <p:blipFill rotWithShape="1">
          <a:blip r:embed="rId5">
            <a:alphaModFix/>
          </a:blip>
          <a:srcRect b="0" l="0" r="0" t="0"/>
          <a:stretch/>
        </p:blipFill>
        <p:spPr>
          <a:xfrm>
            <a:off x="6221349" y="3478149"/>
            <a:ext cx="276606" cy="276606"/>
          </a:xfrm>
          <a:prstGeom prst="rect">
            <a:avLst/>
          </a:prstGeom>
          <a:noFill/>
          <a:ln>
            <a:noFill/>
          </a:ln>
        </p:spPr>
      </p:pic>
      <p:sp>
        <p:nvSpPr>
          <p:cNvPr id="1144" name="Google Shape;1144;p26"/>
          <p:cNvSpPr/>
          <p:nvPr/>
        </p:nvSpPr>
        <p:spPr>
          <a:xfrm>
            <a:off x="6766560" y="3273552"/>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Test Suite Generation</a:t>
            </a:r>
            <a:endParaRPr b="0" i="0" sz="1250" u="none" cap="none" strike="noStrike">
              <a:solidFill>
                <a:schemeClr val="dk1"/>
              </a:solidFill>
              <a:latin typeface="Calibri"/>
              <a:ea typeface="Calibri"/>
              <a:cs typeface="Calibri"/>
              <a:sym typeface="Calibri"/>
            </a:endParaRPr>
          </a:p>
        </p:txBody>
      </p:sp>
      <p:sp>
        <p:nvSpPr>
          <p:cNvPr id="1145" name="Google Shape;1145;p26"/>
          <p:cNvSpPr/>
          <p:nvPr/>
        </p:nvSpPr>
        <p:spPr>
          <a:xfrm>
            <a:off x="6766560" y="3584448"/>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Initial Jest/Vitest/pytest scaffolds and mocks, refined for correct mock ordering and edge cases by the team.</a:t>
            </a:r>
            <a:endParaRPr b="0" i="0" sz="950" u="none" cap="none" strike="noStrike">
              <a:solidFill>
                <a:schemeClr val="dk1"/>
              </a:solidFill>
              <a:latin typeface="Calibri"/>
              <a:ea typeface="Calibri"/>
              <a:cs typeface="Calibri"/>
              <a:sym typeface="Calibri"/>
            </a:endParaRPr>
          </a:p>
        </p:txBody>
      </p:sp>
      <p:sp>
        <p:nvSpPr>
          <p:cNvPr id="1146" name="Google Shape;1146;p26"/>
          <p:cNvSpPr/>
          <p:nvPr/>
        </p:nvSpPr>
        <p:spPr>
          <a:xfrm>
            <a:off x="5943600" y="4160520"/>
            <a:ext cx="5696712" cy="841248"/>
          </a:xfrm>
          <a:prstGeom prst="roundRect">
            <a:avLst>
              <a:gd fmla="val 8696"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6"/>
          <p:cNvSpPr/>
          <p:nvPr/>
        </p:nvSpPr>
        <p:spPr>
          <a:xfrm>
            <a:off x="6108192" y="4325112"/>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shield_navy.png" id="1148" name="Google Shape;1148;p26"/>
          <p:cNvPicPr preferRelativeResize="0"/>
          <p:nvPr/>
        </p:nvPicPr>
        <p:blipFill rotWithShape="1">
          <a:blip r:embed="rId6">
            <a:alphaModFix/>
          </a:blip>
          <a:srcRect b="0" l="0" r="0" t="0"/>
          <a:stretch/>
        </p:blipFill>
        <p:spPr>
          <a:xfrm>
            <a:off x="6221349" y="4438269"/>
            <a:ext cx="276606" cy="276606"/>
          </a:xfrm>
          <a:prstGeom prst="rect">
            <a:avLst/>
          </a:prstGeom>
          <a:noFill/>
          <a:ln>
            <a:noFill/>
          </a:ln>
        </p:spPr>
      </p:pic>
      <p:sp>
        <p:nvSpPr>
          <p:cNvPr id="1149" name="Google Shape;1149;p26"/>
          <p:cNvSpPr/>
          <p:nvPr/>
        </p:nvSpPr>
        <p:spPr>
          <a:xfrm>
            <a:off x="6766560" y="4233672"/>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Security Pipeline Configuration</a:t>
            </a:r>
            <a:endParaRPr b="0" i="0" sz="1250" u="none" cap="none" strike="noStrike">
              <a:solidFill>
                <a:schemeClr val="dk1"/>
              </a:solidFill>
              <a:latin typeface="Calibri"/>
              <a:ea typeface="Calibri"/>
              <a:cs typeface="Calibri"/>
              <a:sym typeface="Calibri"/>
            </a:endParaRPr>
          </a:p>
        </p:txBody>
      </p:sp>
      <p:sp>
        <p:nvSpPr>
          <p:cNvPr id="1150" name="Google Shape;1150;p26"/>
          <p:cNvSpPr/>
          <p:nvPr/>
        </p:nvSpPr>
        <p:spPr>
          <a:xfrm>
            <a:off x="6766560" y="4544568"/>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GitHub Actions YAML for CodeQL/Trivy/ZAP - built incrementally, each workflow verified green before the next.</a:t>
            </a:r>
            <a:endParaRPr b="0" i="0" sz="950" u="none" cap="none" strike="noStrike">
              <a:solidFill>
                <a:schemeClr val="dk1"/>
              </a:solidFill>
              <a:latin typeface="Calibri"/>
              <a:ea typeface="Calibri"/>
              <a:cs typeface="Calibri"/>
              <a:sym typeface="Calibri"/>
            </a:endParaRPr>
          </a:p>
        </p:txBody>
      </p:sp>
      <p:sp>
        <p:nvSpPr>
          <p:cNvPr id="1151" name="Google Shape;1151;p26"/>
          <p:cNvSpPr/>
          <p:nvPr/>
        </p:nvSpPr>
        <p:spPr>
          <a:xfrm>
            <a:off x="5943600" y="5120640"/>
            <a:ext cx="5696712" cy="841248"/>
          </a:xfrm>
          <a:prstGeom prst="roundRect">
            <a:avLst>
              <a:gd fmla="val 8696"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6"/>
          <p:cNvSpPr/>
          <p:nvPr/>
        </p:nvSpPr>
        <p:spPr>
          <a:xfrm>
            <a:off x="6108192" y="5285232"/>
            <a:ext cx="502920" cy="502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file_navy.png" id="1153" name="Google Shape;1153;p26"/>
          <p:cNvPicPr preferRelativeResize="0"/>
          <p:nvPr/>
        </p:nvPicPr>
        <p:blipFill rotWithShape="1">
          <a:blip r:embed="rId7">
            <a:alphaModFix/>
          </a:blip>
          <a:srcRect b="0" l="0" r="0" t="0"/>
          <a:stretch/>
        </p:blipFill>
        <p:spPr>
          <a:xfrm>
            <a:off x="6221349" y="5398389"/>
            <a:ext cx="276606" cy="276606"/>
          </a:xfrm>
          <a:prstGeom prst="rect">
            <a:avLst/>
          </a:prstGeom>
          <a:noFill/>
          <a:ln>
            <a:noFill/>
          </a:ln>
        </p:spPr>
      </p:pic>
      <p:sp>
        <p:nvSpPr>
          <p:cNvPr id="1154" name="Google Shape;1154;p26"/>
          <p:cNvSpPr/>
          <p:nvPr/>
        </p:nvSpPr>
        <p:spPr>
          <a:xfrm>
            <a:off x="6766560" y="5193792"/>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Documentation</a:t>
            </a:r>
            <a:endParaRPr b="0" i="0" sz="1250" u="none" cap="none" strike="noStrike">
              <a:solidFill>
                <a:schemeClr val="dk1"/>
              </a:solidFill>
              <a:latin typeface="Calibri"/>
              <a:ea typeface="Calibri"/>
              <a:cs typeface="Calibri"/>
              <a:sym typeface="Calibri"/>
            </a:endParaRPr>
          </a:p>
        </p:txBody>
      </p:sp>
      <p:sp>
        <p:nvSpPr>
          <p:cNvPr id="1155" name="Google Shape;1155;p26"/>
          <p:cNvSpPr/>
          <p:nvPr/>
        </p:nvSpPr>
        <p:spPr>
          <a:xfrm>
            <a:off x="6766560" y="5504688"/>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950"/>
              <a:buFont typeface="Calibri"/>
              <a:buNone/>
            </a:pPr>
            <a:r>
              <a:rPr b="0" i="0" lang="en-US" sz="950" u="none" cap="none" strike="noStrike">
                <a:solidFill>
                  <a:srgbClr val="5B6B8C"/>
                </a:solidFill>
                <a:latin typeface="Calibri"/>
                <a:ea typeface="Calibri"/>
                <a:cs typeface="Calibri"/>
                <a:sym typeface="Calibri"/>
              </a:rPr>
              <a:t>README files, AI-usage headers, and this presentation - drafted with AI, reviewed and corrected by the team.</a:t>
            </a:r>
            <a:endParaRPr b="0" i="0" sz="950" u="none" cap="none" strike="noStrike">
              <a:solidFill>
                <a:schemeClr val="dk1"/>
              </a:solidFill>
              <a:latin typeface="Calibri"/>
              <a:ea typeface="Calibri"/>
              <a:cs typeface="Calibri"/>
              <a:sym typeface="Calibri"/>
            </a:endParaRPr>
          </a:p>
        </p:txBody>
      </p:sp>
      <p:sp>
        <p:nvSpPr>
          <p:cNvPr id="1156" name="Google Shape;1156;p26"/>
          <p:cNvSpPr/>
          <p:nvPr/>
        </p:nvSpPr>
        <p:spPr>
          <a:xfrm>
            <a:off x="548640" y="6126480"/>
            <a:ext cx="11091672" cy="411480"/>
          </a:xfrm>
          <a:prstGeom prst="roundRect">
            <a:avLst>
              <a:gd fmla="val 1333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6"/>
          <p:cNvSpPr/>
          <p:nvPr/>
        </p:nvSpPr>
        <p:spPr>
          <a:xfrm>
            <a:off x="548640" y="6126480"/>
            <a:ext cx="1109167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1" lang="en-US" sz="1050" u="none" cap="none" strike="noStrike">
                <a:solidFill>
                  <a:srgbClr val="FFFFFF"/>
                </a:solidFill>
                <a:latin typeface="Calibri"/>
                <a:ea typeface="Calibri"/>
                <a:cs typeface="Calibri"/>
                <a:sym typeface="Calibri"/>
              </a:rPr>
              <a:t>Reflection: AI accelerated scaffolding and boilerplate, but architectural decisions, security review, and acceptance testing remained human-owned and human-verified throughout.</a:t>
            </a:r>
            <a:endParaRPr b="0" i="0" sz="1050" u="none" cap="none" strike="noStrike">
              <a:solidFill>
                <a:schemeClr val="dk1"/>
              </a:solidFill>
              <a:latin typeface="Calibri"/>
              <a:ea typeface="Calibri"/>
              <a:cs typeface="Calibri"/>
              <a:sym typeface="Calibri"/>
            </a:endParaRPr>
          </a:p>
        </p:txBody>
      </p:sp>
      <p:pic>
        <p:nvPicPr>
          <p:cNvPr descr="/home/claude/slides/logo.png" id="1158" name="Google Shape;1158;p26"/>
          <p:cNvPicPr preferRelativeResize="0"/>
          <p:nvPr/>
        </p:nvPicPr>
        <p:blipFill rotWithShape="1">
          <a:blip r:embed="rId8">
            <a:alphaModFix/>
          </a:blip>
          <a:srcRect b="0" l="0" r="0" t="0"/>
          <a:stretch/>
        </p:blipFill>
        <p:spPr>
          <a:xfrm>
            <a:off x="11094400" y="82268"/>
            <a:ext cx="1005840" cy="457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3" name="Shape 1163"/>
        <p:cNvGrpSpPr/>
        <p:nvPr/>
      </p:nvGrpSpPr>
      <p:grpSpPr>
        <a:xfrm>
          <a:off x="0" y="0"/>
          <a:ext cx="0" cy="0"/>
          <a:chOff x="0" y="0"/>
          <a:chExt cx="0" cy="0"/>
        </a:xfrm>
      </p:grpSpPr>
      <p:sp>
        <p:nvSpPr>
          <p:cNvPr id="1164" name="Google Shape;1164;p28"/>
          <p:cNvSpPr/>
          <p:nvPr/>
        </p:nvSpPr>
        <p:spPr>
          <a:xfrm>
            <a:off x="548640" y="2926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C"/>
              </a:buClr>
              <a:buSzPts val="1200"/>
              <a:buFont typeface="Calibri"/>
              <a:buNone/>
            </a:pPr>
            <a:r>
              <a:rPr b="1" i="0" lang="en-US" sz="1200" u="none" cap="none" strike="noStrike">
                <a:solidFill>
                  <a:srgbClr val="5B6B8C"/>
                </a:solidFill>
                <a:latin typeface="Calibri"/>
                <a:ea typeface="Calibri"/>
                <a:cs typeface="Calibri"/>
                <a:sym typeface="Calibri"/>
              </a:rPr>
              <a:t>PROJECT MANAGEMENT - RETROSPECTIVE</a:t>
            </a:r>
            <a:endParaRPr b="0" i="0" sz="1200" u="none" cap="none" strike="noStrike">
              <a:solidFill>
                <a:schemeClr val="dk1"/>
              </a:solidFill>
              <a:latin typeface="Calibri"/>
              <a:ea typeface="Calibri"/>
              <a:cs typeface="Calibri"/>
              <a:sym typeface="Calibri"/>
            </a:endParaRPr>
          </a:p>
        </p:txBody>
      </p:sp>
      <p:sp>
        <p:nvSpPr>
          <p:cNvPr id="1165" name="Google Shape;1165;p28"/>
          <p:cNvSpPr/>
          <p:nvPr/>
        </p:nvSpPr>
        <p:spPr>
          <a:xfrm>
            <a:off x="548640" y="566928"/>
            <a:ext cx="9601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mbria"/>
              <a:buNone/>
            </a:pPr>
            <a:r>
              <a:rPr b="1" i="0" lang="en-US" sz="3200" u="none" cap="none" strike="noStrike">
                <a:solidFill>
                  <a:srgbClr val="1E2761"/>
                </a:solidFill>
                <a:latin typeface="Cambria"/>
                <a:ea typeface="Cambria"/>
                <a:cs typeface="Cambria"/>
                <a:sym typeface="Cambria"/>
              </a:rPr>
              <a:t>Lessons Learned &amp; Project Retrospective</a:t>
            </a:r>
            <a:endParaRPr b="0" i="0" sz="3200" u="none" cap="none" strike="noStrike">
              <a:solidFill>
                <a:schemeClr val="dk1"/>
              </a:solidFill>
              <a:latin typeface="Calibri"/>
              <a:ea typeface="Calibri"/>
              <a:cs typeface="Calibri"/>
              <a:sym typeface="Calibri"/>
            </a:endParaRPr>
          </a:p>
        </p:txBody>
      </p:sp>
      <p:sp>
        <p:nvSpPr>
          <p:cNvPr id="1166" name="Google Shape;1166;p28"/>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500"/>
              <a:buFont typeface="Cambria"/>
              <a:buNone/>
            </a:pPr>
            <a:r>
              <a:t/>
            </a:r>
            <a:endParaRPr b="0" i="0" sz="1500" u="none" cap="none" strike="noStrike">
              <a:solidFill>
                <a:schemeClr val="dk1"/>
              </a:solidFill>
              <a:latin typeface="Calibri"/>
              <a:ea typeface="Calibri"/>
              <a:cs typeface="Calibri"/>
              <a:sym typeface="Calibri"/>
            </a:endParaRPr>
          </a:p>
        </p:txBody>
      </p:sp>
      <p:sp>
        <p:nvSpPr>
          <p:cNvPr id="1167" name="Google Shape;1167;p28"/>
          <p:cNvSpPr/>
          <p:nvPr/>
        </p:nvSpPr>
        <p:spPr>
          <a:xfrm>
            <a:off x="457200" y="6510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CS673 - Team 1 - BariatricPath - Final Iteration - Summer 2026</a:t>
            </a:r>
            <a:endParaRPr b="0" i="0" sz="900" u="none" cap="none" strike="noStrike">
              <a:solidFill>
                <a:schemeClr val="dk1"/>
              </a:solidFill>
              <a:latin typeface="Calibri"/>
              <a:ea typeface="Calibri"/>
              <a:cs typeface="Calibri"/>
              <a:sym typeface="Calibri"/>
            </a:endParaRPr>
          </a:p>
        </p:txBody>
      </p:sp>
      <p:sp>
        <p:nvSpPr>
          <p:cNvPr id="1168" name="Google Shape;1168;p28"/>
          <p:cNvSpPr/>
          <p:nvPr/>
        </p:nvSpPr>
        <p:spPr>
          <a:xfrm>
            <a:off x="11368735"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C0"/>
              </a:buClr>
              <a:buSzPts val="900"/>
              <a:buFont typeface="Calibri"/>
              <a:buNone/>
            </a:pPr>
            <a:r>
              <a:rPr b="0" i="0" lang="en-US" sz="900" u="none" cap="none" strike="noStrike">
                <a:solidFill>
                  <a:srgbClr val="9AA5C0"/>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
        <p:nvSpPr>
          <p:cNvPr id="1169" name="Google Shape;1169;p28"/>
          <p:cNvSpPr/>
          <p:nvPr/>
        </p:nvSpPr>
        <p:spPr>
          <a:xfrm>
            <a:off x="548640" y="13716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Achievements</a:t>
            </a:r>
            <a:endParaRPr b="0" i="0" sz="1600" u="none" cap="none" strike="noStrike">
              <a:solidFill>
                <a:schemeClr val="dk1"/>
              </a:solidFill>
              <a:latin typeface="Calibri"/>
              <a:ea typeface="Calibri"/>
              <a:cs typeface="Calibri"/>
              <a:sym typeface="Calibri"/>
            </a:endParaRPr>
          </a:p>
        </p:txBody>
      </p:sp>
      <p:sp>
        <p:nvSpPr>
          <p:cNvPr id="1170" name="Google Shape;1170;p28"/>
          <p:cNvSpPr/>
          <p:nvPr/>
        </p:nvSpPr>
        <p:spPr>
          <a:xfrm>
            <a:off x="548640" y="1783080"/>
            <a:ext cx="5623560" cy="2286000"/>
          </a:xfrm>
          <a:prstGeom prst="roundRect">
            <a:avLst>
              <a:gd fmla="val 3200" name="adj"/>
            </a:avLst>
          </a:prstGeom>
          <a:solidFill>
            <a:srgbClr val="E1F5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8"/>
          <p:cNvSpPr/>
          <p:nvPr/>
        </p:nvSpPr>
        <p:spPr>
          <a:xfrm>
            <a:off x="777240" y="1920240"/>
            <a:ext cx="5212080" cy="20574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Shipped a 4-service system: React + Express + PostgreSQL + AI microservice</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3</a:t>
            </a:r>
            <a:r>
              <a:rPr lang="en-US" sz="1200">
                <a:solidFill>
                  <a:srgbClr val="1E2761"/>
                </a:solidFill>
                <a:latin typeface="Calibri"/>
                <a:ea typeface="Calibri"/>
                <a:cs typeface="Calibri"/>
                <a:sym typeface="Calibri"/>
              </a:rPr>
              <a:t>57</a:t>
            </a:r>
            <a:r>
              <a:rPr b="0" i="0" lang="en-US" sz="1200" u="none" cap="none" strike="noStrike">
                <a:solidFill>
                  <a:srgbClr val="1E2761"/>
                </a:solidFill>
                <a:latin typeface="Calibri"/>
                <a:ea typeface="Calibri"/>
                <a:cs typeface="Calibri"/>
                <a:sym typeface="Calibri"/>
              </a:rPr>
              <a:t> automated tests, 100% server pass rate, 8</a:t>
            </a:r>
            <a:r>
              <a:rPr lang="en-US" sz="1200">
                <a:solidFill>
                  <a:srgbClr val="1E2761"/>
                </a:solidFill>
                <a:latin typeface="Calibri"/>
                <a:ea typeface="Calibri"/>
                <a:cs typeface="Calibri"/>
                <a:sym typeface="Calibri"/>
              </a:rPr>
              <a:t>3.7</a:t>
            </a:r>
            <a:r>
              <a:rPr b="0" i="0" lang="en-US" sz="1200" u="none" cap="none" strike="noStrike">
                <a:solidFill>
                  <a:srgbClr val="1E2761"/>
                </a:solidFill>
                <a:latin typeface="Calibri"/>
                <a:ea typeface="Calibri"/>
                <a:cs typeface="Calibri"/>
                <a:sym typeface="Calibri"/>
              </a:rPr>
              <a:t>% statement coverage</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Full role-based RAG AI assistant with conversation memory</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Automated security pipeline: CI, CodeQL, Trivy, OWASP ZAP - all green</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200"/>
              <a:buFont typeface="Calibri"/>
              <a:buChar char="✔"/>
            </a:pPr>
            <a:r>
              <a:rPr b="0" i="0" lang="en-US" sz="1200" u="none" cap="none" strike="noStrike">
                <a:solidFill>
                  <a:srgbClr val="1E2761"/>
                </a:solidFill>
                <a:latin typeface="Calibri"/>
                <a:ea typeface="Calibri"/>
                <a:cs typeface="Calibri"/>
                <a:sym typeface="Calibri"/>
              </a:rPr>
              <a:t>Deployed to a live DigitalOcean environment with HTTPS</a:t>
            </a:r>
            <a:endParaRPr b="0" i="0" sz="1200" u="none" cap="none" strike="noStrike">
              <a:solidFill>
                <a:schemeClr val="dk1"/>
              </a:solidFill>
              <a:latin typeface="Calibri"/>
              <a:ea typeface="Calibri"/>
              <a:cs typeface="Calibri"/>
              <a:sym typeface="Calibri"/>
            </a:endParaRPr>
          </a:p>
        </p:txBody>
      </p:sp>
      <p:sp>
        <p:nvSpPr>
          <p:cNvPr id="1172" name="Google Shape;1172;p28"/>
          <p:cNvSpPr/>
          <p:nvPr/>
        </p:nvSpPr>
        <p:spPr>
          <a:xfrm>
            <a:off x="6355080" y="13716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Challenges &amp; How We Solved Them</a:t>
            </a:r>
            <a:endParaRPr b="0" i="0" sz="1600" u="none" cap="none" strike="noStrike">
              <a:solidFill>
                <a:schemeClr val="dk1"/>
              </a:solidFill>
              <a:latin typeface="Calibri"/>
              <a:ea typeface="Calibri"/>
              <a:cs typeface="Calibri"/>
              <a:sym typeface="Calibri"/>
            </a:endParaRPr>
          </a:p>
        </p:txBody>
      </p:sp>
      <p:sp>
        <p:nvSpPr>
          <p:cNvPr id="1173" name="Google Shape;1173;p28"/>
          <p:cNvSpPr/>
          <p:nvPr/>
        </p:nvSpPr>
        <p:spPr>
          <a:xfrm>
            <a:off x="6355080" y="1783080"/>
            <a:ext cx="5285232" cy="2286000"/>
          </a:xfrm>
          <a:prstGeom prst="roundRect">
            <a:avLst>
              <a:gd fmla="val 3200"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8"/>
          <p:cNvSpPr/>
          <p:nvPr/>
        </p:nvSpPr>
        <p:spPr>
          <a:xfrm>
            <a:off x="6583680" y="1920240"/>
            <a:ext cx="4846320" cy="20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Python version conflicts (3.13 broke pydantic-core)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5B6B8C"/>
              </a:buClr>
              <a:buSzPts val="1050"/>
              <a:buFont typeface="Calibri"/>
              <a:buNone/>
            </a:pPr>
            <a:r>
              <a:rPr b="0" i="1" lang="en-US" sz="1050" u="none" cap="none" strike="noStrike">
                <a:solidFill>
                  <a:srgbClr val="5B6B8C"/>
                </a:solidFill>
                <a:latin typeface="Calibri"/>
                <a:ea typeface="Calibri"/>
                <a:cs typeface="Calibri"/>
                <a:sym typeface="Calibri"/>
              </a:rPr>
              <a:t>-&gt; Pinned ai-service to Python 3.11 across local + Docker + CI.</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Jest mock ordering caused intermittent failures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5B6B8C"/>
              </a:buClr>
              <a:buSzPts val="1050"/>
              <a:buFont typeface="Calibri"/>
              <a:buNone/>
            </a:pPr>
            <a:r>
              <a:rPr b="0" i="1" lang="en-US" sz="1050" u="none" cap="none" strike="noStrike">
                <a:solidFill>
                  <a:srgbClr val="5B6B8C"/>
                </a:solidFill>
                <a:latin typeface="Calibri"/>
                <a:ea typeface="Calibri"/>
                <a:cs typeface="Calibri"/>
                <a:sym typeface="Calibri"/>
              </a:rPr>
              <a:t>-&gt; Documented the correct mockResolvedValueOnce/mockRejectedValueOnce sequencing for auth + DB mocks.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Docker volume cache hid missing dependencies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5B6B8C"/>
              </a:buClr>
              <a:buSzPts val="1050"/>
              <a:buFont typeface="Calibri"/>
              <a:buNone/>
            </a:pPr>
            <a:r>
              <a:rPr b="0" i="1" lang="en-US" sz="1050" u="none" cap="none" strike="noStrike">
                <a:solidFill>
                  <a:srgbClr val="5B6B8C"/>
                </a:solidFill>
                <a:latin typeface="Calibri"/>
                <a:ea typeface="Calibri"/>
                <a:cs typeface="Calibri"/>
                <a:sym typeface="Calibri"/>
              </a:rPr>
              <a:t>-&gt; Standardized on running npm install inside the container shell when supertest errors appeared.</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SonarCloud blocked by org-owner approval</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5B6B8C"/>
              </a:buClr>
              <a:buSzPts val="1050"/>
              <a:buFont typeface="Calibri"/>
              <a:buNone/>
            </a:pPr>
            <a:r>
              <a:rPr b="0" i="1" lang="en-US" sz="1050" u="none" cap="none" strike="noStrike">
                <a:solidFill>
                  <a:srgbClr val="5B6B8C"/>
                </a:solidFill>
                <a:latin typeface="Calibri"/>
                <a:ea typeface="Calibri"/>
                <a:cs typeface="Calibri"/>
                <a:sym typeface="Calibri"/>
              </a:rPr>
              <a:t>-&gt; Pivoted to CodeQL + Trivy for SAST coverage instead of waiting on access.</a:t>
            </a:r>
            <a:endParaRPr b="0" i="0" sz="1150" u="none" cap="none" strike="noStrike">
              <a:solidFill>
                <a:schemeClr val="dk1"/>
              </a:solidFill>
              <a:latin typeface="Calibri"/>
              <a:ea typeface="Calibri"/>
              <a:cs typeface="Calibri"/>
              <a:sym typeface="Calibri"/>
            </a:endParaRPr>
          </a:p>
        </p:txBody>
      </p:sp>
      <p:sp>
        <p:nvSpPr>
          <p:cNvPr id="1175" name="Google Shape;1175;p28"/>
          <p:cNvSpPr/>
          <p:nvPr/>
        </p:nvSpPr>
        <p:spPr>
          <a:xfrm>
            <a:off x="548640" y="4251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Risk &amp; Quality Management</a:t>
            </a:r>
            <a:endParaRPr b="0" i="0" sz="1600" u="none" cap="none" strike="noStrike">
              <a:solidFill>
                <a:schemeClr val="dk1"/>
              </a:solidFill>
              <a:latin typeface="Calibri"/>
              <a:ea typeface="Calibri"/>
              <a:cs typeface="Calibri"/>
              <a:sym typeface="Calibri"/>
            </a:endParaRPr>
          </a:p>
        </p:txBody>
      </p:sp>
      <p:sp>
        <p:nvSpPr>
          <p:cNvPr id="1176" name="Google Shape;1176;p28"/>
          <p:cNvSpPr/>
          <p:nvPr/>
        </p:nvSpPr>
        <p:spPr>
          <a:xfrm>
            <a:off x="548640" y="4663440"/>
            <a:ext cx="5623560" cy="1691640"/>
          </a:xfrm>
          <a:prstGeom prst="roundRect">
            <a:avLst>
              <a:gd fmla="val 4324" name="adj"/>
            </a:avLst>
          </a:prstGeom>
          <a:solidFill>
            <a:srgbClr val="F4F6FB"/>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8"/>
          <p:cNvSpPr/>
          <p:nvPr/>
        </p:nvSpPr>
        <p:spPr>
          <a:xfrm>
            <a:off x="777240" y="4800600"/>
            <a:ext cx="521208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PR branch protection on dev - 1+ reviewer, all tests passing, no merge conflicts</a:t>
            </a:r>
            <a:endParaRPr b="0" i="0" sz="11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Reviewer assigned by ownership domain (e.g. Security Lead reviews auth/security PRs)</a:t>
            </a:r>
            <a:endParaRPr b="0" i="0" sz="11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150"/>
              <a:buFont typeface="Calibri"/>
              <a:buChar char="•"/>
            </a:pPr>
            <a:r>
              <a:rPr lang="en-US" sz="1150">
                <a:solidFill>
                  <a:srgbClr val="1E2761"/>
                </a:solidFill>
                <a:latin typeface="Calibri"/>
                <a:ea typeface="Calibri"/>
                <a:cs typeface="Calibri"/>
                <a:sym typeface="Calibri"/>
              </a:rPr>
              <a:t>11</a:t>
            </a:r>
            <a:r>
              <a:rPr b="0" i="0" lang="en-US" sz="1150" u="none" cap="none" strike="noStrike">
                <a:solidFill>
                  <a:srgbClr val="1E2761"/>
                </a:solidFill>
                <a:latin typeface="Calibri"/>
                <a:ea typeface="Calibri"/>
                <a:cs typeface="Calibri"/>
                <a:sym typeface="Calibri"/>
              </a:rPr>
              <a:t> GitHub Issues tracked (</a:t>
            </a:r>
            <a:r>
              <a:rPr lang="en-US" sz="1150">
                <a:solidFill>
                  <a:srgbClr val="1E2761"/>
                </a:solidFill>
                <a:latin typeface="Calibri"/>
                <a:ea typeface="Calibri"/>
                <a:cs typeface="Calibri"/>
                <a:sym typeface="Calibri"/>
              </a:rPr>
              <a:t>All</a:t>
            </a:r>
            <a:r>
              <a:rPr b="0" i="0" lang="en-US" sz="1150" u="none" cap="none" strike="noStrike">
                <a:solidFill>
                  <a:srgbClr val="1E2761"/>
                </a:solidFill>
                <a:latin typeface="Calibri"/>
                <a:ea typeface="Calibri"/>
                <a:cs typeface="Calibri"/>
                <a:sym typeface="Calibri"/>
              </a:rPr>
              <a:t> closed)</a:t>
            </a:r>
            <a:endParaRPr b="0" i="0" sz="11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Weekly scheduled CodeQL + Trivy re-scans catch drift between PRs</a:t>
            </a:r>
            <a:endParaRPr b="0" i="0" sz="1150" u="none" cap="none" strike="noStrike">
              <a:solidFill>
                <a:schemeClr val="dk1"/>
              </a:solidFill>
              <a:latin typeface="Calibri"/>
              <a:ea typeface="Calibri"/>
              <a:cs typeface="Calibri"/>
              <a:sym typeface="Calibri"/>
            </a:endParaRPr>
          </a:p>
        </p:txBody>
      </p:sp>
      <p:sp>
        <p:nvSpPr>
          <p:cNvPr id="1178" name="Google Shape;1178;p28"/>
          <p:cNvSpPr/>
          <p:nvPr/>
        </p:nvSpPr>
        <p:spPr>
          <a:xfrm>
            <a:off x="6355080" y="4251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Key Lessons</a:t>
            </a:r>
            <a:endParaRPr b="0" i="0" sz="1600" u="none" cap="none" strike="noStrike">
              <a:solidFill>
                <a:schemeClr val="dk1"/>
              </a:solidFill>
              <a:latin typeface="Calibri"/>
              <a:ea typeface="Calibri"/>
              <a:cs typeface="Calibri"/>
              <a:sym typeface="Calibri"/>
            </a:endParaRPr>
          </a:p>
        </p:txBody>
      </p:sp>
      <p:sp>
        <p:nvSpPr>
          <p:cNvPr id="1179" name="Google Shape;1179;p28"/>
          <p:cNvSpPr/>
          <p:nvPr/>
        </p:nvSpPr>
        <p:spPr>
          <a:xfrm>
            <a:off x="6355080" y="4663440"/>
            <a:ext cx="5285232" cy="1691640"/>
          </a:xfrm>
          <a:prstGeom prst="roundRect">
            <a:avLst>
              <a:gd fmla="val 4324" name="adj"/>
            </a:avLst>
          </a:prstGeom>
          <a:solidFill>
            <a:srgbClr val="FFF8E6"/>
          </a:solidFill>
          <a:ln>
            <a:noFill/>
          </a:ln>
          <a:effectLst>
            <a:outerShdw blurRad="101600" rotWithShape="0" algn="bl" dir="2700000" dist="38100">
              <a:srgbClr val="1E2761">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8"/>
          <p:cNvSpPr/>
          <p:nvPr/>
        </p:nvSpPr>
        <p:spPr>
          <a:xfrm>
            <a:off x="6583680" y="4800600"/>
            <a:ext cx="484632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Security and testing built in from Iteration 1 pay off - no late-stage scramble</a:t>
            </a:r>
            <a:endParaRPr b="0" i="0" sz="11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Named constants and small refactors compound: easier review, fewer bugs</a:t>
            </a:r>
            <a:endParaRPr b="0" i="0" sz="11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AI accelerates scaffolding, but architecture &amp; review must stay human-led</a:t>
            </a:r>
            <a:endParaRPr b="0" i="0" sz="11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E2761"/>
              </a:buClr>
              <a:buSzPts val="1150"/>
              <a:buFont typeface="Calibri"/>
              <a:buChar char="❖"/>
            </a:pPr>
            <a:r>
              <a:rPr b="0" i="0" lang="en-US" sz="1150" u="none" cap="none" strike="noStrike">
                <a:solidFill>
                  <a:srgbClr val="1E2761"/>
                </a:solidFill>
                <a:latin typeface="Calibri"/>
                <a:ea typeface="Calibri"/>
                <a:cs typeface="Calibri"/>
                <a:sym typeface="Calibri"/>
              </a:rPr>
              <a:t>Documenting known limitations (vs. hiding them) builds reviewer trust</a:t>
            </a:r>
            <a:endParaRPr b="0" i="0" sz="1150" u="none" cap="none" strike="noStrike">
              <a:solidFill>
                <a:schemeClr val="dk1"/>
              </a:solidFill>
              <a:latin typeface="Calibri"/>
              <a:ea typeface="Calibri"/>
              <a:cs typeface="Calibri"/>
              <a:sym typeface="Calibri"/>
            </a:endParaRPr>
          </a:p>
        </p:txBody>
      </p:sp>
      <p:pic>
        <p:nvPicPr>
          <p:cNvPr descr="/home/claude/slides/logo.png" id="1181" name="Google Shape;1181;p28"/>
          <p:cNvPicPr preferRelativeResize="0"/>
          <p:nvPr/>
        </p:nvPicPr>
        <p:blipFill rotWithShape="1">
          <a:blip r:embed="rId3">
            <a:alphaModFix/>
          </a:blip>
          <a:srcRect b="0" l="0" r="0" t="0"/>
          <a:stretch/>
        </p:blipFill>
        <p:spPr>
          <a:xfrm>
            <a:off x="10893500" y="155443"/>
            <a:ext cx="1005840" cy="457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186" name="Shape 1186"/>
        <p:cNvGrpSpPr/>
        <p:nvPr/>
      </p:nvGrpSpPr>
      <p:grpSpPr>
        <a:xfrm>
          <a:off x="0" y="0"/>
          <a:ext cx="0" cy="0"/>
          <a:chOff x="0" y="0"/>
          <a:chExt cx="0" cy="0"/>
        </a:xfrm>
      </p:grpSpPr>
      <p:sp>
        <p:nvSpPr>
          <p:cNvPr id="1187" name="Google Shape;1187;p29"/>
          <p:cNvSpPr/>
          <p:nvPr/>
        </p:nvSpPr>
        <p:spPr>
          <a:xfrm>
            <a:off x="-1371600" y="-1371600"/>
            <a:ext cx="4572000" cy="457200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9"/>
          <p:cNvSpPr/>
          <p:nvPr/>
        </p:nvSpPr>
        <p:spPr>
          <a:xfrm>
            <a:off x="-822960" y="-822960"/>
            <a:ext cx="3474720" cy="347472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9"/>
          <p:cNvSpPr/>
          <p:nvPr/>
        </p:nvSpPr>
        <p:spPr>
          <a:xfrm>
            <a:off x="8778240" y="3017520"/>
            <a:ext cx="4206240" cy="4206240"/>
          </a:xfrm>
          <a:prstGeom prst="ellipse">
            <a:avLst/>
          </a:prstGeom>
          <a:solidFill>
            <a:srgbClr val="2A35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9"/>
          <p:cNvSpPr/>
          <p:nvPr/>
        </p:nvSpPr>
        <p:spPr>
          <a:xfrm>
            <a:off x="9418320" y="3657600"/>
            <a:ext cx="2926080" cy="2926080"/>
          </a:xfrm>
          <a:prstGeom prst="ellipse">
            <a:avLst/>
          </a:prstGeom>
          <a:solidFill>
            <a:srgbClr val="3745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9"/>
          <p:cNvSpPr/>
          <p:nvPr/>
        </p:nvSpPr>
        <p:spPr>
          <a:xfrm>
            <a:off x="10378440" y="4617720"/>
            <a:ext cx="1005840" cy="1005840"/>
          </a:xfrm>
          <a:prstGeom prst="ellipse">
            <a:avLst/>
          </a:prstGeom>
          <a:solidFill>
            <a:srgbClr val="4C5B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riatric_deck/icons/heartbeat_white.png" id="1192" name="Google Shape;1192;p29"/>
          <p:cNvPicPr preferRelativeResize="0"/>
          <p:nvPr/>
        </p:nvPicPr>
        <p:blipFill rotWithShape="1">
          <a:blip r:embed="rId3">
            <a:alphaModFix/>
          </a:blip>
          <a:srcRect b="0" l="0" r="0" t="0"/>
          <a:stretch/>
        </p:blipFill>
        <p:spPr>
          <a:xfrm>
            <a:off x="10579608" y="4818888"/>
            <a:ext cx="603504" cy="603504"/>
          </a:xfrm>
          <a:prstGeom prst="rect">
            <a:avLst/>
          </a:prstGeom>
          <a:noFill/>
          <a:ln>
            <a:noFill/>
          </a:ln>
        </p:spPr>
      </p:pic>
      <p:sp>
        <p:nvSpPr>
          <p:cNvPr id="1193" name="Google Shape;1193;p29"/>
          <p:cNvSpPr/>
          <p:nvPr/>
        </p:nvSpPr>
        <p:spPr>
          <a:xfrm>
            <a:off x="640080" y="2103120"/>
            <a:ext cx="8229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000"/>
              <a:buFont typeface="Cambria"/>
              <a:buNone/>
            </a:pPr>
            <a:r>
              <a:rPr b="1" i="0" lang="en-US" sz="6000" u="none" cap="none" strike="noStrike">
                <a:solidFill>
                  <a:srgbClr val="FFFFFF"/>
                </a:solidFill>
                <a:latin typeface="Cambria"/>
                <a:ea typeface="Cambria"/>
                <a:cs typeface="Cambria"/>
                <a:sym typeface="Cambria"/>
              </a:rPr>
              <a:t>Thank You</a:t>
            </a:r>
            <a:endParaRPr b="0" i="0" sz="6000" u="none" cap="none" strike="noStrike">
              <a:solidFill>
                <a:schemeClr val="dk1"/>
              </a:solidFill>
              <a:latin typeface="Calibri"/>
              <a:ea typeface="Calibri"/>
              <a:cs typeface="Calibri"/>
              <a:sym typeface="Calibri"/>
            </a:endParaRPr>
          </a:p>
        </p:txBody>
      </p:sp>
      <p:sp>
        <p:nvSpPr>
          <p:cNvPr id="1194" name="Google Shape;1194;p29"/>
          <p:cNvSpPr/>
          <p:nvPr/>
        </p:nvSpPr>
        <p:spPr>
          <a:xfrm>
            <a:off x="658368" y="32461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200"/>
              <a:buFont typeface="Calibri"/>
              <a:buNone/>
            </a:pPr>
            <a:r>
              <a:rPr b="0" i="1" lang="en-US" sz="2200" u="none" cap="none" strike="noStrike">
                <a:solidFill>
                  <a:srgbClr val="CADCFC"/>
                </a:solidFill>
                <a:latin typeface="Calibri"/>
                <a:ea typeface="Calibri"/>
                <a:cs typeface="Calibri"/>
                <a:sym typeface="Calibri"/>
              </a:rPr>
              <a:t>Questions &amp; Feedback</a:t>
            </a:r>
            <a:endParaRPr b="0" i="0" sz="2200" u="none" cap="none" strike="noStrike">
              <a:solidFill>
                <a:schemeClr val="dk1"/>
              </a:solidFill>
              <a:latin typeface="Calibri"/>
              <a:ea typeface="Calibri"/>
              <a:cs typeface="Calibri"/>
              <a:sym typeface="Calibri"/>
            </a:endParaRPr>
          </a:p>
        </p:txBody>
      </p:sp>
      <p:sp>
        <p:nvSpPr>
          <p:cNvPr id="1195" name="Google Shape;1195;p29"/>
          <p:cNvSpPr/>
          <p:nvPr/>
        </p:nvSpPr>
        <p:spPr>
          <a:xfrm>
            <a:off x="640080" y="4206240"/>
            <a:ext cx="2743200" cy="54864"/>
          </a:xfrm>
          <a:prstGeom prst="roundRect">
            <a:avLst>
              <a:gd fmla="val 16667" name="adj"/>
            </a:avLst>
          </a:prstGeom>
          <a:solidFill>
            <a:srgbClr val="F4A8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9"/>
          <p:cNvSpPr/>
          <p:nvPr/>
        </p:nvSpPr>
        <p:spPr>
          <a:xfrm>
            <a:off x="658368" y="44348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Team 1 - BariatricPath</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9AA9DD"/>
              </a:buClr>
              <a:buSzPts val="1300"/>
              <a:buFont typeface="Calibri"/>
              <a:buNone/>
            </a:pPr>
            <a:r>
              <a:rPr b="0" i="0" lang="en-US" sz="1300" u="none" cap="none" strike="noStrike">
                <a:solidFill>
                  <a:srgbClr val="9AA9DD"/>
                </a:solidFill>
                <a:latin typeface="Calibri"/>
                <a:ea typeface="Calibri"/>
                <a:cs typeface="Calibri"/>
                <a:sym typeface="Calibri"/>
              </a:rPr>
              <a:t>Kai Fernandes - Shaima Nimeri - Fatimah Hassan - Kolya Gavlishin - Jianing Li</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9AA9DD"/>
              </a:buClr>
              <a:buSzPts val="1200"/>
              <a:buFont typeface="Calibri"/>
              <a:buNone/>
            </a:pPr>
            <a:r>
              <a:rPr b="0" i="1" lang="en-US" sz="1200" u="none" cap="none" strike="noStrike">
                <a:solidFill>
                  <a:srgbClr val="9AA9DD"/>
                </a:solidFill>
                <a:latin typeface="Calibri"/>
                <a:ea typeface="Calibri"/>
                <a:cs typeface="Calibri"/>
                <a:sym typeface="Calibri"/>
              </a:rPr>
              <a:t>CS673 Software Engineering - Final Iteration - Summer 2026</a:t>
            </a:r>
            <a:endParaRPr b="0" i="0" sz="1600" u="none" cap="none" strike="noStrike">
              <a:solidFill>
                <a:schemeClr val="dk1"/>
              </a:solidFill>
              <a:latin typeface="Calibri"/>
              <a:ea typeface="Calibri"/>
              <a:cs typeface="Calibri"/>
              <a:sym typeface="Calibri"/>
            </a:endParaRPr>
          </a:p>
        </p:txBody>
      </p:sp>
      <p:sp>
        <p:nvSpPr>
          <p:cNvPr id="1197" name="Google Shape;1197;p29"/>
          <p:cNvSpPr/>
          <p:nvPr/>
        </p:nvSpPr>
        <p:spPr>
          <a:xfrm>
            <a:off x="9859975" y="256032"/>
            <a:ext cx="21031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500"/>
              <a:buFont typeface="Cambria"/>
              <a:buNone/>
            </a:pPr>
            <a:r>
              <a:t/>
            </a:r>
            <a:endParaRPr b="0" i="0" sz="1500" u="none" cap="none" strike="noStrike">
              <a:solidFill>
                <a:schemeClr val="dk1"/>
              </a:solidFill>
              <a:latin typeface="Calibri"/>
              <a:ea typeface="Calibri"/>
              <a:cs typeface="Calibri"/>
              <a:sym typeface="Calibri"/>
            </a:endParaRPr>
          </a:p>
        </p:txBody>
      </p:sp>
      <p:pic>
        <p:nvPicPr>
          <p:cNvPr descr="/home/claude/slides/logo_light.png" id="1198" name="Google Shape;1198;p29"/>
          <p:cNvPicPr preferRelativeResize="0"/>
          <p:nvPr/>
        </p:nvPicPr>
        <p:blipFill rotWithShape="1">
          <a:blip r:embed="rId4">
            <a:alphaModFix/>
          </a:blip>
          <a:srcRect b="0" l="0" r="0" t="0"/>
          <a:stretch/>
        </p:blipFill>
        <p:spPr>
          <a:xfrm>
            <a:off x="11042775" y="210306"/>
            <a:ext cx="1005840" cy="45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2026-06-15T14:00:41Z</dcterms:created>
  <dc:creator>Team 1 - BariatricPath</dc:creator>
</cp:coreProperties>
</file>